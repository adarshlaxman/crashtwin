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charts/chart1.xml" ContentType="application/vnd.openxmlformats-officedocument.drawingml.chart+xml"/>
  <Override PartName="/ppt/slideMasters/slideMaster10.xml" ContentType="application/vnd.openxmlformats-officedocument.presentationml.slideMaster+xml"/>
  <Override PartName="/ppt/slides/slide10.xml" ContentType="application/vnd.openxmlformats-officedocument.presentationml.slide+xml"/>
  <Override PartName="/ppt/charts/chart2.xml" ContentType="application/vnd.openxmlformats-officedocument.drawingml.chart+xml"/>
  <Override PartName="/ppt/slideMasters/slideMaster11.xml" ContentType="application/vnd.openxmlformats-officedocument.presentationml.slideMaster+xml"/>
  <Override PartName="/ppt/slides/slide11.xml" ContentType="application/vnd.openxmlformats-officedocument.presentationml.slide+xml"/>
  <Override PartName="/ppt/charts/chart3.xml" ContentType="application/vnd.openxmlformats-officedocument.drawingml.chart+xml"/>
  <Override PartName="/ppt/slideMasters/slideMaster12.xml" ContentType="application/vnd.openxmlformats-officedocument.presentationml.slideMaster+xml"/>
  <Override PartName="/ppt/slides/slide12.xml" ContentType="application/vnd.openxmlformats-officedocument.presentationml.slide+xml"/>
  <Override PartName="/ppt/charts/chart4.xml" ContentType="application/vnd.openxmlformats-officedocument.drawingml.chart+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Lst>
  <p:notesMasterIdLst>
    <p:notesMasterId r:id="rId21"/>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Overview" id="{46fde054-1d39-988c-9359-74802b03b810}">
          <p14:sldIdLst>
            <p14:sldId id="256"/>
            <p14:sldId id="257"/>
            <p14:sldId id="258"/>
            <p14:sldId id="259"/>
          </p14:sldIdLst>
        </p14:section>
        <p14:section name="How CrashTwin works" id="{80f056b7-0862-37a6-5f7c-15206c787b7f}">
          <p14:sldIdLst>
            <p14:sldId id="260"/>
            <p14:sldId id="261"/>
            <p14:sldId id="262"/>
          </p14:sldIdLst>
        </p14:section>
        <p14:section name="Data" id="{4148f691-93bd-d723-68d5-33e200b06091}">
          <p14:sldIdLst>
            <p14:sldId id="263"/>
            <p14:sldId id="264"/>
          </p14:sldIdLst>
        </p14:section>
        <p14:section name="Results" id="{a9291c74-54e3-6d27-ee31-7c9de9b13731}">
          <p14:sldIdLst>
            <p14:sldId id="265"/>
            <p14:sldId id="266"/>
            <p14:sldId id="267"/>
            <p14:sldId id="268"/>
            <p14:sldId id="269"/>
          </p14:sldIdLst>
        </p14:section>
        <p14:section name="Problems and fixes" id="{b7252ee5-0bbf-113a-142d-5f38ec302495}">
          <p14:sldIdLst>
            <p14:sldId id="270"/>
          </p14:sldIdLst>
        </p14:section>
        <p14:section name="Status and next steps" id="{e839c343-0394-c76b-134d-d4eb6531b03b}">
          <p14:sldIdLst>
            <p14:sldId id="271"/>
            <p14:sldId id="272"/>
            <p14:sldId id="273"/>
            <p14:sldId id="274"/>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notesMaster" Target="notesMasters/notesMaster1.xml"/><Relationship Id="rId22" Type="http://schemas.openxmlformats.org/officeDocument/2006/relationships/presProps" Target="presProps.xml"/><Relationship Id="rId23" Type="http://schemas.openxmlformats.org/officeDocument/2006/relationships/viewProps" Target="viewProps.xml"/><Relationship Id="rId24" Type="http://schemas.openxmlformats.org/officeDocument/2006/relationships/theme" Target="theme/theme1.xml"/><Relationship Id="rId25"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_rels/chart2.xml.rels><?xml version="1.0" encoding="UTF-8" standalone="yes"?><Relationships xmlns="http://schemas.openxmlformats.org/package/2006/relationships"><Relationship Id="rId1" Type="http://schemas.openxmlformats.org/officeDocument/2006/relationships/package" Target="../embeddings/Microsoft_Excel_Worksheet2.xlsx"/></Relationships>
</file>

<file path=ppt/charts/_rels/chart3.xml.rels><?xml version="1.0" encoding="UTF-8" standalone="yes"?><Relationships xmlns="http://schemas.openxmlformats.org/package/2006/relationships"><Relationship Id="rId1" Type="http://schemas.openxmlformats.org/officeDocument/2006/relationships/package" Target="../embeddings/Microsoft_Excel_Worksheet3.xlsx"/></Relationships>
</file>

<file path=ppt/charts/_rels/chart4.xml.rels><?xml version="1.0" encoding="UTF-8" standalone="yes"?><Relationships xmlns="http://schemas.openxmlformats.org/package/2006/relationships"><Relationship Id="rId1" Type="http://schemas.openxmlformats.org/officeDocument/2006/relationships/package" Target="../embeddings/Microsoft_Excel_Worksheet4.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400" b="0" i="0" u="none" strike="noStrike">
                <a:solidFill>
                  <a:srgbClr val="1B1F27"/>
                </a:solidFill>
                <a:latin typeface="+mn-lt"/>
              </a:defRPr>
            </a:pPr>
            <a:r>
              <a:rPr sz="1400" b="0" i="0" u="none" strike="noStrike">
                <a:solidFill>
                  <a:srgbClr val="1B1F27"/>
                </a:solidFill>
                <a:latin typeface="+mn-lt"/>
              </a:rPr>
              <a:t>Real-only model (E2): CCD AP by split</a:t>
            </a:r>
          </a:p>
        </c:rich>
      </c:tx>
      <c:layout/>
      <c:overlay val="0"/>
    </c:title>
    <c:autoTitleDeleted val="0"/>
    <c:plotArea>
      <c:layout/>
      <c:barChart>
        <c:barDir val="col"/>
        <c:grouping val="clustered"/>
        <c:varyColors val="0"/>
        <c:ser>
          <c:idx val="0"/>
          <c:order val="0"/>
          <c:tx>
            <c:strRef>
              <c:f>Sheet1!$B$1</c:f>
              <c:strCache>
                <c:ptCount val="1"/>
                <c:pt idx="0">
                  <c:v>Source-grouped split (ours)</c:v>
                </c:pt>
              </c:strCache>
            </c:strRef>
          </c:tx>
          <c:spPr>
            <a:solidFill>
              <a:srgbClr val="2A78D6"/>
            </a:solidFill>
            <a:effectLst/>
          </c:spPr>
          <c:invertIfNegative val="0"/>
          <c:dLbls>
            <c:numFmt formatCode="0.00" sourceLinked="0"/>
            <c:txPr>
              <a:bodyPr/>
              <a:lstStyle/>
              <a:p>
                <a:pPr>
                  <a:defRPr b="0" i="0" strike="noStrike" sz="1100" u="none">
                    <a:solidFill>
                      <a:srgbClr val="1B1F27"/>
                    </a:solidFill>
                    <a:latin typeface="+mn-lt"/>
                  </a:defRPr>
                </a:pPr>
              </a:p>
            </c:txPr>
            <c:showLegendKey val="0"/>
            <c:showVal val="1"/>
            <c:showCatName val="0"/>
            <c:showSerName val="0"/>
            <c:showPercent val="0"/>
            <c:showBubbleSize val="0"/>
            <c:showLeaderLines val="0"/>
          </c:dLbls>
          <c:cat>
            <c:multiLvlStrRef>
              <c:f>Sheet1!$A$2:$A$5</c:f>
              <c:multiLvlStrCache>
                <c:ptCount val="4"/>
                <c:lvl>
                  <c:pt idx="0">
                    <c:v>10 %</c:v>
                  </c:pt>
                  <c:pt idx="1">
                    <c:v>25 %</c:v>
                  </c:pt>
                  <c:pt idx="2">
                    <c:v>50 %</c:v>
                  </c:pt>
                  <c:pt idx="3">
                    <c:v>100 %</c:v>
                  </c:pt>
                </c:lvl>
              </c:multiLvlStrCache>
            </c:multiLvlStrRef>
          </c:cat>
          <c:val>
            <c:numRef>
              <c:f>Sheet1!$B$2:$B$5</c:f>
              <c:numCache>
                <c:formatCode>General</c:formatCode>
                <c:ptCount val="4"/>
                <c:pt idx="0">
                  <c:v>0.678</c:v>
                </c:pt>
                <c:pt idx="1">
                  <c:v>0.745</c:v>
                </c:pt>
                <c:pt idx="2">
                  <c:v>0.846</c:v>
                </c:pt>
                <c:pt idx="3">
                  <c:v>0.867</c:v>
                </c:pt>
              </c:numCache>
            </c:numRef>
          </c:val>
        </c:ser>
        <c:ser>
          <c:idx val="1"/>
          <c:order val="1"/>
          <c:tx>
            <c:strRef>
              <c:f>Sheet1!$C$1</c:f>
              <c:strCache>
                <c:ptCount val="1"/>
                <c:pt idx="0">
                  <c:v>Official split</c:v>
                </c:pt>
              </c:strCache>
            </c:strRef>
          </c:tx>
          <c:spPr>
            <a:solidFill>
              <a:srgbClr val="8A94A3"/>
            </a:solidFill>
            <a:effectLst/>
          </c:spPr>
          <c:invertIfNegative val="0"/>
          <c:dLbls>
            <c:numFmt formatCode="0.00" sourceLinked="0"/>
            <c:txPr>
              <a:bodyPr/>
              <a:lstStyle/>
              <a:p>
                <a:pPr>
                  <a:defRPr b="0" i="0" strike="noStrike" sz="1100" u="none">
                    <a:solidFill>
                      <a:srgbClr val="1B1F27"/>
                    </a:solidFill>
                    <a:latin typeface="+mn-lt"/>
                  </a:defRPr>
                </a:pPr>
              </a:p>
            </c:txPr>
            <c:showLegendKey val="0"/>
            <c:showVal val="1"/>
            <c:showCatName val="0"/>
            <c:showSerName val="0"/>
            <c:showPercent val="0"/>
            <c:showBubbleSize val="0"/>
            <c:showLeaderLines val="0"/>
          </c:dLbls>
          <c:cat>
            <c:multiLvlStrRef>
              <c:f>Sheet1!$A$2:$A$5</c:f>
              <c:multiLvlStrCache>
                <c:ptCount val="4"/>
                <c:lvl>
                  <c:pt idx="0">
                    <c:v>10 %</c:v>
                  </c:pt>
                  <c:pt idx="1">
                    <c:v>25 %</c:v>
                  </c:pt>
                  <c:pt idx="2">
                    <c:v>50 %</c:v>
                  </c:pt>
                  <c:pt idx="3">
                    <c:v>100 %</c:v>
                  </c:pt>
                </c:lvl>
              </c:multiLvlStrCache>
            </c:multiLvlStrRef>
          </c:cat>
          <c:val>
            <c:numRef>
              <c:f>Sheet1!$C$2:$C$5</c:f>
              <c:numCache>
                <c:formatCode>General</c:formatCode>
                <c:ptCount val="4"/>
                <c:pt idx="0">
                  <c:v>0.709</c:v>
                </c:pt>
                <c:pt idx="1">
                  <c:v>0.779</c:v>
                </c:pt>
                <c:pt idx="2">
                  <c:v>0.883</c:v>
                </c:pt>
                <c:pt idx="3">
                  <c:v>0.924</c:v>
                </c:pt>
              </c:numCache>
            </c:numRef>
          </c:val>
        </c:ser>
        <c:dLbls>
          <c:numFmt formatCode="0.00" sourceLinked="0"/>
          <c:txPr>
            <a:bodyPr/>
            <a:lstStyle/>
            <a:p>
              <a:pPr>
                <a:defRPr b="0" i="0" strike="noStrike" sz="1100" u="none">
                  <a:solidFill>
                    <a:srgbClr val="1B1F27"/>
                  </a:solidFill>
                  <a:latin typeface="+mn-lt"/>
                </a:defRPr>
              </a:pPr>
            </a:p>
          </c:txPr>
          <c:showLegendKey val="0"/>
          <c:showVal val="1"/>
          <c:showCatName val="0"/>
          <c:showSerName val="0"/>
          <c:showPercent val="0"/>
          <c:showBubbleSize val="0"/>
          <c:showLeaderLines val="0"/>
        </c:dLbls>
        <c:gapWidth val="60"/>
        <c:overlap val="0"/>
        <c:axId val="2094734554"/>
        <c:axId val="2094734552"/>
        <c:axId val="2094734556"/>
      </c:barChart>
      <c:catAx>
        <c:axId val="2094734554"/>
        <c:scaling>
          <c:orientation val="minMax"/>
        </c:scaling>
        <c:delete val="0"/>
        <c:axPos val="b"/>
        <c:title>
          <c:tx>
            <c:rich>
              <a:bodyPr/>
              <a:lstStyle/>
              <a:p>
                <a:pPr>
                  <a:defRPr sz="1200" b="0" i="0" u="none" strike="noStrike">
                    <a:solidFill>
                      <a:srgbClr val="5B6573"/>
                    </a:solidFill>
                    <a:latin typeface="+mn-lt"/>
                  </a:defRPr>
                </a:pPr>
                <a:r>
                  <a:rPr sz="1200" b="0" i="0" u="none" strike="noStrike">
                    <a:solidFill>
                      <a:srgbClr val="5B6573"/>
                    </a:solidFill>
                    <a:latin typeface="+mn-lt"/>
                  </a:rPr>
                  <a:t>Real training data used</a:t>
                </a:r>
              </a:p>
            </c:rich>
          </c:tx>
          <c:layout/>
          <c:overlay val="0"/>
        </c:title>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5B6573"/>
                </a:solidFill>
                <a:latin typeface="+mn-lt"/>
              </a:defRPr>
            </a:pPr>
            <a:endParaRPr lang="en-US"/>
          </a:p>
        </c:txPr>
        <c:crossAx val="2094734552"/>
        <c:crosses val="autoZero"/>
        <c:auto val="1"/>
        <c:lblAlgn val="ctr"/>
        <c:noMultiLvlLbl val="1"/>
      </c:catAx>
      <c:valAx>
        <c:axId val="2094734552"/>
        <c:scaling>
          <c:orientation val="minMax"/>
          <c:max val="1"/>
          <c:min val="0"/>
        </c:scaling>
        <c:delete val="0"/>
        <c:axPos val="l"/>
        <c:majorGridlines>
          <c:spPr>
            <a:ln w="9525" cap="flat">
              <a:solidFill>
                <a:srgbClr val="E3E6EB"/>
              </a:solidFill>
              <a:prstDash val="solid"/>
              <a:round/>
            </a:ln>
          </c:spPr>
        </c:majorGridlines>
        <c:numFmt formatCode="0.0" sourceLinked="0"/>
        <c:majorTickMark val="out"/>
        <c:minorTickMark val="none"/>
        <c:tickLblPos val="nextTo"/>
        <c:spPr>
          <a:ln w="12700" cap="flat">
            <a:noFill/>
            <a:prstDash val="solid"/>
            <a:round/>
          </a:ln>
        </c:spPr>
        <c:txPr>
          <a:bodyPr/>
          <a:lstStyle/>
          <a:p>
            <a:pPr>
              <a:defRPr sz="1200" b="0" i="0" u="none" strike="noStrike">
                <a:solidFill>
                  <a:srgbClr val="5B6573"/>
                </a:solidFill>
                <a:latin typeface="+mn-lt"/>
              </a:defRPr>
            </a:pPr>
            <a:endParaRPr lang="en-US"/>
          </a:p>
        </c:txPr>
        <c:crossAx val="2094734554"/>
        <c:crosses val="autoZero"/>
        <c:crossBetween val="between"/>
        <c:majorUnit val="0.2"/>
      </c:valAx>
      <c:spPr>
        <a:noFill/>
        <a:ln>
          <a:noFill/>
        </a:ln>
        <a:effectLst/>
      </c:spPr>
    </c:plotArea>
    <c:legend>
      <c:legendPos val="b"/>
      <c:overlay val="0"/>
      <c:txPr>
        <a:bodyPr/>
        <a:lstStyle/>
        <a:p>
          <a:pPr>
            <a:defRPr sz="1200">
              <a:solidFill>
                <a:srgbClr val="5B6573"/>
              </a:solidFill>
              <a:latin typeface="+mn-lt"/>
              <a:cs typeface="+mn-lt"/>
            </a:defRPr>
          </a:pPr>
          <a:endParaRPr lang="en-US"/>
        </a:p>
      </c:txPr>
    </c:legend>
    <c:plotVisOnly val="1"/>
    <c:dispBlanksAs val="span"/>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400" b="0" i="0" u="none" strike="noStrike">
                <a:solidFill>
                  <a:srgbClr val="1B1F27"/>
                </a:solidFill>
                <a:latin typeface="+mn-lt"/>
              </a:defRPr>
            </a:pPr>
            <a:r>
              <a:rPr sz="1400" b="0" i="0" u="none" strike="noStrike">
                <a:solidFill>
                  <a:srgbClr val="1B1F27"/>
                </a:solidFill>
                <a:latin typeface="+mn-lt"/>
              </a:rPr>
              <a:t>Nexar mAP vs real training data</a:t>
            </a:r>
          </a:p>
        </c:rich>
      </c:tx>
      <c:layout/>
      <c:overlay val="0"/>
    </c:title>
    <c:autoTitleDeleted val="0"/>
    <c:plotArea>
      <c:layout/>
      <c:lineChart>
        <c:varyColors val="0"/>
        <c:ser>
          <c:idx val="0"/>
          <c:order val="0"/>
          <c:tx>
            <c:strRef>
              <c:f>Sheet1!$B$1</c:f>
              <c:strCache>
                <c:ptCount val="1"/>
                <c:pt idx="0">
                  <c:v>Real only (E2)</c:v>
                </c:pt>
              </c:strCache>
            </c:strRef>
          </c:tx>
          <c:spPr>
            <a:solidFill>
              <a:srgbClr val="2A78D6"/>
            </a:solidFill>
            <a:ln w="38100" cap="flat">
              <a:solidFill>
                <a:srgbClr val="2A78D6"/>
              </a:solidFill>
              <a:prstDash val="solid"/>
              <a:round/>
            </a:ln>
            <a:effectLst/>
          </c:spPr>
          <c:invertIfNegative val="0"/>
          <c:dLbls>
            <c:numFmt formatCode="#,##0" sourceLinked="0"/>
            <c:txPr>
              <a:bodyPr/>
              <a:lstStyle/>
              <a:p>
                <a:pPr>
                  <a:defRPr b="0" i="0" strike="noStrike" sz="1100" u="none">
                    <a:solidFill>
                      <a:srgbClr val="1B1F27"/>
                    </a:solidFill>
                    <a:latin typeface="+mn-lt"/>
                  </a:defRPr>
                </a:pPr>
              </a:p>
            </c:txPr>
            <c:showLegendKey val="0"/>
            <c:showVal val="0"/>
            <c:showCatName val="0"/>
            <c:showSerName val="0"/>
            <c:showPercent val="0"/>
            <c:showBubbleSize val="0"/>
            <c:showLeaderLines val="0"/>
          </c:dLbls>
          <c:marker>
            <c:symbol val="circle"/>
            <c:size val="9"/>
            <c:spPr>
              <a:solidFill>
                <a:srgbClr val="2A78D6"/>
              </a:solidFill>
              <a:ln w="9525" cap="flat">
                <a:solidFill>
                  <a:srgbClr val="2A78D6"/>
                </a:solidFill>
                <a:prstDash val="solid"/>
                <a:round/>
              </a:ln>
              <a:effectLst/>
            </c:spPr>
          </c:marker>
          <c:cat>
            <c:multiLvlStrRef>
              <c:f>Sheet1!$A$2:$A$5</c:f>
              <c:multiLvlStrCache>
                <c:ptCount val="4"/>
                <c:lvl>
                  <c:pt idx="0">
                    <c:v>10 %</c:v>
                  </c:pt>
                  <c:pt idx="1">
                    <c:v>25 %</c:v>
                  </c:pt>
                  <c:pt idx="2">
                    <c:v>50 %</c:v>
                  </c:pt>
                  <c:pt idx="3">
                    <c:v>100 %</c:v>
                  </c:pt>
                </c:lvl>
              </c:multiLvlStrCache>
            </c:multiLvlStrRef>
          </c:cat>
          <c:val>
            <c:numRef>
              <c:f>Sheet1!$B$2:$B$5</c:f>
              <c:numCache>
                <c:formatCode>General</c:formatCode>
                <c:ptCount val="4"/>
                <c:pt idx="0">
                  <c:v>0.556</c:v>
                </c:pt>
                <c:pt idx="1">
                  <c:v>0.608</c:v>
                </c:pt>
                <c:pt idx="2">
                  <c:v>0.665</c:v>
                </c:pt>
                <c:pt idx="3">
                  <c:v>0.692</c:v>
                </c:pt>
              </c:numCache>
            </c:numRef>
          </c:val>
          <c:smooth val="0"/>
        </c:ser>
        <c:ser>
          <c:idx val="1"/>
          <c:order val="1"/>
          <c:tx>
            <c:strRef>
              <c:f>Sheet1!$C$1</c:f>
              <c:strCache>
                <c:ptCount val="1"/>
                <c:pt idx="0">
                  <c:v>CARLA + real (E3)</c:v>
                </c:pt>
              </c:strCache>
            </c:strRef>
          </c:tx>
          <c:spPr>
            <a:solidFill>
              <a:srgbClr val="EB6834"/>
            </a:solidFill>
            <a:ln w="38100" cap="flat">
              <a:solidFill>
                <a:srgbClr val="EB6834"/>
              </a:solidFill>
              <a:prstDash val="solid"/>
              <a:round/>
            </a:ln>
            <a:effectLst/>
          </c:spPr>
          <c:invertIfNegative val="0"/>
          <c:dLbls>
            <c:numFmt formatCode="#,##0" sourceLinked="0"/>
            <c:txPr>
              <a:bodyPr/>
              <a:lstStyle/>
              <a:p>
                <a:pPr>
                  <a:defRPr b="0" i="0" strike="noStrike" sz="1100" u="none">
                    <a:solidFill>
                      <a:srgbClr val="1B1F27"/>
                    </a:solidFill>
                    <a:latin typeface="+mn-lt"/>
                  </a:defRPr>
                </a:pPr>
              </a:p>
            </c:txPr>
            <c:showLegendKey val="0"/>
            <c:showVal val="0"/>
            <c:showCatName val="0"/>
            <c:showSerName val="0"/>
            <c:showPercent val="0"/>
            <c:showBubbleSize val="0"/>
            <c:showLeaderLines val="0"/>
          </c:dLbls>
          <c:marker>
            <c:symbol val="circle"/>
            <c:size val="9"/>
            <c:spPr>
              <a:solidFill>
                <a:srgbClr val="EB6834"/>
              </a:solidFill>
              <a:ln w="9525" cap="flat">
                <a:solidFill>
                  <a:srgbClr val="EB6834"/>
                </a:solidFill>
                <a:prstDash val="solid"/>
                <a:round/>
              </a:ln>
              <a:effectLst/>
            </c:spPr>
          </c:marker>
          <c:cat>
            <c:multiLvlStrRef>
              <c:f>Sheet1!$A$2:$A$5</c:f>
              <c:multiLvlStrCache>
                <c:ptCount val="4"/>
                <c:lvl>
                  <c:pt idx="0">
                    <c:v>10 %</c:v>
                  </c:pt>
                  <c:pt idx="1">
                    <c:v>25 %</c:v>
                  </c:pt>
                  <c:pt idx="2">
                    <c:v>50 %</c:v>
                  </c:pt>
                  <c:pt idx="3">
                    <c:v>100 %</c:v>
                  </c:pt>
                </c:lvl>
              </c:multiLvlStrCache>
            </c:multiLvlStrRef>
          </c:cat>
          <c:val>
            <c:numRef>
              <c:f>Sheet1!$C$2:$C$5</c:f>
              <c:numCache>
                <c:formatCode>General</c:formatCode>
                <c:ptCount val="4"/>
                <c:pt idx="0">
                  <c:v>0.602</c:v>
                </c:pt>
                <c:pt idx="1">
                  <c:v>0.629</c:v>
                </c:pt>
                <c:pt idx="2">
                  <c:v>0.659</c:v>
                </c:pt>
                <c:pt idx="3">
                  <c:v>0.711</c:v>
                </c:pt>
              </c:numCache>
            </c:numRef>
          </c:val>
          <c:smooth val="0"/>
        </c:ser>
        <c:dLbls>
          <c:numFmt formatCode="#,##0" sourceLinked="0"/>
          <c:txPr>
            <a:bodyPr/>
            <a:lstStyle/>
            <a:p>
              <a:pPr>
                <a:defRPr b="0" i="0" strike="noStrike" sz="1100" u="none">
                  <a:solidFill>
                    <a:srgbClr val="1B1F27"/>
                  </a:solidFill>
                  <a:latin typeface="+mn-lt"/>
                </a:defRPr>
              </a:pPr>
            </a:p>
          </c:txPr>
          <c:showLegendKey val="0"/>
          <c:showVal val="0"/>
          <c:showCatName val="0"/>
          <c:showSerName val="0"/>
          <c:showPercent val="0"/>
          <c:showBubbleSize val="0"/>
          <c:showLeaderLines val="0"/>
        </c:dLbls>
        <c:marker val="1"/>
        <c:axId val="2094734554"/>
        <c:axId val="2094734552"/>
        <c:axId val="2094734556"/>
      </c:lineChart>
      <c:lineChart>
        <c:varyColors val="0"/>
        <c:ser>
          <c:idx val="2"/>
          <c:order val="2"/>
          <c:tx>
            <c:strRef>
              <c:f>Sheet1!$D$1</c:f>
              <c:strCache>
                <c:ptCount val="1"/>
                <c:pt idx="0">
                  <c:v>CARLA only (E1, no real data)</c:v>
                </c:pt>
              </c:strCache>
            </c:strRef>
          </c:tx>
          <c:spPr>
            <a:solidFill>
              <a:srgbClr val="1BAF7A"/>
            </a:solidFill>
            <a:ln w="31750" cap="flat">
              <a:solidFill>
                <a:srgbClr val="1BAF7A"/>
              </a:solidFill>
              <a:prstDash val="dash"/>
              <a:round/>
            </a:ln>
            <a:effectLst/>
          </c:spPr>
          <c:invertIfNegative val="0"/>
          <c:dLbls>
            <c:numFmt formatCode="#,##0" sourceLinked="0"/>
            <c:txPr>
              <a:bodyPr/>
              <a:lstStyle/>
              <a:p>
                <a:pPr>
                  <a:defRPr b="0" i="0" strike="noStrike" sz="1100" u="none">
                    <a:solidFill>
                      <a:srgbClr val="1B1F27"/>
                    </a:solidFill>
                    <a:latin typeface="+mn-lt"/>
                  </a:defRPr>
                </a:pPr>
              </a:p>
            </c:txPr>
            <c:showLegendKey val="0"/>
            <c:showVal val="0"/>
            <c:showCatName val="0"/>
            <c:showSerName val="0"/>
            <c:showPercent val="0"/>
            <c:showBubbleSize val="0"/>
            <c:showLeaderLines val="0"/>
          </c:dLbls>
          <c:marker>
            <c:symbol val="none"/>
            <c:size val="6"/>
            <c:spPr>
              <a:solidFill>
                <a:srgbClr val="1BAF7A"/>
              </a:solidFill>
              <a:ln w="9525" cap="flat">
                <a:solidFill>
                  <a:srgbClr val="1BAF7A"/>
                </a:solidFill>
                <a:prstDash val="solid"/>
                <a:round/>
              </a:ln>
              <a:effectLst/>
            </c:spPr>
          </c:marker>
          <c:cat>
            <c:multiLvlStrRef>
              <c:f>Sheet1!$A$2:$A$5</c:f>
              <c:multiLvlStrCache>
                <c:ptCount val="4"/>
                <c:lvl>
                  <c:pt idx="0">
                    <c:v>10 %</c:v>
                  </c:pt>
                  <c:pt idx="1">
                    <c:v>25 %</c:v>
                  </c:pt>
                  <c:pt idx="2">
                    <c:v>50 %</c:v>
                  </c:pt>
                  <c:pt idx="3">
                    <c:v>100 %</c:v>
                  </c:pt>
                </c:lvl>
              </c:multiLvlStrCache>
            </c:multiLvlStrRef>
          </c:cat>
          <c:val>
            <c:numRef>
              <c:f>Sheet1!$D$2:$D$5</c:f>
              <c:numCache>
                <c:formatCode>General</c:formatCode>
                <c:ptCount val="4"/>
                <c:pt idx="0">
                  <c:v>0.63</c:v>
                </c:pt>
                <c:pt idx="1">
                  <c:v>0.63</c:v>
                </c:pt>
                <c:pt idx="2">
                  <c:v>0.63</c:v>
                </c:pt>
                <c:pt idx="3">
                  <c:v>0.63</c:v>
                </c:pt>
              </c:numCache>
            </c:numRef>
          </c:val>
          <c:smooth val="0"/>
        </c:ser>
        <c:dLbls>
          <c:numFmt formatCode="#,##0" sourceLinked="0"/>
          <c:txPr>
            <a:bodyPr/>
            <a:lstStyle/>
            <a:p>
              <a:pPr>
                <a:defRPr b="0" i="0" strike="noStrike" sz="1100" u="none">
                  <a:solidFill>
                    <a:srgbClr val="1B1F27"/>
                  </a:solidFill>
                  <a:latin typeface="+mn-lt"/>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0"/>
        <c:axPos val="b"/>
        <c:title>
          <c:tx>
            <c:rich>
              <a:bodyPr/>
              <a:lstStyle/>
              <a:p>
                <a:pPr>
                  <a:defRPr sz="1200" b="0" i="0" u="none" strike="noStrike">
                    <a:solidFill>
                      <a:srgbClr val="5B6573"/>
                    </a:solidFill>
                    <a:latin typeface="+mn-lt"/>
                  </a:defRPr>
                </a:pPr>
                <a:r>
                  <a:rPr sz="1200" b="0" i="0" u="none" strike="noStrike">
                    <a:solidFill>
                      <a:srgbClr val="5B6573"/>
                    </a:solidFill>
                    <a:latin typeface="+mn-lt"/>
                  </a:rPr>
                  <a:t>Real training data used</a:t>
                </a:r>
              </a:p>
            </c:rich>
          </c:tx>
          <c:layout/>
          <c:overlay val="0"/>
        </c:title>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5B6573"/>
                </a:solidFill>
                <a:latin typeface="+mn-lt"/>
              </a:defRPr>
            </a:pPr>
            <a:endParaRPr lang="en-US"/>
          </a:p>
        </c:txPr>
        <c:crossAx val="2094734552"/>
        <c:crosses val="autoZero"/>
        <c:auto val="1"/>
        <c:lblAlgn val="ctr"/>
        <c:noMultiLvlLbl val="1"/>
      </c:catAx>
      <c:valAx>
        <c:axId val="2094734552"/>
        <c:scaling>
          <c:orientation val="minMax"/>
          <c:max val="0.75"/>
          <c:min val="0.5"/>
        </c:scaling>
        <c:delete val="0"/>
        <c:axPos val="l"/>
        <c:majorGridlines>
          <c:spPr>
            <a:ln w="9525" cap="flat">
              <a:solidFill>
                <a:srgbClr val="E3E6EB"/>
              </a:solidFill>
              <a:prstDash val="solid"/>
              <a:round/>
            </a:ln>
          </c:spPr>
        </c:majorGridlines>
        <c:numFmt formatCode="0.00" sourceLinked="0"/>
        <c:majorTickMark val="out"/>
        <c:minorTickMark val="none"/>
        <c:tickLblPos val="nextTo"/>
        <c:spPr>
          <a:ln w="12700" cap="flat">
            <a:noFill/>
            <a:prstDash val="solid"/>
            <a:round/>
          </a:ln>
        </c:spPr>
        <c:txPr>
          <a:bodyPr/>
          <a:lstStyle/>
          <a:p>
            <a:pPr>
              <a:defRPr sz="1200" b="0" i="0" u="none" strike="noStrike">
                <a:solidFill>
                  <a:srgbClr val="5B6573"/>
                </a:solidFill>
                <a:latin typeface="+mn-lt"/>
              </a:defRPr>
            </a:pPr>
            <a:endParaRPr lang="en-US"/>
          </a:p>
        </c:txPr>
        <c:crossAx val="2094734554"/>
        <c:crosses val="autoZero"/>
        <c:crossBetween val="between"/>
        <c:majorUnit val="0.05"/>
      </c:valAx>
      <c:spPr>
        <a:noFill/>
        <a:ln>
          <a:noFill/>
        </a:ln>
        <a:effectLst/>
      </c:spPr>
    </c:plotArea>
    <c:legend>
      <c:legendPos val="b"/>
      <c:overlay val="0"/>
      <c:txPr>
        <a:bodyPr/>
        <a:lstStyle/>
        <a:p>
          <a:pPr>
            <a:defRPr sz="1200">
              <a:solidFill>
                <a:srgbClr val="5B6573"/>
              </a:solidFill>
              <a:latin typeface="+mn-lt"/>
              <a:cs typeface="+mn-lt"/>
            </a:defRPr>
          </a:pPr>
          <a:endParaRPr lang="en-US"/>
        </a:p>
      </c:txPr>
    </c:legend>
    <c:plotVisOnly val="1"/>
    <c:dispBlanksAs val="span"/>
  </c:chart>
  <c:spPr>
    <a:noFill/>
    <a:ln>
      <a:noFill/>
    </a:ln>
    <a:effectLst/>
  </c:sp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400" b="0" i="0" u="none" strike="noStrike">
                <a:solidFill>
                  <a:srgbClr val="1B1F27"/>
                </a:solidFill>
                <a:latin typeface="+mn-lt"/>
              </a:defRPr>
            </a:pPr>
            <a:r>
              <a:rPr sz="1400" b="0" i="0" u="none" strike="noStrike">
                <a:solidFill>
                  <a:srgbClr val="1B1F27"/>
                </a:solidFill>
                <a:latin typeface="+mn-lt"/>
              </a:rPr>
              <a:t>CCD AP vs real training data</a:t>
            </a:r>
          </a:p>
        </c:rich>
      </c:tx>
      <c:layout/>
      <c:overlay val="0"/>
    </c:title>
    <c:autoTitleDeleted val="0"/>
    <c:plotArea>
      <c:layout/>
      <c:lineChart>
        <c:varyColors val="0"/>
        <c:ser>
          <c:idx val="0"/>
          <c:order val="0"/>
          <c:tx>
            <c:strRef>
              <c:f>Sheet1!$B$1</c:f>
              <c:strCache>
                <c:ptCount val="1"/>
                <c:pt idx="0">
                  <c:v>Real only (E2)</c:v>
                </c:pt>
              </c:strCache>
            </c:strRef>
          </c:tx>
          <c:spPr>
            <a:solidFill>
              <a:srgbClr val="2A78D6"/>
            </a:solidFill>
            <a:ln w="38100" cap="flat">
              <a:solidFill>
                <a:srgbClr val="2A78D6"/>
              </a:solidFill>
              <a:prstDash val="solid"/>
              <a:round/>
            </a:ln>
            <a:effectLst/>
          </c:spPr>
          <c:invertIfNegative val="0"/>
          <c:dLbls>
            <c:numFmt formatCode="#,##0" sourceLinked="0"/>
            <c:txPr>
              <a:bodyPr/>
              <a:lstStyle/>
              <a:p>
                <a:pPr>
                  <a:defRPr b="0" i="0" strike="noStrike" sz="1100" u="none">
                    <a:solidFill>
                      <a:srgbClr val="1B1F27"/>
                    </a:solidFill>
                    <a:latin typeface="+mn-lt"/>
                  </a:defRPr>
                </a:pPr>
              </a:p>
            </c:txPr>
            <c:showLegendKey val="0"/>
            <c:showVal val="0"/>
            <c:showCatName val="0"/>
            <c:showSerName val="0"/>
            <c:showPercent val="0"/>
            <c:showBubbleSize val="0"/>
            <c:showLeaderLines val="0"/>
          </c:dLbls>
          <c:marker>
            <c:symbol val="circle"/>
            <c:size val="9"/>
            <c:spPr>
              <a:solidFill>
                <a:srgbClr val="2A78D6"/>
              </a:solidFill>
              <a:ln w="9525" cap="flat">
                <a:solidFill>
                  <a:srgbClr val="2A78D6"/>
                </a:solidFill>
                <a:prstDash val="solid"/>
                <a:round/>
              </a:ln>
              <a:effectLst/>
            </c:spPr>
          </c:marker>
          <c:cat>
            <c:multiLvlStrRef>
              <c:f>Sheet1!$A$2:$A$5</c:f>
              <c:multiLvlStrCache>
                <c:ptCount val="4"/>
                <c:lvl>
                  <c:pt idx="0">
                    <c:v>10 %</c:v>
                  </c:pt>
                  <c:pt idx="1">
                    <c:v>25 %</c:v>
                  </c:pt>
                  <c:pt idx="2">
                    <c:v>50 %</c:v>
                  </c:pt>
                  <c:pt idx="3">
                    <c:v>100 %</c:v>
                  </c:pt>
                </c:lvl>
              </c:multiLvlStrCache>
            </c:multiLvlStrRef>
          </c:cat>
          <c:val>
            <c:numRef>
              <c:f>Sheet1!$B$2:$B$5</c:f>
              <c:numCache>
                <c:formatCode>General</c:formatCode>
                <c:ptCount val="4"/>
                <c:pt idx="0">
                  <c:v>0.678</c:v>
                </c:pt>
                <c:pt idx="1">
                  <c:v>0.745</c:v>
                </c:pt>
                <c:pt idx="2">
                  <c:v>0.846</c:v>
                </c:pt>
                <c:pt idx="3">
                  <c:v>0.867</c:v>
                </c:pt>
              </c:numCache>
            </c:numRef>
          </c:val>
          <c:smooth val="0"/>
        </c:ser>
        <c:ser>
          <c:idx val="1"/>
          <c:order val="1"/>
          <c:tx>
            <c:strRef>
              <c:f>Sheet1!$C$1</c:f>
              <c:strCache>
                <c:ptCount val="1"/>
                <c:pt idx="0">
                  <c:v>CARLA + real (E3)</c:v>
                </c:pt>
              </c:strCache>
            </c:strRef>
          </c:tx>
          <c:spPr>
            <a:solidFill>
              <a:srgbClr val="EB6834"/>
            </a:solidFill>
            <a:ln w="38100" cap="flat">
              <a:solidFill>
                <a:srgbClr val="EB6834"/>
              </a:solidFill>
              <a:prstDash val="solid"/>
              <a:round/>
            </a:ln>
            <a:effectLst/>
          </c:spPr>
          <c:invertIfNegative val="0"/>
          <c:dLbls>
            <c:numFmt formatCode="#,##0" sourceLinked="0"/>
            <c:txPr>
              <a:bodyPr/>
              <a:lstStyle/>
              <a:p>
                <a:pPr>
                  <a:defRPr b="0" i="0" strike="noStrike" sz="1100" u="none">
                    <a:solidFill>
                      <a:srgbClr val="1B1F27"/>
                    </a:solidFill>
                    <a:latin typeface="+mn-lt"/>
                  </a:defRPr>
                </a:pPr>
              </a:p>
            </c:txPr>
            <c:showLegendKey val="0"/>
            <c:showVal val="0"/>
            <c:showCatName val="0"/>
            <c:showSerName val="0"/>
            <c:showPercent val="0"/>
            <c:showBubbleSize val="0"/>
            <c:showLeaderLines val="0"/>
          </c:dLbls>
          <c:marker>
            <c:symbol val="circle"/>
            <c:size val="9"/>
            <c:spPr>
              <a:solidFill>
                <a:srgbClr val="EB6834"/>
              </a:solidFill>
              <a:ln w="9525" cap="flat">
                <a:solidFill>
                  <a:srgbClr val="EB6834"/>
                </a:solidFill>
                <a:prstDash val="solid"/>
                <a:round/>
              </a:ln>
              <a:effectLst/>
            </c:spPr>
          </c:marker>
          <c:cat>
            <c:multiLvlStrRef>
              <c:f>Sheet1!$A$2:$A$5</c:f>
              <c:multiLvlStrCache>
                <c:ptCount val="4"/>
                <c:lvl>
                  <c:pt idx="0">
                    <c:v>10 %</c:v>
                  </c:pt>
                  <c:pt idx="1">
                    <c:v>25 %</c:v>
                  </c:pt>
                  <c:pt idx="2">
                    <c:v>50 %</c:v>
                  </c:pt>
                  <c:pt idx="3">
                    <c:v>100 %</c:v>
                  </c:pt>
                </c:lvl>
              </c:multiLvlStrCache>
            </c:multiLvlStrRef>
          </c:cat>
          <c:val>
            <c:numRef>
              <c:f>Sheet1!$C$2:$C$5</c:f>
              <c:numCache>
                <c:formatCode>General</c:formatCode>
                <c:ptCount val="4"/>
                <c:pt idx="0">
                  <c:v>0.535</c:v>
                </c:pt>
                <c:pt idx="1">
                  <c:v>0.633</c:v>
                </c:pt>
                <c:pt idx="2">
                  <c:v>0.797</c:v>
                </c:pt>
                <c:pt idx="3">
                  <c:v>0.844</c:v>
                </c:pt>
              </c:numCache>
            </c:numRef>
          </c:val>
          <c:smooth val="0"/>
        </c:ser>
        <c:dLbls>
          <c:numFmt formatCode="#,##0" sourceLinked="0"/>
          <c:txPr>
            <a:bodyPr/>
            <a:lstStyle/>
            <a:p>
              <a:pPr>
                <a:defRPr b="0" i="0" strike="noStrike" sz="1100" u="none">
                  <a:solidFill>
                    <a:srgbClr val="1B1F27"/>
                  </a:solidFill>
                  <a:latin typeface="+mn-lt"/>
                </a:defRPr>
              </a:pPr>
            </a:p>
          </c:txPr>
          <c:showLegendKey val="0"/>
          <c:showVal val="0"/>
          <c:showCatName val="0"/>
          <c:showSerName val="0"/>
          <c:showPercent val="0"/>
          <c:showBubbleSize val="0"/>
          <c:showLeaderLines val="0"/>
        </c:dLbls>
        <c:marker val="1"/>
        <c:axId val="2094734554"/>
        <c:axId val="2094734552"/>
        <c:axId val="2094734556"/>
      </c:lineChart>
      <c:lineChart>
        <c:varyColors val="0"/>
        <c:ser>
          <c:idx val="2"/>
          <c:order val="2"/>
          <c:tx>
            <c:strRef>
              <c:f>Sheet1!$D$1</c:f>
              <c:strCache>
                <c:ptCount val="1"/>
                <c:pt idx="0">
                  <c:v>CARLA only (E1, no real data)</c:v>
                </c:pt>
              </c:strCache>
            </c:strRef>
          </c:tx>
          <c:spPr>
            <a:solidFill>
              <a:srgbClr val="1BAF7A"/>
            </a:solidFill>
            <a:ln w="31750" cap="flat">
              <a:solidFill>
                <a:srgbClr val="1BAF7A"/>
              </a:solidFill>
              <a:prstDash val="dash"/>
              <a:round/>
            </a:ln>
            <a:effectLst/>
          </c:spPr>
          <c:invertIfNegative val="0"/>
          <c:dLbls>
            <c:numFmt formatCode="#,##0" sourceLinked="0"/>
            <c:txPr>
              <a:bodyPr/>
              <a:lstStyle/>
              <a:p>
                <a:pPr>
                  <a:defRPr b="0" i="0" strike="noStrike" sz="1100" u="none">
                    <a:solidFill>
                      <a:srgbClr val="1B1F27"/>
                    </a:solidFill>
                    <a:latin typeface="+mn-lt"/>
                  </a:defRPr>
                </a:pPr>
              </a:p>
            </c:txPr>
            <c:showLegendKey val="0"/>
            <c:showVal val="0"/>
            <c:showCatName val="0"/>
            <c:showSerName val="0"/>
            <c:showPercent val="0"/>
            <c:showBubbleSize val="0"/>
            <c:showLeaderLines val="0"/>
          </c:dLbls>
          <c:marker>
            <c:symbol val="none"/>
            <c:size val="6"/>
            <c:spPr>
              <a:solidFill>
                <a:srgbClr val="1BAF7A"/>
              </a:solidFill>
              <a:ln w="9525" cap="flat">
                <a:solidFill>
                  <a:srgbClr val="1BAF7A"/>
                </a:solidFill>
                <a:prstDash val="solid"/>
                <a:round/>
              </a:ln>
              <a:effectLst/>
            </c:spPr>
          </c:marker>
          <c:cat>
            <c:multiLvlStrRef>
              <c:f>Sheet1!$A$2:$A$5</c:f>
              <c:multiLvlStrCache>
                <c:ptCount val="4"/>
                <c:lvl>
                  <c:pt idx="0">
                    <c:v>10 %</c:v>
                  </c:pt>
                  <c:pt idx="1">
                    <c:v>25 %</c:v>
                  </c:pt>
                  <c:pt idx="2">
                    <c:v>50 %</c:v>
                  </c:pt>
                  <c:pt idx="3">
                    <c:v>100 %</c:v>
                  </c:pt>
                </c:lvl>
              </c:multiLvlStrCache>
            </c:multiLvlStrRef>
          </c:cat>
          <c:val>
            <c:numRef>
              <c:f>Sheet1!$D$2:$D$5</c:f>
              <c:numCache>
                <c:formatCode>General</c:formatCode>
                <c:ptCount val="4"/>
                <c:pt idx="0">
                  <c:v>0.249</c:v>
                </c:pt>
                <c:pt idx="1">
                  <c:v>0.249</c:v>
                </c:pt>
                <c:pt idx="2">
                  <c:v>0.249</c:v>
                </c:pt>
                <c:pt idx="3">
                  <c:v>0.249</c:v>
                </c:pt>
              </c:numCache>
            </c:numRef>
          </c:val>
          <c:smooth val="0"/>
        </c:ser>
        <c:dLbls>
          <c:numFmt formatCode="#,##0" sourceLinked="0"/>
          <c:txPr>
            <a:bodyPr/>
            <a:lstStyle/>
            <a:p>
              <a:pPr>
                <a:defRPr b="0" i="0" strike="noStrike" sz="1100" u="none">
                  <a:solidFill>
                    <a:srgbClr val="1B1F27"/>
                  </a:solidFill>
                  <a:latin typeface="+mn-lt"/>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0"/>
        <c:axPos val="b"/>
        <c:title>
          <c:tx>
            <c:rich>
              <a:bodyPr/>
              <a:lstStyle/>
              <a:p>
                <a:pPr>
                  <a:defRPr sz="1200" b="0" i="0" u="none" strike="noStrike">
                    <a:solidFill>
                      <a:srgbClr val="5B6573"/>
                    </a:solidFill>
                    <a:latin typeface="+mn-lt"/>
                  </a:defRPr>
                </a:pPr>
                <a:r>
                  <a:rPr sz="1200" b="0" i="0" u="none" strike="noStrike">
                    <a:solidFill>
                      <a:srgbClr val="5B6573"/>
                    </a:solidFill>
                    <a:latin typeface="+mn-lt"/>
                  </a:rPr>
                  <a:t>Real training data used</a:t>
                </a:r>
              </a:p>
            </c:rich>
          </c:tx>
          <c:layout/>
          <c:overlay val="0"/>
        </c:title>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5B6573"/>
                </a:solidFill>
                <a:latin typeface="+mn-lt"/>
              </a:defRPr>
            </a:pPr>
            <a:endParaRPr lang="en-US"/>
          </a:p>
        </c:txPr>
        <c:crossAx val="2094734552"/>
        <c:crosses val="autoZero"/>
        <c:auto val="1"/>
        <c:lblAlgn val="ctr"/>
        <c:noMultiLvlLbl val="1"/>
      </c:catAx>
      <c:valAx>
        <c:axId val="2094734552"/>
        <c:scaling>
          <c:orientation val="minMax"/>
          <c:max val="1"/>
          <c:min val="0"/>
        </c:scaling>
        <c:delete val="0"/>
        <c:axPos val="l"/>
        <c:majorGridlines>
          <c:spPr>
            <a:ln w="9525" cap="flat">
              <a:solidFill>
                <a:srgbClr val="E3E6EB"/>
              </a:solidFill>
              <a:prstDash val="solid"/>
              <a:round/>
            </a:ln>
          </c:spPr>
        </c:majorGridlines>
        <c:numFmt formatCode="0.00" sourceLinked="0"/>
        <c:majorTickMark val="out"/>
        <c:minorTickMark val="none"/>
        <c:tickLblPos val="nextTo"/>
        <c:spPr>
          <a:ln w="12700" cap="flat">
            <a:noFill/>
            <a:prstDash val="solid"/>
            <a:round/>
          </a:ln>
        </c:spPr>
        <c:txPr>
          <a:bodyPr/>
          <a:lstStyle/>
          <a:p>
            <a:pPr>
              <a:defRPr sz="1200" b="0" i="0" u="none" strike="noStrike">
                <a:solidFill>
                  <a:srgbClr val="5B6573"/>
                </a:solidFill>
                <a:latin typeface="+mn-lt"/>
              </a:defRPr>
            </a:pPr>
            <a:endParaRPr lang="en-US"/>
          </a:p>
        </c:txPr>
        <c:crossAx val="2094734554"/>
        <c:crosses val="autoZero"/>
        <c:crossBetween val="between"/>
        <c:majorUnit val="0.2"/>
      </c:valAx>
      <c:spPr>
        <a:noFill/>
        <a:ln>
          <a:noFill/>
        </a:ln>
        <a:effectLst/>
      </c:spPr>
    </c:plotArea>
    <c:legend>
      <c:legendPos val="b"/>
      <c:overlay val="0"/>
      <c:txPr>
        <a:bodyPr/>
        <a:lstStyle/>
        <a:p>
          <a:pPr>
            <a:defRPr sz="1200">
              <a:solidFill>
                <a:srgbClr val="5B6573"/>
              </a:solidFill>
              <a:latin typeface="+mn-lt"/>
              <a:cs typeface="+mn-lt"/>
            </a:defRPr>
          </a:pPr>
          <a:endParaRPr lang="en-US"/>
        </a:p>
      </c:txPr>
    </c:legend>
    <c:plotVisOnly val="1"/>
    <c:dispBlanksAs val="span"/>
  </c:chart>
  <c:spPr>
    <a:noFill/>
    <a:ln>
      <a:noFill/>
    </a:ln>
    <a:effectLst/>
  </c:spPr>
  <c:externalData r:id="rId1">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400" b="0" i="0" u="none" strike="noStrike">
                <a:solidFill>
                  <a:srgbClr val="1B1F27"/>
                </a:solidFill>
                <a:latin typeface="+mn-lt"/>
              </a:defRPr>
            </a:pPr>
            <a:r>
              <a:rPr sz="1400" b="0" i="0" u="none" strike="noStrike">
                <a:solidFill>
                  <a:srgbClr val="1B1F27"/>
                </a:solidFill>
                <a:latin typeface="+mn-lt"/>
              </a:rPr>
              <a:t>CARLA test AP (CCD protocol)</a:t>
            </a:r>
          </a:p>
        </c:rich>
      </c:tx>
      <c:layout/>
      <c:overlay val="0"/>
    </c:title>
    <c:autoTitleDeleted val="0"/>
    <c:plotArea>
      <c:layout/>
      <c:barChart>
        <c:barDir val="col"/>
        <c:grouping val="clustered"/>
        <c:varyColors val="0"/>
        <c:ser>
          <c:idx val="0"/>
          <c:order val="0"/>
          <c:tx>
            <c:strRef>
              <c:f>Sheet1!$B$1</c:f>
              <c:strCache>
                <c:ptCount val="1"/>
                <c:pt idx="0">
                  <c:v>Familiar towns</c:v>
                </c:pt>
              </c:strCache>
            </c:strRef>
          </c:tx>
          <c:spPr>
            <a:solidFill>
              <a:srgbClr val="A8B1BD"/>
            </a:solidFill>
            <a:effectLst/>
          </c:spPr>
          <c:invertIfNegative val="0"/>
          <c:dLbls>
            <c:numFmt formatCode="0.00" sourceLinked="0"/>
            <c:txPr>
              <a:bodyPr/>
              <a:lstStyle/>
              <a:p>
                <a:pPr>
                  <a:defRPr b="0" i="0" strike="noStrike" sz="1100" u="none">
                    <a:solidFill>
                      <a:srgbClr val="1B1F27"/>
                    </a:solidFill>
                    <a:latin typeface="+mn-lt"/>
                  </a:defRPr>
                </a:pPr>
              </a:p>
            </c:txPr>
            <c:showLegendKey val="0"/>
            <c:showVal val="1"/>
            <c:showCatName val="0"/>
            <c:showSerName val="0"/>
            <c:showPercent val="0"/>
            <c:showBubbleSize val="0"/>
            <c:showLeaderLines val="0"/>
          </c:dLbls>
          <c:cat>
            <c:multiLvlStrRef>
              <c:f>Sheet1!$A$2:$A$6</c:f>
              <c:multiLvlStrCache>
                <c:ptCount val="5"/>
                <c:lvl>
                  <c:pt idx="0">
                    <c:v>camera</c:v>
                  </c:pt>
                  <c:pt idx="1">
                    <c:v>+ radar</c:v>
                  </c:pt>
                  <c:pt idx="2">
                    <c:v>+ LiDAR</c:v>
                  </c:pt>
                  <c:pt idx="3">
                    <c:v>+ depth</c:v>
                  </c:pt>
                  <c:pt idx="4">
                    <c:v>+ all</c:v>
                  </c:pt>
                </c:lvl>
              </c:multiLvlStrCache>
            </c:multiLvlStrRef>
          </c:cat>
          <c:val>
            <c:numRef>
              <c:f>Sheet1!$B$2:$B$6</c:f>
              <c:numCache>
                <c:formatCode>General</c:formatCode>
                <c:ptCount val="5"/>
                <c:pt idx="0">
                  <c:v>0.912</c:v>
                </c:pt>
                <c:pt idx="1">
                  <c:v>0.959</c:v>
                </c:pt>
                <c:pt idx="2">
                  <c:v>0.955</c:v>
                </c:pt>
                <c:pt idx="3">
                  <c:v>0.959</c:v>
                </c:pt>
                <c:pt idx="4">
                  <c:v>0.966</c:v>
                </c:pt>
              </c:numCache>
            </c:numRef>
          </c:val>
        </c:ser>
        <c:ser>
          <c:idx val="1"/>
          <c:order val="1"/>
          <c:tx>
            <c:strRef>
              <c:f>Sheet1!$C$1</c:f>
              <c:strCache>
                <c:ptCount val="1"/>
                <c:pt idx="0">
                  <c:v>Town05 (held out)</c:v>
                </c:pt>
              </c:strCache>
            </c:strRef>
          </c:tx>
          <c:spPr>
            <a:solidFill>
              <a:srgbClr val="1F2A36"/>
            </a:solidFill>
            <a:effectLst/>
          </c:spPr>
          <c:invertIfNegative val="0"/>
          <c:dLbls>
            <c:numFmt formatCode="0.00" sourceLinked="0"/>
            <c:txPr>
              <a:bodyPr/>
              <a:lstStyle/>
              <a:p>
                <a:pPr>
                  <a:defRPr b="0" i="0" strike="noStrike" sz="1100" u="none">
                    <a:solidFill>
                      <a:srgbClr val="1B1F27"/>
                    </a:solidFill>
                    <a:latin typeface="+mn-lt"/>
                  </a:defRPr>
                </a:pPr>
              </a:p>
            </c:txPr>
            <c:showLegendKey val="0"/>
            <c:showVal val="1"/>
            <c:showCatName val="0"/>
            <c:showSerName val="0"/>
            <c:showPercent val="0"/>
            <c:showBubbleSize val="0"/>
            <c:showLeaderLines val="0"/>
          </c:dLbls>
          <c:cat>
            <c:multiLvlStrRef>
              <c:f>Sheet1!$A$2:$A$6</c:f>
              <c:multiLvlStrCache>
                <c:ptCount val="5"/>
                <c:lvl>
                  <c:pt idx="0">
                    <c:v>camera</c:v>
                  </c:pt>
                  <c:pt idx="1">
                    <c:v>+ radar</c:v>
                  </c:pt>
                  <c:pt idx="2">
                    <c:v>+ LiDAR</c:v>
                  </c:pt>
                  <c:pt idx="3">
                    <c:v>+ depth</c:v>
                  </c:pt>
                  <c:pt idx="4">
                    <c:v>+ all</c:v>
                  </c:pt>
                </c:lvl>
              </c:multiLvlStrCache>
            </c:multiLvlStrRef>
          </c:cat>
          <c:val>
            <c:numRef>
              <c:f>Sheet1!$C$2:$C$6</c:f>
              <c:numCache>
                <c:formatCode>General</c:formatCode>
                <c:ptCount val="5"/>
                <c:pt idx="0">
                  <c:v>0.837</c:v>
                </c:pt>
                <c:pt idx="1">
                  <c:v>0.93</c:v>
                </c:pt>
                <c:pt idx="2">
                  <c:v>0.926</c:v>
                </c:pt>
                <c:pt idx="3">
                  <c:v>0.94</c:v>
                </c:pt>
                <c:pt idx="4">
                  <c:v>0.971</c:v>
                </c:pt>
              </c:numCache>
            </c:numRef>
          </c:val>
        </c:ser>
        <c:dLbls>
          <c:numFmt formatCode="0.00" sourceLinked="0"/>
          <c:txPr>
            <a:bodyPr/>
            <a:lstStyle/>
            <a:p>
              <a:pPr>
                <a:defRPr b="0" i="0" strike="noStrike" sz="1100" u="none">
                  <a:solidFill>
                    <a:srgbClr val="1B1F27"/>
                  </a:solidFill>
                  <a:latin typeface="+mn-lt"/>
                </a:defRPr>
              </a:pPr>
            </a:p>
          </c:txPr>
          <c:showLegendKey val="0"/>
          <c:showVal val="1"/>
          <c:showCatName val="0"/>
          <c:showSerName val="0"/>
          <c:showPercent val="0"/>
          <c:showBubbleSize val="0"/>
          <c:showLeaderLines val="0"/>
        </c:dLbls>
        <c:gapWidth val="6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5B6573"/>
                </a:solidFill>
                <a:latin typeface="+mn-lt"/>
              </a:defRPr>
            </a:pPr>
            <a:endParaRPr lang="en-US"/>
          </a:p>
        </c:txPr>
        <c:crossAx val="2094734552"/>
        <c:crosses val="autoZero"/>
        <c:auto val="1"/>
        <c:lblAlgn val="ctr"/>
        <c:noMultiLvlLbl val="1"/>
      </c:catAx>
      <c:valAx>
        <c:axId val="2094734552"/>
        <c:scaling>
          <c:orientation val="minMax"/>
          <c:max val="1"/>
          <c:min val="0"/>
        </c:scaling>
        <c:delete val="0"/>
        <c:axPos val="l"/>
        <c:majorGridlines>
          <c:spPr>
            <a:ln w="9525" cap="flat">
              <a:solidFill>
                <a:srgbClr val="E3E6EB"/>
              </a:solidFill>
              <a:prstDash val="solid"/>
              <a:round/>
            </a:ln>
          </c:spPr>
        </c:majorGridlines>
        <c:numFmt formatCode="0.0" sourceLinked="0"/>
        <c:majorTickMark val="out"/>
        <c:minorTickMark val="none"/>
        <c:tickLblPos val="nextTo"/>
        <c:spPr>
          <a:ln w="12700" cap="flat">
            <a:noFill/>
            <a:prstDash val="solid"/>
            <a:round/>
          </a:ln>
        </c:spPr>
        <c:txPr>
          <a:bodyPr/>
          <a:lstStyle/>
          <a:p>
            <a:pPr>
              <a:defRPr sz="1200" b="0" i="0" u="none" strike="noStrike">
                <a:solidFill>
                  <a:srgbClr val="5B6573"/>
                </a:solidFill>
                <a:latin typeface="+mn-lt"/>
              </a:defRPr>
            </a:pPr>
            <a:endParaRPr lang="en-US"/>
          </a:p>
        </c:txPr>
        <c:crossAx val="2094734554"/>
        <c:crosses val="autoZero"/>
        <c:crossBetween val="between"/>
        <c:majorUnit val="0.2"/>
      </c:valAx>
      <c:spPr>
        <a:noFill/>
        <a:ln>
          <a:noFill/>
        </a:ln>
        <a:effectLst/>
      </c:spPr>
    </c:plotArea>
    <c:legend>
      <c:legendPos val="b"/>
      <c:overlay val="0"/>
      <c:txPr>
        <a:bodyPr/>
        <a:lstStyle/>
        <a:p>
          <a:pPr>
            <a:defRPr sz="1200">
              <a:solidFill>
                <a:srgbClr val="5B6573"/>
              </a:solidFill>
              <a:latin typeface="+mn-lt"/>
              <a:cs typeface="+mn-lt"/>
            </a:defRPr>
          </a:pPr>
          <a:endParaRPr lang="en-US"/>
        </a:p>
      </c:txPr>
    </c:legend>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Status after the 4-day sprint: every compute step is finished (generation, tracking, 26 training runs, E5, E6). This deck covers the problem, how CrashTwin works, the data, the results of E1–E6, the problems we hit, progress, what is left, and how the project moves to the new GPU machine.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Real crash videos are few, camera-only and labelled inconsistently. Simulators can make unlimited crashes with every sensor, but nobody had checked whether synthetic crashes help on real dashcam crashes. That gap is CrashTwin's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RQ1 is the main question. RQ2 to RQ4 explain where the twin helps and where it does not.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Main message: the twin helps on Nexar, especially when real data is scarce, but not on CCD. Range sensors help a lot inside the simulator. CCD's official split leaks source videos.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CARLA clips and real clips go through the same detector, tracker and features. The model never sees simulator ground truth for real video, so E1 to E3 compare training data only.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Near-miss families add a seeded emergency brake for the ego car. Normal families give the negatives. Town05 never appears in training or validation.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predicted-overlap TTC replaced a gap divided by closing speed rule that wrongly flagged oncoming and passing traffic. Sensor errors are agreement with CARLA ground truth, not proof of real-world realism.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Usable CARLA clip = no FAIL and a valid measured outcome. Positives are crash or near-miss. The full run stopped at the 40 GB storage cap after 3,040 of 3,300 slots; the 260 unrun slots are Town10HD normal driving.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official split gives higher AP at every real-data fraction (+0.03 to +0.06), as expected from shared source videos. Our primary CCD number is always the grouped split.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Nexar public / private mAP. CARLA only: 0.621 / 0.638. Real only at 10, 25, 50, 100 %: public 0.586, 0.640, 0.664, 0.703; private 0.526, 0.576, 0.666, 0.681. CARLA + real: public 0.619, 0.652, 0.640, 0.707; private 0.585, 0.606, 0.678, 0.714.</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CCD is where the twin fails. Checking CCD crashes that involve the dashcam car separately from crashes between other vehicles is the first analysis to run next.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Sensor features: radar range, closing speed and TTC; LiDAR and depth gap ahead; ego speed and IMU. Same GRU, same splits; only the input features change.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CARLA's Traffic Manager drives slower and keeps longer headways, so CARLA normal driving is calmer than reality. Only 30 CARLA samples were closing in, so the TTC comparison is weak.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Hypotheses fixed before looking: AP night &lt; day and AP rain &lt; clear. Neither is clearly supported with these group sizes.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storage stop and the post-save training errors were expected behaviour. The wrong-folder resume was the only incident that cost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four-day plan's compute finished in two days. The remaining days can go to more seeds, the CCD analysis and writing.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Recommended order: more seeds first (cheap), then the CCD analysis, then traffic realism.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Over the internet, 140 GB takes about 6 hours at 50 Mbps upload; an external USB 3 drive takes 15 to 30 minutes each way.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Questions welcome. Results tables: outputs/results/RESULTS.md and paper/draft.md section 7.</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CT_TITLE">
    <p:bg>
      <p:bgPr>
        <a:solidFill>
          <a:schemeClr val="tx2"/>
        </a:solidFill>
      </p:bgPr>
    </p:bg>
    <p:spTree>
      <p:nvGrpSpPr>
        <p:cNvPr id="1" name=""/>
        <p:cNvGrpSpPr/>
        <p:nvPr/>
      </p:nvGrpSpPr>
      <p:grpSpPr>
        <a:xfrm>
          <a:off x="0" y="0"/>
          <a:ext cx="0" cy="0"/>
          <a:chOff x="0" y="0"/>
          <a:chExt cx="0" cy="0"/>
        </a:xfrm>
      </p:grpSpPr>
      <p:sp>
        <p:nvSpPr>
          <p:cNvPr id="2" name="Text 0"/>
          <p:cNvSpPr/>
          <p:nvPr>
            <p:ph idx="100" type="body" hasCustomPrompt="1"/>
          </p:nvPr>
        </p:nvSpPr>
        <p:spPr>
          <a:xfrm>
            <a:off x="731520" y="1234440"/>
            <a:ext cx="10515600" cy="411480"/>
          </a:xfrm>
          <a:prstGeom prst="rect">
            <a:avLst/>
          </a:prstGeom>
          <a:noFill/>
          <a:ln/>
        </p:spPr>
        <p:txBody>
          <a:bodyPr wrap="square" rtlCol="0"/>
          <a:lstStyle>
            <a:lvl1pPr indent="0" marL="0">
              <a:buNone/>
              <a:defRPr lang="en-US" sz="1400" b="1" spc="200" kern="0" dirty="0">
                <a:solidFill>
                  <a:schemeClr val="accent1"/>
                </a:solidFill>
              </a:defRPr>
            </a:lvl1pPr>
          </a:lstStyle>
          <a:p>
            <a:pPr indent="0" marL="0">
              <a:buNone/>
            </a:pPr>
            <a:endParaRPr lang="en-US" sz="1400" dirty="0"/>
          </a:p>
        </p:txBody>
      </p:sp>
      <p:sp>
        <p:nvSpPr>
          <p:cNvPr id="3" name="Text 0"/>
          <p:cNvSpPr/>
          <p:nvPr>
            <p:ph idx="101" type="title" hasCustomPrompt="1"/>
          </p:nvPr>
        </p:nvSpPr>
        <p:spPr>
          <a:xfrm>
            <a:off x="731520" y="1691640"/>
            <a:ext cx="10515600" cy="1143000"/>
          </a:xfrm>
          <a:prstGeom prst="rect">
            <a:avLst/>
          </a:prstGeom>
          <a:noFill/>
          <a:ln/>
        </p:spPr>
        <p:txBody>
          <a:bodyPr wrap="square" rtlCol="0"/>
          <a:lstStyle>
            <a:lvl1pPr algn="l" indent="0" marL="0">
              <a:buNone/>
              <a:defRPr lang="en-US" sz="6000" b="1" dirty="0">
                <a:solidFill>
                  <a:schemeClr val="bg1"/>
                </a:solidFill>
              </a:defRPr>
            </a:lvl1pPr>
          </a:lstStyle>
          <a:p>
            <a:pPr algn="l" indent="0" marL="0">
              <a:buNone/>
            </a:pPr>
            <a:endParaRPr lang="en-US" sz="6000" dirty="0"/>
          </a:p>
        </p:txBody>
      </p:sp>
      <p:sp>
        <p:nvSpPr>
          <p:cNvPr id="4" name="Text 0"/>
          <p:cNvSpPr/>
          <p:nvPr>
            <p:ph idx="102" type="body" hasCustomPrompt="1"/>
          </p:nvPr>
        </p:nvSpPr>
        <p:spPr>
          <a:xfrm>
            <a:off x="731520" y="2880360"/>
            <a:ext cx="9601200" cy="914400"/>
          </a:xfrm>
          <a:prstGeom prst="rect">
            <a:avLst/>
          </a:prstGeom>
          <a:noFill/>
          <a:ln/>
        </p:spPr>
        <p:txBody>
          <a:bodyPr wrap="square" rtlCol="0"/>
          <a:lstStyle>
            <a:lvl1pPr indent="0" marL="0">
              <a:buNone/>
              <a:defRPr lang="en-US" sz="2200" dirty="0">
                <a:solidFill>
                  <a:schemeClr val="bg1"/>
                </a:solidFill>
              </a:defRPr>
            </a:lvl1pPr>
          </a:lstStyle>
          <a:p>
            <a:pPr indent="0" marL="0">
              <a:buNone/>
            </a:pPr>
            <a:endParaRPr lang="en-US" sz="2200" dirty="0"/>
          </a:p>
        </p:txBody>
      </p:sp>
      <p:sp>
        <p:nvSpPr>
          <p:cNvPr id="5" name="Text 0"/>
          <p:cNvSpPr/>
          <p:nvPr>
            <p:ph idx="103" type="body" hasCustomPrompt="1"/>
          </p:nvPr>
        </p:nvSpPr>
        <p:spPr>
          <a:xfrm>
            <a:off x="731520" y="3794760"/>
            <a:ext cx="9601200" cy="411480"/>
          </a:xfrm>
          <a:prstGeom prst="rect">
            <a:avLst/>
          </a:prstGeom>
          <a:noFill/>
          <a:ln/>
        </p:spPr>
        <p:txBody>
          <a:bodyPr wrap="square" rtlCol="0"/>
          <a:lstStyle>
            <a:lvl1pPr indent="0" marL="0">
              <a:buNone/>
              <a:defRPr lang="en-US" sz="1600" dirty="0">
                <a:solidFill>
                  <a:schemeClr val="bg2"/>
                </a:solidFill>
              </a:defRPr>
            </a:lvl1pPr>
          </a:lstStyle>
          <a:p>
            <a:pPr indent="0" marL="0">
              <a:buNone/>
            </a:pPr>
            <a:endParaRPr lang="en-US" sz="16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T_CONTENT">
    <p:bg>
      <p:bgPr>
        <a:solidFill>
          <a:schemeClr val="bg1"/>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731520"/>
          </a:xfrm>
          <a:prstGeom prst="rect">
            <a:avLst/>
          </a:prstGeom>
          <a:noFill/>
          <a:ln/>
        </p:spPr>
        <p:txBody>
          <a:bodyPr wrap="square" rtlCol="0"/>
          <a:lstStyle>
            <a:lvl1pPr algn="l" indent="0" marL="0">
              <a:buNone/>
              <a:defRPr lang="en-US" sz="3400" b="1" dirty="0">
                <a:solidFill>
                  <a:schemeClr val="tx1"/>
                </a:solidFill>
              </a:defRPr>
            </a:lvl1pPr>
          </a:lstStyle>
          <a:p>
            <a:pPr algn="l" indent="0" marL="0">
              <a:buNone/>
            </a:pPr>
            <a:endParaRPr lang="en-US" sz="3400" dirty="0"/>
          </a:p>
        </p:txBody>
      </p:sp>
      <p:sp>
        <p:nvSpPr>
          <p:cNvPr id="3" name="Text 0"/>
          <p:cNvSpPr/>
          <p:nvPr>
            <p:ph idx="101" type="body" hasCustomPrompt="1"/>
          </p:nvPr>
        </p:nvSpPr>
        <p:spPr>
          <a:xfrm>
            <a:off x="548640" y="1078992"/>
            <a:ext cx="11094415" cy="411480"/>
          </a:xfrm>
          <a:prstGeom prst="rect">
            <a:avLst/>
          </a:prstGeom>
          <a:noFill/>
          <a:ln/>
        </p:spPr>
        <p:txBody>
          <a:bodyPr wrap="square" rtlCol="0"/>
          <a:lstStyle>
            <a:lvl1pPr indent="0" marL="0">
              <a:buNone/>
              <a:defRPr lang="en-US" sz="1600" dirty="0">
                <a:solidFill>
                  <a:schemeClr val="accent6"/>
                </a:solidFill>
              </a:defRPr>
            </a:lvl1pPr>
          </a:lstStyle>
          <a:p>
            <a:pPr indent="0" marL="0">
              <a:buNone/>
            </a:pPr>
            <a:endParaRPr lang="en-US" sz="1600" dirty="0"/>
          </a:p>
        </p:txBody>
      </p:sp>
      <p:sp>
        <p:nvSpPr>
          <p:cNvPr id="4" name="Text 0"/>
          <p:cNvSpPr/>
          <p:nvPr/>
        </p:nvSpPr>
        <p:spPr>
          <a:xfrm>
            <a:off x="548640" y="6400800"/>
            <a:ext cx="6400800" cy="274320"/>
          </a:xfrm>
          <a:prstGeom prst="rect">
            <a:avLst/>
          </a:prstGeom>
          <a:noFill/>
          <a:ln/>
        </p:spPr>
        <p:txBody>
          <a:bodyPr wrap="square" lIns="0" tIns="0" rIns="0" bIns="0" rtlCol="0" anchor="ctr"/>
          <a:lstStyle/>
          <a:p>
            <a:pPr indent="0" marL="0">
              <a:buNone/>
            </a:pPr>
            <a:r>
              <a:rPr lang="en-US" sz="1000" dirty="0">
                <a:solidFill>
                  <a:schemeClr val="accent6"/>
                </a:solidFill>
              </a:rPr>
              <a:t>CrashTwin · progress report · 30 October 2026</a:t>
            </a:r>
            <a:endParaRPr lang="en-US" sz="10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chemeClr val="accent6"/>
                </a:solidFill>
              </a:defRPr>
            </a:lvl1pPr>
          </a:lstStyle>
          <a:p>
            <a:pPr algn="r"/>
            <a:fld id="{F7021451-1387-4CA6-816F-3879F97B5CBC}" type="slidenum">
              <a:rPr b="0" lang="en-US"/>
              <a:t>1003</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CT_DARK">
    <p:bg>
      <p:bgPr>
        <a:solidFill>
          <a:schemeClr val="tx2"/>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731520"/>
          </a:xfrm>
          <a:prstGeom prst="rect">
            <a:avLst/>
          </a:prstGeom>
          <a:noFill/>
          <a:ln/>
        </p:spPr>
        <p:txBody>
          <a:bodyPr wrap="square" rtlCol="0"/>
          <a:lstStyle>
            <a:lvl1pPr algn="l" indent="0" marL="0">
              <a:buNone/>
              <a:defRPr lang="en-US" sz="3400" b="1" dirty="0">
                <a:solidFill>
                  <a:schemeClr val="bg1"/>
                </a:solidFill>
              </a:defRPr>
            </a:lvl1pPr>
          </a:lstStyle>
          <a:p>
            <a:pPr algn="l" indent="0" marL="0">
              <a:buNone/>
            </a:pPr>
            <a:endParaRPr lang="en-US" sz="3400" dirty="0"/>
          </a:p>
        </p:txBody>
      </p:sp>
      <p:sp>
        <p:nvSpPr>
          <p:cNvPr id="3" name="Text 0"/>
          <p:cNvSpPr/>
          <p:nvPr>
            <p:ph idx="101" type="body" hasCustomPrompt="1"/>
          </p:nvPr>
        </p:nvSpPr>
        <p:spPr>
          <a:xfrm>
            <a:off x="548640" y="1078992"/>
            <a:ext cx="11094415" cy="411480"/>
          </a:xfrm>
          <a:prstGeom prst="rect">
            <a:avLst/>
          </a:prstGeom>
          <a:noFill/>
          <a:ln/>
        </p:spPr>
        <p:txBody>
          <a:bodyPr wrap="square" rtlCol="0"/>
          <a:lstStyle>
            <a:lvl1pPr indent="0" marL="0">
              <a:buNone/>
              <a:defRPr lang="en-US" sz="1600" dirty="0">
                <a:solidFill>
                  <a:schemeClr val="bg2"/>
                </a:solidFill>
              </a:defRPr>
            </a:lvl1pPr>
          </a:lstStyle>
          <a:p>
            <a:pPr indent="0" marL="0">
              <a:buNone/>
            </a:pPr>
            <a:endParaRPr lang="en-US" sz="1600" dirty="0"/>
          </a:p>
        </p:txBody>
      </p:sp>
      <p:sp>
        <p:nvSpPr>
          <p:cNvPr id="4" name="Text 0"/>
          <p:cNvSpPr/>
          <p:nvPr/>
        </p:nvSpPr>
        <p:spPr>
          <a:xfrm>
            <a:off x="548640" y="6400800"/>
            <a:ext cx="6400800" cy="274320"/>
          </a:xfrm>
          <a:prstGeom prst="rect">
            <a:avLst/>
          </a:prstGeom>
          <a:noFill/>
          <a:ln/>
        </p:spPr>
        <p:txBody>
          <a:bodyPr wrap="square" lIns="0" tIns="0" rIns="0" bIns="0" rtlCol="0" anchor="ctr"/>
          <a:lstStyle/>
          <a:p>
            <a:pPr indent="0" marL="0">
              <a:buNone/>
            </a:pPr>
            <a:r>
              <a:rPr lang="en-US" sz="1000" dirty="0">
                <a:solidFill>
                  <a:schemeClr val="bg2"/>
                </a:solidFill>
              </a:rPr>
              <a:t>CrashTwin · progress report · 30 October 2026</a:t>
            </a:r>
            <a:endParaRPr lang="en-US" sz="10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chemeClr val="bg2"/>
                </a:solidFill>
              </a:defRPr>
            </a:lvl1pPr>
          </a:lstStyle>
          <a:p>
            <a:pPr algn="r"/>
            <a:fld id="{F7021451-1387-4CA6-816F-3879F97B5CBC}" type="slidenum">
              <a:rPr b="0" lang="en-US"/>
              <a:t>1004</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chemeClr val="accent6"/>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slideLayout" Target="../slideLayouts/slideLayout3.xml"/><Relationship Id="rId5"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image" Target="../media/image-3-4.png"/><Relationship Id="rId5" Type="http://schemas.openxmlformats.org/officeDocument/2006/relationships/slideLayout" Target="../slideLayouts/slideLayout3.xml"/><Relationship Id="rId6"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image" Target="../media/image-5-3.png"/><Relationship Id="rId4" Type="http://schemas.openxmlformats.org/officeDocument/2006/relationships/image" Target="../media/image-5-4.png"/><Relationship Id="rId5" Type="http://schemas.openxmlformats.org/officeDocument/2006/relationships/image" Target="../media/image-5-5.png"/><Relationship Id="rId6" Type="http://schemas.openxmlformats.org/officeDocument/2006/relationships/image" Target="../media/image-5-6.png"/><Relationship Id="rId7" Type="http://schemas.openxmlformats.org/officeDocument/2006/relationships/slideLayout" Target="../slideLayouts/slideLayout3.xml"/><Relationship Id="rId8"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image" Target="../media/image-6-3.png"/><Relationship Id="rId4" Type="http://schemas.openxmlformats.org/officeDocument/2006/relationships/slideLayout" Target="../slideLayouts/slideLayout3.xml"/><Relationship Id="rId5"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3.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chart" Target="/ppt/charts/chart2.xml"/><Relationship Id="rId2" Type="http://schemas.openxmlformats.org/officeDocument/2006/relationships/slideLayout" Target="../slideLayouts/slideLayout3.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chart" Target="/ppt/charts/chart3.xml"/><Relationship Id="rId2" Type="http://schemas.openxmlformats.org/officeDocument/2006/relationships/slideLayout" Target="../slideLayouts/slideLayout3.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chart" Target="/ppt/charts/chart4.xml"/><Relationship Id="rId2" Type="http://schemas.openxmlformats.org/officeDocument/2006/relationships/slideLayout" Target="../slideLayouts/slideLayout3.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image" Target="../media/image-13-2.png"/><Relationship Id="rId3" Type="http://schemas.openxmlformats.org/officeDocument/2006/relationships/image" Target="../media/image-13-3.png"/><Relationship Id="rId4" Type="http://schemas.openxmlformats.org/officeDocument/2006/relationships/image" Target="../media/image-13-4.png"/><Relationship Id="rId5" Type="http://schemas.openxmlformats.org/officeDocument/2006/relationships/slideLayout" Target="../slideLayouts/slideLayout3.xml"/><Relationship Id="rId6"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image" Target="../media/image-15-2.png"/><Relationship Id="rId3" Type="http://schemas.openxmlformats.org/officeDocument/2006/relationships/image" Target="../media/image-15-3.png"/><Relationship Id="rId4" Type="http://schemas.openxmlformats.org/officeDocument/2006/relationships/image" Target="../media/image-15-4.png"/><Relationship Id="rId5" Type="http://schemas.openxmlformats.org/officeDocument/2006/relationships/image" Target="../media/image-15-5.png"/><Relationship Id="rId6" Type="http://schemas.openxmlformats.org/officeDocument/2006/relationships/image" Target="../media/image-15-6.png"/><Relationship Id="rId7" Type="http://schemas.openxmlformats.org/officeDocument/2006/relationships/image" Target="../media/image-15-7.png"/><Relationship Id="rId8" Type="http://schemas.openxmlformats.org/officeDocument/2006/relationships/image" Target="../media/image-15-8.png"/><Relationship Id="rId9" Type="http://schemas.openxmlformats.org/officeDocument/2006/relationships/slideLayout" Target="../slideLayouts/slideLayout3.xml"/><Relationship Id="rId10"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image" Target="../media/image-17-2.png"/><Relationship Id="rId3" Type="http://schemas.openxmlformats.org/officeDocument/2006/relationships/image" Target="../media/image-17-3.png"/><Relationship Id="rId4" Type="http://schemas.openxmlformats.org/officeDocument/2006/relationships/image" Target="../media/image-17-4.png"/><Relationship Id="rId5" Type="http://schemas.openxmlformats.org/officeDocument/2006/relationships/image" Target="../media/image-17-5.png"/><Relationship Id="rId6" Type="http://schemas.openxmlformats.org/officeDocument/2006/relationships/image" Target="../media/image-17-6.png"/><Relationship Id="rId7" Type="http://schemas.openxmlformats.org/officeDocument/2006/relationships/image" Target="../media/image-17-7.png"/><Relationship Id="rId8" Type="http://schemas.openxmlformats.org/officeDocument/2006/relationships/image" Target="../media/image-17-8.png"/><Relationship Id="rId9" Type="http://schemas.openxmlformats.org/officeDocument/2006/relationships/image" Target="../media/image-17-9.png"/><Relationship Id="rId10" Type="http://schemas.openxmlformats.org/officeDocument/2006/relationships/image" Target="../media/image-17-10.png"/><Relationship Id="rId11" Type="http://schemas.openxmlformats.org/officeDocument/2006/relationships/slideLayout" Target="../slideLayouts/slideLayout3.xml"/><Relationship Id="rId1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image" Target="../media/image-18-2.png"/><Relationship Id="rId3" Type="http://schemas.openxmlformats.org/officeDocument/2006/relationships/image" Target="../media/image-18-3.png"/><Relationship Id="rId4" Type="http://schemas.openxmlformats.org/officeDocument/2006/relationships/slideLayout" Target="../slideLayouts/slideLayout3.xml"/><Relationship Id="rId5"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9.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ph idx="100" type="body" hasCustomPrompt="1"/>
          </p:nvPr>
        </p:nvSpPr>
        <p:spPr>
          <a:xfrm>
            <a:off x="731520" y="1234440"/>
            <a:ext cx="10515600" cy="411480"/>
          </a:xfrm>
          <a:prstGeom prst="rect">
            <a:avLst/>
          </a:prstGeom>
          <a:noFill/>
          <a:ln/>
        </p:spPr>
        <p:txBody>
          <a:bodyPr wrap="square" lIns="0" tIns="0" rIns="0" bIns="0" rtlCol="0" anchor="ctr"/>
          <a:lstStyle/>
          <a:p>
            <a:pPr indent="0" marL="0">
              <a:buNone/>
            </a:pPr>
            <a:r>
              <a:rPr lang="en-US" sz="1400" b="1" spc="200" kern="0" dirty="0">
                <a:solidFill>
                  <a:schemeClr val="accent1"/>
                </a:solidFill>
              </a:rPr>
              <a:t>PROGRESS REPORT · 30 OCTOBER 2026</a:t>
            </a:r>
            <a:endParaRPr lang="en-US" sz="1400" dirty="0"/>
          </a:p>
        </p:txBody>
      </p:sp>
      <p:sp>
        <p:nvSpPr>
          <p:cNvPr id="3" name="Text 0"/>
          <p:cNvSpPr/>
          <p:nvPr>
            <p:ph idx="101" type="title" hasCustomPrompt="1"/>
          </p:nvPr>
        </p:nvSpPr>
        <p:spPr>
          <a:xfrm>
            <a:off x="731520" y="1691640"/>
            <a:ext cx="10515600" cy="1143000"/>
          </a:xfrm>
          <a:prstGeom prst="rect">
            <a:avLst/>
          </a:prstGeom>
          <a:noFill/>
          <a:ln/>
        </p:spPr>
        <p:txBody>
          <a:bodyPr wrap="square" lIns="0" tIns="0" rIns="0" bIns="0" rtlCol="0" anchor="ctr"/>
          <a:lstStyle/>
          <a:p>
            <a:pPr algn="l" indent="0" marL="0">
              <a:buNone/>
            </a:pPr>
            <a:r>
              <a:rPr lang="en-US" sz="6000" b="1" dirty="0">
                <a:solidFill>
                  <a:schemeClr val="bg1"/>
                </a:solidFill>
              </a:rPr>
              <a:t>CrashTwin</a:t>
            </a:r>
            <a:endParaRPr lang="en-US" sz="6000" dirty="0"/>
          </a:p>
        </p:txBody>
      </p:sp>
      <p:sp>
        <p:nvSpPr>
          <p:cNvPr id="4" name="Text 0"/>
          <p:cNvSpPr/>
          <p:nvPr>
            <p:ph idx="102" type="body" hasCustomPrompt="1"/>
          </p:nvPr>
        </p:nvSpPr>
        <p:spPr>
          <a:xfrm>
            <a:off x="731520" y="2880360"/>
            <a:ext cx="9601200" cy="914400"/>
          </a:xfrm>
          <a:prstGeom prst="rect">
            <a:avLst/>
          </a:prstGeom>
          <a:noFill/>
          <a:ln/>
        </p:spPr>
        <p:txBody>
          <a:bodyPr wrap="square" lIns="0" tIns="0" rIns="0" bIns="0" rtlCol="0" anchor="t"/>
          <a:lstStyle/>
          <a:p>
            <a:pPr indent="0" marL="0">
              <a:buNone/>
            </a:pPr>
            <a:r>
              <a:rPr lang="en-US" sz="2200" dirty="0">
                <a:solidFill>
                  <a:schemeClr val="bg1"/>
                </a:solidFill>
              </a:rPr>
              <a:t>A CARLA digital twin that teaches crash anticipation, tested on real dashcam video</a:t>
            </a:r>
            <a:endParaRPr lang="en-US" sz="2200" dirty="0"/>
          </a:p>
        </p:txBody>
      </p:sp>
      <p:sp>
        <p:nvSpPr>
          <p:cNvPr id="5" name="Text 0"/>
          <p:cNvSpPr/>
          <p:nvPr>
            <p:ph idx="103" type="body" hasCustomPrompt="1"/>
          </p:nvPr>
        </p:nvSpPr>
        <p:spPr>
          <a:xfrm>
            <a:off x="731520" y="3794760"/>
            <a:ext cx="9601200" cy="411480"/>
          </a:xfrm>
          <a:prstGeom prst="rect">
            <a:avLst/>
          </a:prstGeom>
          <a:noFill/>
          <a:ln/>
        </p:spPr>
        <p:txBody>
          <a:bodyPr wrap="square" lIns="0" tIns="0" rIns="0" bIns="0" rtlCol="0" anchor="t"/>
          <a:lstStyle/>
          <a:p>
            <a:pPr indent="0" marL="0">
              <a:buNone/>
            </a:pPr>
            <a:r>
              <a:rPr lang="en-US" sz="1600" dirty="0">
                <a:solidFill>
                  <a:schemeClr val="bg2"/>
                </a:solidFill>
              </a:rPr>
              <a:t>Adarsh L · CAVE Labs, PES University</a:t>
            </a:r>
            <a:endParaRPr lang="en-US" sz="1600" dirty="0"/>
          </a:p>
        </p:txBody>
      </p:sp>
      <p:sp>
        <p:nvSpPr>
          <p:cNvPr id="6" name="title stat 1 value"/>
          <p:cNvSpPr txBox="1"/>
          <p:nvPr/>
        </p:nvSpPr>
        <p:spPr>
          <a:xfrm>
            <a:off x="731520" y="4709160"/>
            <a:ext cx="2560320" cy="685800"/>
          </a:xfrm>
          <a:prstGeom prst="rect">
            <a:avLst/>
          </a:prstGeom>
          <a:noFill/>
          <a:ln/>
        </p:spPr>
        <p:txBody>
          <a:bodyPr wrap="square" lIns="0" tIns="0" rIns="0" bIns="0" rtlCol="0" anchor="t"/>
          <a:lstStyle/>
          <a:p>
            <a:pPr indent="0" marL="0">
              <a:buNone/>
            </a:pPr>
            <a:r>
              <a:rPr lang="en-US" sz="4000" b="1" dirty="0">
                <a:solidFill>
                  <a:schemeClr val="accent1"/>
                </a:solidFill>
                <a:latin typeface="Cambria" pitchFamily="34" charset="0"/>
                <a:ea typeface="Cambria" pitchFamily="34" charset="-122"/>
                <a:cs typeface="Cambria" pitchFamily="34" charset="-120"/>
              </a:rPr>
              <a:t>2,576</a:t>
            </a:r>
            <a:endParaRPr lang="en-US" sz="4000" dirty="0"/>
          </a:p>
        </p:txBody>
      </p:sp>
      <p:sp>
        <p:nvSpPr>
          <p:cNvPr id="7" name="title stat 1 label"/>
          <p:cNvSpPr txBox="1"/>
          <p:nvPr/>
        </p:nvSpPr>
        <p:spPr>
          <a:xfrm>
            <a:off x="731520" y="5394960"/>
            <a:ext cx="2560320" cy="365760"/>
          </a:xfrm>
          <a:prstGeom prst="rect">
            <a:avLst/>
          </a:prstGeom>
          <a:noFill/>
          <a:ln/>
        </p:spPr>
        <p:txBody>
          <a:bodyPr wrap="square" lIns="0" tIns="0" rIns="0" bIns="0" rtlCol="0" anchor="t"/>
          <a:lstStyle/>
          <a:p>
            <a:pPr indent="0" marL="0">
              <a:buNone/>
            </a:pPr>
            <a:r>
              <a:rPr lang="en-US" sz="1400" dirty="0">
                <a:solidFill>
                  <a:schemeClr val="bg2"/>
                </a:solidFill>
              </a:rPr>
              <a:t>CARLA clips generated</a:t>
            </a:r>
            <a:endParaRPr lang="en-US" sz="1400" dirty="0"/>
          </a:p>
        </p:txBody>
      </p:sp>
      <p:sp>
        <p:nvSpPr>
          <p:cNvPr id="8" name="title stat 2 value"/>
          <p:cNvSpPr txBox="1"/>
          <p:nvPr/>
        </p:nvSpPr>
        <p:spPr>
          <a:xfrm>
            <a:off x="3474720" y="4709160"/>
            <a:ext cx="2560320" cy="685800"/>
          </a:xfrm>
          <a:prstGeom prst="rect">
            <a:avLst/>
          </a:prstGeom>
          <a:noFill/>
          <a:ln/>
        </p:spPr>
        <p:txBody>
          <a:bodyPr wrap="square" lIns="0" tIns="0" rIns="0" bIns="0" rtlCol="0" anchor="t"/>
          <a:lstStyle/>
          <a:p>
            <a:pPr indent="0" marL="0">
              <a:buNone/>
            </a:pPr>
            <a:r>
              <a:rPr lang="en-US" sz="4000" b="1" dirty="0">
                <a:solidFill>
                  <a:schemeClr val="accent1"/>
                </a:solidFill>
                <a:latin typeface="Cambria" pitchFamily="34" charset="0"/>
                <a:ea typeface="Cambria" pitchFamily="34" charset="-122"/>
                <a:cs typeface="Cambria" pitchFamily="34" charset="-120"/>
              </a:rPr>
              <a:t>26</a:t>
            </a:r>
            <a:endParaRPr lang="en-US" sz="4000" dirty="0"/>
          </a:p>
        </p:txBody>
      </p:sp>
      <p:sp>
        <p:nvSpPr>
          <p:cNvPr id="9" name="title stat 2 label"/>
          <p:cNvSpPr txBox="1"/>
          <p:nvPr/>
        </p:nvSpPr>
        <p:spPr>
          <a:xfrm>
            <a:off x="3474720" y="5394960"/>
            <a:ext cx="2560320" cy="365760"/>
          </a:xfrm>
          <a:prstGeom prst="rect">
            <a:avLst/>
          </a:prstGeom>
          <a:noFill/>
          <a:ln/>
        </p:spPr>
        <p:txBody>
          <a:bodyPr wrap="square" lIns="0" tIns="0" rIns="0" bIns="0" rtlCol="0" anchor="t"/>
          <a:lstStyle/>
          <a:p>
            <a:pPr indent="0" marL="0">
              <a:buNone/>
            </a:pPr>
            <a:r>
              <a:rPr lang="en-US" sz="1400" dirty="0">
                <a:solidFill>
                  <a:schemeClr val="bg2"/>
                </a:solidFill>
              </a:rPr>
              <a:t>models trained</a:t>
            </a:r>
            <a:endParaRPr lang="en-US" sz="1400" dirty="0"/>
          </a:p>
        </p:txBody>
      </p:sp>
      <p:sp>
        <p:nvSpPr>
          <p:cNvPr id="10" name="title stat 3 value"/>
          <p:cNvSpPr txBox="1"/>
          <p:nvPr/>
        </p:nvSpPr>
        <p:spPr>
          <a:xfrm>
            <a:off x="6217920" y="4709160"/>
            <a:ext cx="2560320" cy="685800"/>
          </a:xfrm>
          <a:prstGeom prst="rect">
            <a:avLst/>
          </a:prstGeom>
          <a:noFill/>
          <a:ln/>
        </p:spPr>
        <p:txBody>
          <a:bodyPr wrap="square" lIns="0" tIns="0" rIns="0" bIns="0" rtlCol="0" anchor="t"/>
          <a:lstStyle/>
          <a:p>
            <a:pPr indent="0" marL="0">
              <a:buNone/>
            </a:pPr>
            <a:r>
              <a:rPr lang="en-US" sz="4000" b="1" dirty="0">
                <a:solidFill>
                  <a:schemeClr val="accent1"/>
                </a:solidFill>
                <a:latin typeface="Cambria" pitchFamily="34" charset="0"/>
                <a:ea typeface="Cambria" pitchFamily="34" charset="-122"/>
                <a:cs typeface="Cambria" pitchFamily="34" charset="-120"/>
              </a:rPr>
              <a:t>6</a:t>
            </a:r>
            <a:endParaRPr lang="en-US" sz="4000" dirty="0"/>
          </a:p>
        </p:txBody>
      </p:sp>
      <p:sp>
        <p:nvSpPr>
          <p:cNvPr id="11" name="title stat 3 label"/>
          <p:cNvSpPr txBox="1"/>
          <p:nvPr/>
        </p:nvSpPr>
        <p:spPr>
          <a:xfrm>
            <a:off x="6217920" y="5394960"/>
            <a:ext cx="2560320" cy="365760"/>
          </a:xfrm>
          <a:prstGeom prst="rect">
            <a:avLst/>
          </a:prstGeom>
          <a:noFill/>
          <a:ln/>
        </p:spPr>
        <p:txBody>
          <a:bodyPr wrap="square" lIns="0" tIns="0" rIns="0" bIns="0" rtlCol="0" anchor="t"/>
          <a:lstStyle/>
          <a:p>
            <a:pPr indent="0" marL="0">
              <a:buNone/>
            </a:pPr>
            <a:r>
              <a:rPr lang="en-US" sz="1400" dirty="0">
                <a:solidFill>
                  <a:schemeClr val="bg2"/>
                </a:solidFill>
              </a:rPr>
              <a:t>experiments, E1–E6</a:t>
            </a:r>
            <a:endParaRPr lang="en-US" sz="1400" dirty="0"/>
          </a:p>
        </p:txBody>
      </p:sp>
      <p:sp>
        <p:nvSpPr>
          <p:cNvPr id="12" name="title stat 4 value"/>
          <p:cNvSpPr txBox="1"/>
          <p:nvPr/>
        </p:nvSpPr>
        <p:spPr>
          <a:xfrm>
            <a:off x="8961120" y="4709160"/>
            <a:ext cx="2560320" cy="685800"/>
          </a:xfrm>
          <a:prstGeom prst="rect">
            <a:avLst/>
          </a:prstGeom>
          <a:noFill/>
          <a:ln/>
        </p:spPr>
        <p:txBody>
          <a:bodyPr wrap="square" lIns="0" tIns="0" rIns="0" bIns="0" rtlCol="0" anchor="t"/>
          <a:lstStyle/>
          <a:p>
            <a:pPr indent="0" marL="0">
              <a:buNone/>
            </a:pPr>
            <a:r>
              <a:rPr lang="en-US" sz="4000" b="1" dirty="0">
                <a:solidFill>
                  <a:schemeClr val="accent1"/>
                </a:solidFill>
                <a:latin typeface="Cambria" pitchFamily="34" charset="0"/>
                <a:ea typeface="Cambria" pitchFamily="34" charset="-122"/>
                <a:cs typeface="Cambria" pitchFamily="34" charset="-120"/>
              </a:rPr>
              <a:t>2 of 4</a:t>
            </a:r>
            <a:endParaRPr lang="en-US" sz="4000" dirty="0"/>
          </a:p>
        </p:txBody>
      </p:sp>
      <p:sp>
        <p:nvSpPr>
          <p:cNvPr id="13" name="title stat 4 label"/>
          <p:cNvSpPr txBox="1"/>
          <p:nvPr/>
        </p:nvSpPr>
        <p:spPr>
          <a:xfrm>
            <a:off x="8961120" y="5394960"/>
            <a:ext cx="2560320" cy="365760"/>
          </a:xfrm>
          <a:prstGeom prst="rect">
            <a:avLst/>
          </a:prstGeom>
          <a:noFill/>
          <a:ln/>
        </p:spPr>
        <p:txBody>
          <a:bodyPr wrap="square" lIns="0" tIns="0" rIns="0" bIns="0" rtlCol="0" anchor="t"/>
          <a:lstStyle/>
          <a:p>
            <a:pPr indent="0" marL="0">
              <a:buNone/>
            </a:pPr>
            <a:r>
              <a:rPr lang="en-US" sz="1400" dirty="0">
                <a:solidFill>
                  <a:schemeClr val="bg2"/>
                </a:solidFill>
              </a:rPr>
              <a:t>days used for all compute</a:t>
            </a:r>
            <a:endParaRPr lang="en-US" sz="14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731520"/>
          </a:xfrm>
          <a:prstGeom prst="rect">
            <a:avLst/>
          </a:prstGeom>
          <a:noFill/>
          <a:ln/>
        </p:spPr>
        <p:txBody>
          <a:bodyPr wrap="square" lIns="0" tIns="0" rIns="0" bIns="0" rtlCol="0" anchor="b"/>
          <a:lstStyle/>
          <a:p>
            <a:pPr algn="l" indent="0" marL="0">
              <a:buNone/>
            </a:pPr>
            <a:r>
              <a:rPr lang="en-US" sz="3400" b="1" dirty="0">
                <a:solidFill>
                  <a:schemeClr val="tx1"/>
                </a:solidFill>
              </a:rPr>
              <a:t>Real crash data is scarce and camera-only</a:t>
            </a:r>
            <a:endParaRPr lang="en-US" sz="3400" dirty="0"/>
          </a:p>
        </p:txBody>
      </p:sp>
      <p:sp>
        <p:nvSpPr>
          <p:cNvPr id="3" name="Text 0"/>
          <p:cNvSpPr/>
          <p:nvPr>
            <p:ph idx="101" type="body" hasCustomPrompt="1"/>
          </p:nvPr>
        </p:nvSpPr>
        <p:spPr>
          <a:xfrm>
            <a:off x="548640" y="1078992"/>
            <a:ext cx="11094415" cy="411480"/>
          </a:xfrm>
          <a:prstGeom prst="rect">
            <a:avLst/>
          </a:prstGeom>
          <a:noFill/>
          <a:ln/>
        </p:spPr>
        <p:txBody>
          <a:bodyPr wrap="square" lIns="0" tIns="0" rIns="0" bIns="0" rtlCol="0" anchor="t"/>
          <a:lstStyle/>
          <a:p>
            <a:pPr indent="0" marL="0">
              <a:buNone/>
            </a:pPr>
            <a:r>
              <a:rPr lang="en-US" sz="1600" dirty="0">
                <a:solidFill>
                  <a:schemeClr val="accent6"/>
                </a:solidFill>
              </a:rPr>
              <a:t>Problem statement: crash warning needs many crashes, every sensor and consistent labels; no dataset has all three</a:t>
            </a:r>
            <a:endParaRPr lang="en-US" sz="1600" dirty="0"/>
          </a:p>
        </p:txBody>
      </p:sp>
      <p:sp>
        <p:nvSpPr>
          <p:cNvPr id="4" name="problem card 1"/>
          <p:cNvSpPr/>
          <p:nvPr/>
        </p:nvSpPr>
        <p:spPr>
          <a:xfrm>
            <a:off x="548640" y="1783080"/>
            <a:ext cx="3547872" cy="3611880"/>
          </a:xfrm>
          <a:prstGeom prst="roundRect">
            <a:avLst>
              <a:gd name="adj" fmla="val 2062"/>
            </a:avLst>
          </a:prstGeom>
          <a:solidFill>
            <a:schemeClr val="bg2"/>
          </a:solidFill>
          <a:ln w="12700">
            <a:solidFill>
              <a:schemeClr val="bg2"/>
            </a:solidFill>
            <a:prstDash val="solid"/>
          </a:ln>
        </p:spPr>
      </p:sp>
      <p:sp>
        <p:nvSpPr>
          <p:cNvPr id="5" name="problem 1 icon circle"/>
          <p:cNvSpPr/>
          <p:nvPr/>
        </p:nvSpPr>
        <p:spPr>
          <a:xfrm>
            <a:off x="868680" y="2103120"/>
            <a:ext cx="685800" cy="685800"/>
          </a:xfrm>
          <a:prstGeom prst="ellipse">
            <a:avLst/>
          </a:prstGeom>
          <a:solidFill>
            <a:schemeClr val="accent1"/>
          </a:solidFill>
          <a:ln w="12700">
            <a:solidFill>
              <a:schemeClr val="accent1"/>
            </a:solidFill>
            <a:prstDash val="solid"/>
          </a:ln>
        </p:spPr>
      </p:sp>
      <p:pic>
        <p:nvPicPr>
          <p:cNvPr id="6" name="problem 1 icon" descr="problem 1">    </p:cNvPr>
          <p:cNvPicPr>
            <a:picLocks noChangeAspect="1"/>
          </p:cNvPicPr>
          <p:nvPr/>
        </p:nvPicPr>
        <p:blipFill>
          <a:blip r:embed="rId1"/>
          <a:stretch>
            <a:fillRect/>
          </a:stretch>
        </p:blipFill>
        <p:spPr>
          <a:xfrm>
            <a:off x="1033272" y="2267712"/>
            <a:ext cx="356616" cy="356616"/>
          </a:xfrm>
          <a:prstGeom prst="rect">
            <a:avLst/>
          </a:prstGeom>
        </p:spPr>
      </p:pic>
      <p:sp>
        <p:nvSpPr>
          <p:cNvPr id="7" name="problem 1 number"/>
          <p:cNvSpPr txBox="1"/>
          <p:nvPr/>
        </p:nvSpPr>
        <p:spPr>
          <a:xfrm>
            <a:off x="868680" y="2971800"/>
            <a:ext cx="2907792" cy="685800"/>
          </a:xfrm>
          <a:prstGeom prst="rect">
            <a:avLst/>
          </a:prstGeom>
          <a:noFill/>
          <a:ln/>
        </p:spPr>
        <p:txBody>
          <a:bodyPr wrap="square" lIns="0" tIns="0" rIns="0" bIns="0" rtlCol="0" anchor="t"/>
          <a:lstStyle/>
          <a:p>
            <a:pPr indent="0" marL="0">
              <a:buNone/>
            </a:pPr>
            <a:r>
              <a:rPr lang="en-US" sz="4000" b="1" dirty="0">
                <a:solidFill>
                  <a:schemeClr val="tx1"/>
                </a:solidFill>
                <a:latin typeface="Cambria" pitchFamily="34" charset="0"/>
                <a:ea typeface="Cambria" pitchFamily="34" charset="-122"/>
                <a:cs typeface="Cambria" pitchFamily="34" charset="-120"/>
              </a:rPr>
              <a:t>1,500</a:t>
            </a:r>
            <a:endParaRPr lang="en-US" sz="4000" dirty="0"/>
          </a:p>
        </p:txBody>
      </p:sp>
      <p:sp>
        <p:nvSpPr>
          <p:cNvPr id="8" name="problem 1 label"/>
          <p:cNvSpPr txBox="1"/>
          <p:nvPr/>
        </p:nvSpPr>
        <p:spPr>
          <a:xfrm>
            <a:off x="868680" y="3657600"/>
            <a:ext cx="2907792" cy="548640"/>
          </a:xfrm>
          <a:prstGeom prst="rect">
            <a:avLst/>
          </a:prstGeom>
          <a:noFill/>
          <a:ln/>
        </p:spPr>
        <p:txBody>
          <a:bodyPr wrap="square" lIns="0" tIns="0" rIns="0" bIns="0" rtlCol="0" anchor="t"/>
          <a:lstStyle/>
          <a:p>
            <a:pPr indent="0" marL="0">
              <a:buNone/>
            </a:pPr>
            <a:r>
              <a:rPr lang="en-US" sz="1600" b="1" dirty="0">
                <a:solidFill>
                  <a:schemeClr val="tx1"/>
                </a:solidFill>
              </a:rPr>
              <a:t>real crash clips in CCD</a:t>
            </a:r>
            <a:endParaRPr lang="en-US" sz="1600" dirty="0"/>
          </a:p>
        </p:txBody>
      </p:sp>
      <p:sp>
        <p:nvSpPr>
          <p:cNvPr id="9" name="problem 1 text"/>
          <p:cNvSpPr txBox="1"/>
          <p:nvPr/>
        </p:nvSpPr>
        <p:spPr>
          <a:xfrm>
            <a:off x="868680" y="4251960"/>
            <a:ext cx="2907792" cy="1005840"/>
          </a:xfrm>
          <a:prstGeom prst="rect">
            <a:avLst/>
          </a:prstGeom>
          <a:noFill/>
          <a:ln/>
        </p:spPr>
        <p:txBody>
          <a:bodyPr wrap="square" lIns="0" tIns="0" rIns="0" bIns="0" rtlCol="0" anchor="t"/>
          <a:lstStyle/>
          <a:p>
            <a:pPr indent="0" marL="0">
              <a:buNone/>
            </a:pPr>
            <a:r>
              <a:rPr lang="en-US" sz="1300" dirty="0">
                <a:solidFill>
                  <a:schemeClr val="accent6"/>
                </a:solidFill>
              </a:rPr>
              <a:t>the largest public dashcam crash set; Nexar adds 1,500 videos. Internet video, camera only, labelled by people</a:t>
            </a:r>
            <a:endParaRPr lang="en-US" sz="1300" dirty="0"/>
          </a:p>
        </p:txBody>
      </p:sp>
      <p:sp>
        <p:nvSpPr>
          <p:cNvPr id="10" name="problem card 2"/>
          <p:cNvSpPr/>
          <p:nvPr/>
        </p:nvSpPr>
        <p:spPr>
          <a:xfrm>
            <a:off x="4315968" y="1783080"/>
            <a:ext cx="3547872" cy="3611880"/>
          </a:xfrm>
          <a:prstGeom prst="roundRect">
            <a:avLst>
              <a:gd name="adj" fmla="val 2062"/>
            </a:avLst>
          </a:prstGeom>
          <a:solidFill>
            <a:schemeClr val="bg2"/>
          </a:solidFill>
          <a:ln w="12700">
            <a:solidFill>
              <a:schemeClr val="bg2"/>
            </a:solidFill>
            <a:prstDash val="solid"/>
          </a:ln>
        </p:spPr>
      </p:sp>
      <p:sp>
        <p:nvSpPr>
          <p:cNvPr id="11" name="problem 2 icon circle"/>
          <p:cNvSpPr/>
          <p:nvPr/>
        </p:nvSpPr>
        <p:spPr>
          <a:xfrm>
            <a:off x="4636008" y="2103120"/>
            <a:ext cx="685800" cy="685800"/>
          </a:xfrm>
          <a:prstGeom prst="ellipse">
            <a:avLst/>
          </a:prstGeom>
          <a:solidFill>
            <a:schemeClr val="accent1"/>
          </a:solidFill>
          <a:ln w="12700">
            <a:solidFill>
              <a:schemeClr val="accent1"/>
            </a:solidFill>
            <a:prstDash val="solid"/>
          </a:ln>
        </p:spPr>
      </p:sp>
      <p:pic>
        <p:nvPicPr>
          <p:cNvPr id="12" name="problem 2 icon" descr="problem 2">    </p:cNvPr>
          <p:cNvPicPr>
            <a:picLocks noChangeAspect="1"/>
          </p:cNvPicPr>
          <p:nvPr/>
        </p:nvPicPr>
        <p:blipFill>
          <a:blip r:embed="rId2"/>
          <a:stretch>
            <a:fillRect/>
          </a:stretch>
        </p:blipFill>
        <p:spPr>
          <a:xfrm>
            <a:off x="4800600" y="2267712"/>
            <a:ext cx="356616" cy="356616"/>
          </a:xfrm>
          <a:prstGeom prst="rect">
            <a:avLst/>
          </a:prstGeom>
        </p:spPr>
      </p:pic>
      <p:sp>
        <p:nvSpPr>
          <p:cNvPr id="13" name="problem 2 number"/>
          <p:cNvSpPr txBox="1"/>
          <p:nvPr/>
        </p:nvSpPr>
        <p:spPr>
          <a:xfrm>
            <a:off x="4636008" y="2971800"/>
            <a:ext cx="2907792" cy="685800"/>
          </a:xfrm>
          <a:prstGeom prst="rect">
            <a:avLst/>
          </a:prstGeom>
          <a:noFill/>
          <a:ln/>
        </p:spPr>
        <p:txBody>
          <a:bodyPr wrap="square" lIns="0" tIns="0" rIns="0" bIns="0" rtlCol="0" anchor="t"/>
          <a:lstStyle/>
          <a:p>
            <a:pPr indent="0" marL="0">
              <a:buNone/>
            </a:pPr>
            <a:r>
              <a:rPr lang="en-US" sz="4000" b="1" dirty="0">
                <a:solidFill>
                  <a:schemeClr val="tx1"/>
                </a:solidFill>
                <a:latin typeface="Cambria" pitchFamily="34" charset="0"/>
                <a:ea typeface="Cambria" pitchFamily="34" charset="-122"/>
                <a:cs typeface="Cambria" pitchFamily="34" charset="-120"/>
              </a:rPr>
              <a:t>Very few</a:t>
            </a:r>
            <a:endParaRPr lang="en-US" sz="4000" dirty="0"/>
          </a:p>
        </p:txBody>
      </p:sp>
      <p:sp>
        <p:nvSpPr>
          <p:cNvPr id="14" name="problem 2 label"/>
          <p:cNvSpPr txBox="1"/>
          <p:nvPr/>
        </p:nvSpPr>
        <p:spPr>
          <a:xfrm>
            <a:off x="4636008" y="3657600"/>
            <a:ext cx="2907792" cy="548640"/>
          </a:xfrm>
          <a:prstGeom prst="rect">
            <a:avLst/>
          </a:prstGeom>
          <a:noFill/>
          <a:ln/>
        </p:spPr>
        <p:txBody>
          <a:bodyPr wrap="square" lIns="0" tIns="0" rIns="0" bIns="0" rtlCol="0" anchor="t"/>
          <a:lstStyle/>
          <a:p>
            <a:pPr indent="0" marL="0">
              <a:buNone/>
            </a:pPr>
            <a:r>
              <a:rPr lang="en-US" sz="1600" b="1" dirty="0">
                <a:solidFill>
                  <a:schemeClr val="tx1"/>
                </a:solidFill>
              </a:rPr>
              <a:t>real crash recordings with radar or LiDAR</a:t>
            </a:r>
            <a:endParaRPr lang="en-US" sz="1600" dirty="0"/>
          </a:p>
        </p:txBody>
      </p:sp>
      <p:sp>
        <p:nvSpPr>
          <p:cNvPr id="15" name="problem 2 text"/>
          <p:cNvSpPr txBox="1"/>
          <p:nvPr/>
        </p:nvSpPr>
        <p:spPr>
          <a:xfrm>
            <a:off x="4636008" y="4251960"/>
            <a:ext cx="2907792" cy="1005840"/>
          </a:xfrm>
          <a:prstGeom prst="rect">
            <a:avLst/>
          </a:prstGeom>
          <a:noFill/>
          <a:ln/>
        </p:spPr>
        <p:txBody>
          <a:bodyPr wrap="square" lIns="0" tIns="0" rIns="0" bIns="0" rtlCol="0" anchor="t"/>
          <a:lstStyle/>
          <a:p>
            <a:pPr indent="0" marL="0">
              <a:buNone/>
            </a:pPr>
            <a:r>
              <a:rPr lang="en-US" sz="1300" dirty="0">
                <a:solidFill>
                  <a:schemeClr val="accent6"/>
                </a:solidFill>
              </a:rPr>
              <a:t>multi-sensor driving datasets hold almost no crashes; Accid3nD records crashes from roadside cameras, not from a car</a:t>
            </a:r>
            <a:endParaRPr lang="en-US" sz="1300" dirty="0"/>
          </a:p>
        </p:txBody>
      </p:sp>
      <p:sp>
        <p:nvSpPr>
          <p:cNvPr id="16" name="problem card 3"/>
          <p:cNvSpPr/>
          <p:nvPr/>
        </p:nvSpPr>
        <p:spPr>
          <a:xfrm>
            <a:off x="8083296" y="1783080"/>
            <a:ext cx="3547872" cy="3611880"/>
          </a:xfrm>
          <a:prstGeom prst="roundRect">
            <a:avLst>
              <a:gd name="adj" fmla="val 2062"/>
            </a:avLst>
          </a:prstGeom>
          <a:solidFill>
            <a:schemeClr val="bg2"/>
          </a:solidFill>
          <a:ln w="12700">
            <a:solidFill>
              <a:schemeClr val="bg2"/>
            </a:solidFill>
            <a:prstDash val="solid"/>
          </a:ln>
        </p:spPr>
      </p:sp>
      <p:sp>
        <p:nvSpPr>
          <p:cNvPr id="17" name="problem 3 icon circle"/>
          <p:cNvSpPr/>
          <p:nvPr/>
        </p:nvSpPr>
        <p:spPr>
          <a:xfrm>
            <a:off x="8403336" y="2103120"/>
            <a:ext cx="685800" cy="685800"/>
          </a:xfrm>
          <a:prstGeom prst="ellipse">
            <a:avLst/>
          </a:prstGeom>
          <a:solidFill>
            <a:schemeClr val="accent1"/>
          </a:solidFill>
          <a:ln w="12700">
            <a:solidFill>
              <a:schemeClr val="accent1"/>
            </a:solidFill>
            <a:prstDash val="solid"/>
          </a:ln>
        </p:spPr>
      </p:sp>
      <p:pic>
        <p:nvPicPr>
          <p:cNvPr id="18" name="problem 3 icon" descr="problem 3">    </p:cNvPr>
          <p:cNvPicPr>
            <a:picLocks noChangeAspect="1"/>
          </p:cNvPicPr>
          <p:nvPr/>
        </p:nvPicPr>
        <p:blipFill>
          <a:blip r:embed="rId3"/>
          <a:stretch>
            <a:fillRect/>
          </a:stretch>
        </p:blipFill>
        <p:spPr>
          <a:xfrm>
            <a:off x="8567928" y="2267712"/>
            <a:ext cx="356616" cy="356616"/>
          </a:xfrm>
          <a:prstGeom prst="rect">
            <a:avLst/>
          </a:prstGeom>
        </p:spPr>
      </p:pic>
      <p:sp>
        <p:nvSpPr>
          <p:cNvPr id="19" name="problem 3 number"/>
          <p:cNvSpPr txBox="1"/>
          <p:nvPr/>
        </p:nvSpPr>
        <p:spPr>
          <a:xfrm>
            <a:off x="8403336" y="2971800"/>
            <a:ext cx="2907792" cy="685800"/>
          </a:xfrm>
          <a:prstGeom prst="rect">
            <a:avLst/>
          </a:prstGeom>
          <a:noFill/>
          <a:ln/>
        </p:spPr>
        <p:txBody>
          <a:bodyPr wrap="square" lIns="0" tIns="0" rIns="0" bIns="0" rtlCol="0" anchor="t"/>
          <a:lstStyle/>
          <a:p>
            <a:pPr indent="0" marL="0">
              <a:buNone/>
            </a:pPr>
            <a:r>
              <a:rPr lang="en-US" sz="4000" b="1" dirty="0">
                <a:solidFill>
                  <a:schemeClr val="tx1"/>
                </a:solidFill>
                <a:latin typeface="Cambria" pitchFamily="34" charset="0"/>
                <a:ea typeface="Cambria" pitchFamily="34" charset="-122"/>
                <a:cs typeface="Cambria" pitchFamily="34" charset="-120"/>
              </a:rPr>
              <a:t>Unlimited</a:t>
            </a:r>
            <a:endParaRPr lang="en-US" sz="4000" dirty="0"/>
          </a:p>
        </p:txBody>
      </p:sp>
      <p:sp>
        <p:nvSpPr>
          <p:cNvPr id="20" name="problem 3 label"/>
          <p:cNvSpPr txBox="1"/>
          <p:nvPr/>
        </p:nvSpPr>
        <p:spPr>
          <a:xfrm>
            <a:off x="8403336" y="3657600"/>
            <a:ext cx="2907792" cy="548640"/>
          </a:xfrm>
          <a:prstGeom prst="rect">
            <a:avLst/>
          </a:prstGeom>
          <a:noFill/>
          <a:ln/>
        </p:spPr>
        <p:txBody>
          <a:bodyPr wrap="square" lIns="0" tIns="0" rIns="0" bIns="0" rtlCol="0" anchor="t"/>
          <a:lstStyle/>
          <a:p>
            <a:pPr indent="0" marL="0">
              <a:buNone/>
            </a:pPr>
            <a:r>
              <a:rPr lang="en-US" sz="1600" b="1" dirty="0">
                <a:solidFill>
                  <a:schemeClr val="tx1"/>
                </a:solidFill>
              </a:rPr>
              <a:t>crashes a simulator can make</a:t>
            </a:r>
            <a:endParaRPr lang="en-US" sz="1600" dirty="0"/>
          </a:p>
        </p:txBody>
      </p:sp>
      <p:sp>
        <p:nvSpPr>
          <p:cNvPr id="21" name="problem 3 text"/>
          <p:cNvSpPr txBox="1"/>
          <p:nvPr/>
        </p:nvSpPr>
        <p:spPr>
          <a:xfrm>
            <a:off x="8403336" y="4251960"/>
            <a:ext cx="2907792" cy="1005840"/>
          </a:xfrm>
          <a:prstGeom prst="rect">
            <a:avLst/>
          </a:prstGeom>
          <a:noFill/>
          <a:ln/>
        </p:spPr>
        <p:txBody>
          <a:bodyPr wrap="square" lIns="0" tIns="0" rIns="0" bIns="0" rtlCol="0" anchor="t"/>
          <a:lstStyle/>
          <a:p>
            <a:pPr indent="0" marL="0">
              <a:buNone/>
            </a:pPr>
            <a:r>
              <a:rPr lang="en-US" sz="1300" dirty="0">
                <a:solidFill>
                  <a:schemeClr val="accent6"/>
                </a:solidFill>
              </a:rPr>
              <a:t>with every sensor and exact labels, but synthetic crash data had not been tested on real dashcam crashes</a:t>
            </a:r>
            <a:endParaRPr lang="en-US" sz="1300" dirty="0"/>
          </a:p>
        </p:txBody>
      </p:sp>
      <p:sp>
        <p:nvSpPr>
          <p:cNvPr id="22" name="problem question"/>
          <p:cNvSpPr txBox="1"/>
          <p:nvPr/>
        </p:nvSpPr>
        <p:spPr>
          <a:xfrm>
            <a:off x="548640" y="5623560"/>
            <a:ext cx="11094415" cy="457200"/>
          </a:xfrm>
          <a:prstGeom prst="rect">
            <a:avLst/>
          </a:prstGeom>
          <a:noFill/>
          <a:ln/>
        </p:spPr>
        <p:txBody>
          <a:bodyPr wrap="square" lIns="0" tIns="0" rIns="0" bIns="0" rtlCol="0" anchor="t"/>
          <a:lstStyle/>
          <a:p>
            <a:pPr indent="0" marL="0">
              <a:buNone/>
            </a:pPr>
            <a:r>
              <a:rPr lang="en-US" sz="1800" i="1" dirty="0">
                <a:solidFill>
                  <a:schemeClr val="tx1"/>
                </a:solidFill>
              </a:rPr>
              <a:t>CrashTwin asks: can a validated CARLA twin teach a model to warn before real crashes?</a:t>
            </a:r>
            <a:endParaRPr lang="en-US" sz="18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chemeClr val="accent6"/>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731520"/>
          </a:xfrm>
          <a:prstGeom prst="rect">
            <a:avLst/>
          </a:prstGeom>
          <a:noFill/>
          <a:ln/>
        </p:spPr>
        <p:txBody>
          <a:bodyPr wrap="square" lIns="0" tIns="0" rIns="0" bIns="0" rtlCol="0" anchor="b"/>
          <a:lstStyle/>
          <a:p>
            <a:pPr algn="l" indent="0" marL="0">
              <a:buNone/>
            </a:pPr>
            <a:r>
              <a:rPr lang="en-US" sz="3400" b="1" dirty="0">
                <a:solidFill>
                  <a:schemeClr val="tx1"/>
                </a:solidFill>
              </a:rPr>
              <a:t>Four research questions</a:t>
            </a:r>
            <a:endParaRPr lang="en-US" sz="3400" dirty="0"/>
          </a:p>
        </p:txBody>
      </p:sp>
      <p:sp>
        <p:nvSpPr>
          <p:cNvPr id="3" name="Text 0"/>
          <p:cNvSpPr/>
          <p:nvPr>
            <p:ph idx="101" type="body" hasCustomPrompt="1"/>
          </p:nvPr>
        </p:nvSpPr>
        <p:spPr>
          <a:xfrm>
            <a:off x="548640" y="1078992"/>
            <a:ext cx="11094415" cy="411480"/>
          </a:xfrm>
          <a:prstGeom prst="rect">
            <a:avLst/>
          </a:prstGeom>
          <a:noFill/>
          <a:ln/>
        </p:spPr>
        <p:txBody>
          <a:bodyPr wrap="square" lIns="0" tIns="0" rIns="0" bIns="0" rtlCol="0" anchor="t"/>
          <a:lstStyle/>
          <a:p>
            <a:pPr indent="0" marL="0">
              <a:buNone/>
            </a:pPr>
            <a:r>
              <a:rPr lang="en-US" sz="1600" dirty="0">
                <a:solidFill>
                  <a:schemeClr val="accent6"/>
                </a:solidFill>
              </a:rPr>
              <a:t>Each question maps to one experiment; status as of today</a:t>
            </a:r>
            <a:endParaRPr lang="en-US" sz="1600" dirty="0"/>
          </a:p>
        </p:txBody>
      </p:sp>
      <p:sp>
        <p:nvSpPr>
          <p:cNvPr id="4" name="RQ card 1"/>
          <p:cNvSpPr/>
          <p:nvPr/>
        </p:nvSpPr>
        <p:spPr>
          <a:xfrm>
            <a:off x="548640" y="1783080"/>
            <a:ext cx="5440680" cy="2011680"/>
          </a:xfrm>
          <a:prstGeom prst="roundRect">
            <a:avLst>
              <a:gd name="adj" fmla="val 3636"/>
            </a:avLst>
          </a:prstGeom>
          <a:solidFill>
            <a:schemeClr val="bg2"/>
          </a:solidFill>
          <a:ln w="12700">
            <a:solidFill>
              <a:schemeClr val="bg2"/>
            </a:solidFill>
            <a:prstDash val="solid"/>
          </a:ln>
        </p:spPr>
      </p:sp>
      <p:sp>
        <p:nvSpPr>
          <p:cNvPr id="5" name="RQ 1 icon circle"/>
          <p:cNvSpPr/>
          <p:nvPr/>
        </p:nvSpPr>
        <p:spPr>
          <a:xfrm>
            <a:off x="822960" y="2057400"/>
            <a:ext cx="640080" cy="640080"/>
          </a:xfrm>
          <a:prstGeom prst="ellipse">
            <a:avLst/>
          </a:prstGeom>
          <a:solidFill>
            <a:schemeClr val="accent1"/>
          </a:solidFill>
          <a:ln w="12700">
            <a:solidFill>
              <a:schemeClr val="accent1"/>
            </a:solidFill>
            <a:prstDash val="solid"/>
          </a:ln>
        </p:spPr>
      </p:sp>
      <p:pic>
        <p:nvPicPr>
          <p:cNvPr id="6" name="RQ 1 icon" descr="RQ 1">    </p:cNvPr>
          <p:cNvPicPr>
            <a:picLocks noChangeAspect="1"/>
          </p:cNvPicPr>
          <p:nvPr/>
        </p:nvPicPr>
        <p:blipFill>
          <a:blip r:embed="rId1"/>
          <a:stretch>
            <a:fillRect/>
          </a:stretch>
        </p:blipFill>
        <p:spPr>
          <a:xfrm>
            <a:off x="976579" y="2211019"/>
            <a:ext cx="332842" cy="332842"/>
          </a:xfrm>
          <a:prstGeom prst="rect">
            <a:avLst/>
          </a:prstGeom>
        </p:spPr>
      </p:pic>
      <p:sp>
        <p:nvSpPr>
          <p:cNvPr id="7" name="RQ 1 heading"/>
          <p:cNvSpPr txBox="1"/>
          <p:nvPr/>
        </p:nvSpPr>
        <p:spPr>
          <a:xfrm>
            <a:off x="1645920" y="2057400"/>
            <a:ext cx="4069080" cy="365760"/>
          </a:xfrm>
          <a:prstGeom prst="rect">
            <a:avLst/>
          </a:prstGeom>
          <a:noFill/>
          <a:ln/>
        </p:spPr>
        <p:txBody>
          <a:bodyPr wrap="square" lIns="0" tIns="0" rIns="0" bIns="0" rtlCol="0" anchor="t"/>
          <a:lstStyle/>
          <a:p>
            <a:pPr indent="0" marL="0">
              <a:buNone/>
            </a:pPr>
            <a:r>
              <a:rPr lang="en-US" sz="1500" b="1" dirty="0">
                <a:solidFill>
                  <a:schemeClr val="accent6"/>
                </a:solidFill>
              </a:rPr>
              <a:t>RQ1 · Sim-to-real · E1–E3</a:t>
            </a:r>
            <a:endParaRPr lang="en-US" sz="1500" dirty="0"/>
          </a:p>
        </p:txBody>
      </p:sp>
      <p:sp>
        <p:nvSpPr>
          <p:cNvPr id="8" name="RQ 1 question"/>
          <p:cNvSpPr txBox="1"/>
          <p:nvPr/>
        </p:nvSpPr>
        <p:spPr>
          <a:xfrm>
            <a:off x="1645920" y="2441448"/>
            <a:ext cx="4069080" cy="685800"/>
          </a:xfrm>
          <a:prstGeom prst="rect">
            <a:avLst/>
          </a:prstGeom>
          <a:noFill/>
          <a:ln/>
        </p:spPr>
        <p:txBody>
          <a:bodyPr wrap="square" lIns="0" tIns="0" rIns="0" bIns="0" rtlCol="0" anchor="t"/>
          <a:lstStyle/>
          <a:p>
            <a:pPr indent="0" marL="0">
              <a:buNone/>
            </a:pPr>
            <a:r>
              <a:rPr lang="en-US" sz="1600" dirty="0">
                <a:solidFill>
                  <a:schemeClr val="tx1"/>
                </a:solidFill>
              </a:rPr>
              <a:t>Can a model trained on CARLA anticipate real crashes, alone or added to real data?</a:t>
            </a:r>
            <a:endParaRPr lang="en-US" sz="1600" dirty="0"/>
          </a:p>
        </p:txBody>
      </p:sp>
      <p:sp>
        <p:nvSpPr>
          <p:cNvPr id="9" name="RQ 1 status"/>
          <p:cNvSpPr txBox="1"/>
          <p:nvPr/>
        </p:nvSpPr>
        <p:spPr>
          <a:xfrm>
            <a:off x="1645920" y="3154680"/>
            <a:ext cx="4069080" cy="411480"/>
          </a:xfrm>
          <a:prstGeom prst="rect">
            <a:avLst/>
          </a:prstGeom>
          <a:noFill/>
          <a:ln/>
        </p:spPr>
        <p:txBody>
          <a:bodyPr wrap="square" lIns="0" tIns="0" rIns="0" bIns="0" rtlCol="0" anchor="t"/>
          <a:lstStyle/>
          <a:p>
            <a:pPr indent="0" marL="0">
              <a:buNone/>
            </a:pPr>
            <a:r>
              <a:rPr lang="en-US" sz="1400" b="1" dirty="0">
                <a:solidFill>
                  <a:schemeClr val="tx1"/>
                </a:solidFill>
              </a:rPr>
              <a:t>Answered: yes on Nexar, no on CCD</a:t>
            </a:r>
            <a:endParaRPr lang="en-US" sz="1400" dirty="0"/>
          </a:p>
        </p:txBody>
      </p:sp>
      <p:sp>
        <p:nvSpPr>
          <p:cNvPr id="10" name="RQ card 2"/>
          <p:cNvSpPr/>
          <p:nvPr/>
        </p:nvSpPr>
        <p:spPr>
          <a:xfrm>
            <a:off x="6190488" y="1783080"/>
            <a:ext cx="5440680" cy="2011680"/>
          </a:xfrm>
          <a:prstGeom prst="roundRect">
            <a:avLst>
              <a:gd name="adj" fmla="val 3636"/>
            </a:avLst>
          </a:prstGeom>
          <a:solidFill>
            <a:schemeClr val="bg2"/>
          </a:solidFill>
          <a:ln w="12700">
            <a:solidFill>
              <a:schemeClr val="bg2"/>
            </a:solidFill>
            <a:prstDash val="solid"/>
          </a:ln>
        </p:spPr>
      </p:sp>
      <p:sp>
        <p:nvSpPr>
          <p:cNvPr id="11" name="RQ 2 icon circle"/>
          <p:cNvSpPr/>
          <p:nvPr/>
        </p:nvSpPr>
        <p:spPr>
          <a:xfrm>
            <a:off x="6464808" y="2057400"/>
            <a:ext cx="640080" cy="640080"/>
          </a:xfrm>
          <a:prstGeom prst="ellipse">
            <a:avLst/>
          </a:prstGeom>
          <a:solidFill>
            <a:schemeClr val="accent1"/>
          </a:solidFill>
          <a:ln w="12700">
            <a:solidFill>
              <a:schemeClr val="accent1"/>
            </a:solidFill>
            <a:prstDash val="solid"/>
          </a:ln>
        </p:spPr>
      </p:sp>
      <p:pic>
        <p:nvPicPr>
          <p:cNvPr id="12" name="RQ 2 icon" descr="RQ 2">    </p:cNvPr>
          <p:cNvPicPr>
            <a:picLocks noChangeAspect="1"/>
          </p:cNvPicPr>
          <p:nvPr/>
        </p:nvPicPr>
        <p:blipFill>
          <a:blip r:embed="rId2"/>
          <a:stretch>
            <a:fillRect/>
          </a:stretch>
        </p:blipFill>
        <p:spPr>
          <a:xfrm>
            <a:off x="6618427" y="2211019"/>
            <a:ext cx="332842" cy="332842"/>
          </a:xfrm>
          <a:prstGeom prst="rect">
            <a:avLst/>
          </a:prstGeom>
        </p:spPr>
      </p:pic>
      <p:sp>
        <p:nvSpPr>
          <p:cNvPr id="13" name="RQ 2 heading"/>
          <p:cNvSpPr txBox="1"/>
          <p:nvPr/>
        </p:nvSpPr>
        <p:spPr>
          <a:xfrm>
            <a:off x="7287768" y="2057400"/>
            <a:ext cx="4069080" cy="365760"/>
          </a:xfrm>
          <a:prstGeom prst="rect">
            <a:avLst/>
          </a:prstGeom>
          <a:noFill/>
          <a:ln/>
        </p:spPr>
        <p:txBody>
          <a:bodyPr wrap="square" lIns="0" tIns="0" rIns="0" bIns="0" rtlCol="0" anchor="t"/>
          <a:lstStyle/>
          <a:p>
            <a:pPr indent="0" marL="0">
              <a:buNone/>
            </a:pPr>
            <a:r>
              <a:rPr lang="en-US" sz="1500" b="1" dirty="0">
                <a:solidFill>
                  <a:schemeClr val="accent6"/>
                </a:solidFill>
              </a:rPr>
              <a:t>RQ2 · Sensor fusion · E4</a:t>
            </a:r>
            <a:endParaRPr lang="en-US" sz="1500" dirty="0"/>
          </a:p>
        </p:txBody>
      </p:sp>
      <p:sp>
        <p:nvSpPr>
          <p:cNvPr id="14" name="RQ 2 question"/>
          <p:cNvSpPr txBox="1"/>
          <p:nvPr/>
        </p:nvSpPr>
        <p:spPr>
          <a:xfrm>
            <a:off x="7287768" y="2441448"/>
            <a:ext cx="4069080" cy="685800"/>
          </a:xfrm>
          <a:prstGeom prst="rect">
            <a:avLst/>
          </a:prstGeom>
          <a:noFill/>
          <a:ln/>
        </p:spPr>
        <p:txBody>
          <a:bodyPr wrap="square" lIns="0" tIns="0" rIns="0" bIns="0" rtlCol="0" anchor="t"/>
          <a:lstStyle/>
          <a:p>
            <a:pPr indent="0" marL="0">
              <a:buNone/>
            </a:pPr>
            <a:r>
              <a:rPr lang="en-US" sz="1600" dirty="0">
                <a:solidFill>
                  <a:schemeClr val="tx1"/>
                </a:solidFill>
              </a:rPr>
              <a:t>How much do radar, LiDAR and depth add to the camera?</a:t>
            </a:r>
            <a:endParaRPr lang="en-US" sz="1600" dirty="0"/>
          </a:p>
        </p:txBody>
      </p:sp>
      <p:sp>
        <p:nvSpPr>
          <p:cNvPr id="15" name="RQ 2 status"/>
          <p:cNvSpPr txBox="1"/>
          <p:nvPr/>
        </p:nvSpPr>
        <p:spPr>
          <a:xfrm>
            <a:off x="7287768" y="3154680"/>
            <a:ext cx="4069080" cy="411480"/>
          </a:xfrm>
          <a:prstGeom prst="rect">
            <a:avLst/>
          </a:prstGeom>
          <a:noFill/>
          <a:ln/>
        </p:spPr>
        <p:txBody>
          <a:bodyPr wrap="square" lIns="0" tIns="0" rIns="0" bIns="0" rtlCol="0" anchor="t"/>
          <a:lstStyle/>
          <a:p>
            <a:pPr indent="0" marL="0">
              <a:buNone/>
            </a:pPr>
            <a:r>
              <a:rPr lang="en-US" sz="1400" b="1" dirty="0">
                <a:solidFill>
                  <a:schemeClr val="tx1"/>
                </a:solidFill>
              </a:rPr>
              <a:t>Answered in simulation: +0.09 to +0.13 AP in the unseen town</a:t>
            </a:r>
            <a:endParaRPr lang="en-US" sz="1400" dirty="0"/>
          </a:p>
        </p:txBody>
      </p:sp>
      <p:sp>
        <p:nvSpPr>
          <p:cNvPr id="16" name="RQ card 3"/>
          <p:cNvSpPr/>
          <p:nvPr/>
        </p:nvSpPr>
        <p:spPr>
          <a:xfrm>
            <a:off x="548640" y="4023360"/>
            <a:ext cx="5440680" cy="2011680"/>
          </a:xfrm>
          <a:prstGeom prst="roundRect">
            <a:avLst>
              <a:gd name="adj" fmla="val 3636"/>
            </a:avLst>
          </a:prstGeom>
          <a:solidFill>
            <a:schemeClr val="bg2"/>
          </a:solidFill>
          <a:ln w="12700">
            <a:solidFill>
              <a:schemeClr val="bg2"/>
            </a:solidFill>
            <a:prstDash val="solid"/>
          </a:ln>
        </p:spPr>
      </p:sp>
      <p:sp>
        <p:nvSpPr>
          <p:cNvPr id="17" name="RQ 3 icon circle"/>
          <p:cNvSpPr/>
          <p:nvPr/>
        </p:nvSpPr>
        <p:spPr>
          <a:xfrm>
            <a:off x="822960" y="4297680"/>
            <a:ext cx="640080" cy="640080"/>
          </a:xfrm>
          <a:prstGeom prst="ellipse">
            <a:avLst/>
          </a:prstGeom>
          <a:solidFill>
            <a:schemeClr val="accent1"/>
          </a:solidFill>
          <a:ln w="12700">
            <a:solidFill>
              <a:schemeClr val="accent1"/>
            </a:solidFill>
            <a:prstDash val="solid"/>
          </a:ln>
        </p:spPr>
      </p:sp>
      <p:pic>
        <p:nvPicPr>
          <p:cNvPr id="18" name="RQ 3 icon" descr="RQ 3">    </p:cNvPr>
          <p:cNvPicPr>
            <a:picLocks noChangeAspect="1"/>
          </p:cNvPicPr>
          <p:nvPr/>
        </p:nvPicPr>
        <p:blipFill>
          <a:blip r:embed="rId3"/>
          <a:stretch>
            <a:fillRect/>
          </a:stretch>
        </p:blipFill>
        <p:spPr>
          <a:xfrm>
            <a:off x="976579" y="4451299"/>
            <a:ext cx="332842" cy="332842"/>
          </a:xfrm>
          <a:prstGeom prst="rect">
            <a:avLst/>
          </a:prstGeom>
        </p:spPr>
      </p:pic>
      <p:sp>
        <p:nvSpPr>
          <p:cNvPr id="19" name="RQ 3 heading"/>
          <p:cNvSpPr txBox="1"/>
          <p:nvPr/>
        </p:nvSpPr>
        <p:spPr>
          <a:xfrm>
            <a:off x="1645920" y="4297680"/>
            <a:ext cx="4069080" cy="365760"/>
          </a:xfrm>
          <a:prstGeom prst="rect">
            <a:avLst/>
          </a:prstGeom>
          <a:noFill/>
          <a:ln/>
        </p:spPr>
        <p:txBody>
          <a:bodyPr wrap="square" lIns="0" tIns="0" rIns="0" bIns="0" rtlCol="0" anchor="t"/>
          <a:lstStyle/>
          <a:p>
            <a:pPr indent="0" marL="0">
              <a:buNone/>
            </a:pPr>
            <a:r>
              <a:rPr lang="en-US" sz="1500" b="1" dirty="0">
                <a:solidFill>
                  <a:schemeClr val="accent6"/>
                </a:solidFill>
              </a:rPr>
              <a:t>RQ3 · Twin fidelity · E5</a:t>
            </a:r>
            <a:endParaRPr lang="en-US" sz="1500" dirty="0"/>
          </a:p>
        </p:txBody>
      </p:sp>
      <p:sp>
        <p:nvSpPr>
          <p:cNvPr id="20" name="RQ 3 question"/>
          <p:cNvSpPr txBox="1"/>
          <p:nvPr/>
        </p:nvSpPr>
        <p:spPr>
          <a:xfrm>
            <a:off x="1645920" y="4681728"/>
            <a:ext cx="4069080" cy="685800"/>
          </a:xfrm>
          <a:prstGeom prst="rect">
            <a:avLst/>
          </a:prstGeom>
          <a:noFill/>
          <a:ln/>
        </p:spPr>
        <p:txBody>
          <a:bodyPr wrap="square" lIns="0" tIns="0" rIns="0" bIns="0" rtlCol="0" anchor="t"/>
          <a:lstStyle/>
          <a:p>
            <a:pPr indent="0" marL="0">
              <a:buNone/>
            </a:pPr>
            <a:r>
              <a:rPr lang="en-US" sz="1600" dirty="0">
                <a:solidFill>
                  <a:schemeClr val="tx1"/>
                </a:solidFill>
              </a:rPr>
              <a:t>Does CARLA's traffic behave like real traffic?</a:t>
            </a:r>
            <a:endParaRPr lang="en-US" sz="1600" dirty="0"/>
          </a:p>
        </p:txBody>
      </p:sp>
      <p:sp>
        <p:nvSpPr>
          <p:cNvPr id="21" name="RQ 3 status"/>
          <p:cNvSpPr txBox="1"/>
          <p:nvPr/>
        </p:nvSpPr>
        <p:spPr>
          <a:xfrm>
            <a:off x="1645920" y="5394960"/>
            <a:ext cx="4069080" cy="411480"/>
          </a:xfrm>
          <a:prstGeom prst="rect">
            <a:avLst/>
          </a:prstGeom>
          <a:noFill/>
          <a:ln/>
        </p:spPr>
        <p:txBody>
          <a:bodyPr wrap="square" lIns="0" tIns="0" rIns="0" bIns="0" rtlCol="0" anchor="t"/>
          <a:lstStyle/>
          <a:p>
            <a:pPr indent="0" marL="0">
              <a:buNone/>
            </a:pPr>
            <a:r>
              <a:rPr lang="en-US" sz="1400" b="1" dirty="0">
                <a:solidFill>
                  <a:schemeClr val="tx1"/>
                </a:solidFill>
              </a:rPr>
              <a:t>Answered: CARLA traffic is slower and calmer</a:t>
            </a:r>
            <a:endParaRPr lang="en-US" sz="1400" dirty="0"/>
          </a:p>
        </p:txBody>
      </p:sp>
      <p:sp>
        <p:nvSpPr>
          <p:cNvPr id="22" name="RQ card 4"/>
          <p:cNvSpPr/>
          <p:nvPr/>
        </p:nvSpPr>
        <p:spPr>
          <a:xfrm>
            <a:off x="6190488" y="4023360"/>
            <a:ext cx="5440680" cy="2011680"/>
          </a:xfrm>
          <a:prstGeom prst="roundRect">
            <a:avLst>
              <a:gd name="adj" fmla="val 3636"/>
            </a:avLst>
          </a:prstGeom>
          <a:solidFill>
            <a:schemeClr val="bg2"/>
          </a:solidFill>
          <a:ln w="12700">
            <a:solidFill>
              <a:schemeClr val="bg2"/>
            </a:solidFill>
            <a:prstDash val="solid"/>
          </a:ln>
        </p:spPr>
      </p:sp>
      <p:sp>
        <p:nvSpPr>
          <p:cNvPr id="23" name="RQ 4 icon circle"/>
          <p:cNvSpPr/>
          <p:nvPr/>
        </p:nvSpPr>
        <p:spPr>
          <a:xfrm>
            <a:off x="6464808" y="4297680"/>
            <a:ext cx="640080" cy="640080"/>
          </a:xfrm>
          <a:prstGeom prst="ellipse">
            <a:avLst/>
          </a:prstGeom>
          <a:solidFill>
            <a:schemeClr val="accent1"/>
          </a:solidFill>
          <a:ln w="12700">
            <a:solidFill>
              <a:schemeClr val="accent1"/>
            </a:solidFill>
            <a:prstDash val="solid"/>
          </a:ln>
        </p:spPr>
      </p:sp>
      <p:pic>
        <p:nvPicPr>
          <p:cNvPr id="24" name="RQ 4 icon" descr="RQ 4">    </p:cNvPr>
          <p:cNvPicPr>
            <a:picLocks noChangeAspect="1"/>
          </p:cNvPicPr>
          <p:nvPr/>
        </p:nvPicPr>
        <p:blipFill>
          <a:blip r:embed="rId4"/>
          <a:stretch>
            <a:fillRect/>
          </a:stretch>
        </p:blipFill>
        <p:spPr>
          <a:xfrm>
            <a:off x="6618427" y="4451299"/>
            <a:ext cx="332842" cy="332842"/>
          </a:xfrm>
          <a:prstGeom prst="rect">
            <a:avLst/>
          </a:prstGeom>
        </p:spPr>
      </p:pic>
      <p:sp>
        <p:nvSpPr>
          <p:cNvPr id="25" name="RQ 4 heading"/>
          <p:cNvSpPr txBox="1"/>
          <p:nvPr/>
        </p:nvSpPr>
        <p:spPr>
          <a:xfrm>
            <a:off x="7287768" y="4297680"/>
            <a:ext cx="4069080" cy="365760"/>
          </a:xfrm>
          <a:prstGeom prst="rect">
            <a:avLst/>
          </a:prstGeom>
          <a:noFill/>
          <a:ln/>
        </p:spPr>
        <p:txBody>
          <a:bodyPr wrap="square" lIns="0" tIns="0" rIns="0" bIns="0" rtlCol="0" anchor="t"/>
          <a:lstStyle/>
          <a:p>
            <a:pPr indent="0" marL="0">
              <a:buNone/>
            </a:pPr>
            <a:r>
              <a:rPr lang="en-US" sz="1500" b="1" dirty="0">
                <a:solidFill>
                  <a:schemeClr val="accent6"/>
                </a:solidFill>
              </a:rPr>
              <a:t>RQ4 · Conditions · E6</a:t>
            </a:r>
            <a:endParaRPr lang="en-US" sz="1500" dirty="0"/>
          </a:p>
        </p:txBody>
      </p:sp>
      <p:sp>
        <p:nvSpPr>
          <p:cNvPr id="26" name="RQ 4 question"/>
          <p:cNvSpPr txBox="1"/>
          <p:nvPr/>
        </p:nvSpPr>
        <p:spPr>
          <a:xfrm>
            <a:off x="7287768" y="4681728"/>
            <a:ext cx="4069080" cy="685800"/>
          </a:xfrm>
          <a:prstGeom prst="rect">
            <a:avLst/>
          </a:prstGeom>
          <a:noFill/>
          <a:ln/>
        </p:spPr>
        <p:txBody>
          <a:bodyPr wrap="square" lIns="0" tIns="0" rIns="0" bIns="0" rtlCol="0" anchor="t"/>
          <a:lstStyle/>
          <a:p>
            <a:pPr indent="0" marL="0">
              <a:buNone/>
            </a:pPr>
            <a:r>
              <a:rPr lang="en-US" sz="1600" dirty="0">
                <a:solidFill>
                  <a:schemeClr val="tx1"/>
                </a:solidFill>
              </a:rPr>
              <a:t>Do night and rain hurt real and simulated crashes alike?</a:t>
            </a:r>
            <a:endParaRPr lang="en-US" sz="1600" dirty="0"/>
          </a:p>
        </p:txBody>
      </p:sp>
      <p:sp>
        <p:nvSpPr>
          <p:cNvPr id="27" name="RQ 4 status"/>
          <p:cNvSpPr txBox="1"/>
          <p:nvPr/>
        </p:nvSpPr>
        <p:spPr>
          <a:xfrm>
            <a:off x="7287768" y="5394960"/>
            <a:ext cx="4069080" cy="411480"/>
          </a:xfrm>
          <a:prstGeom prst="rect">
            <a:avLst/>
          </a:prstGeom>
          <a:noFill/>
          <a:ln/>
        </p:spPr>
        <p:txBody>
          <a:bodyPr wrap="square" lIns="0" tIns="0" rIns="0" bIns="0" rtlCol="0" anchor="t"/>
          <a:lstStyle/>
          <a:p>
            <a:pPr indent="0" marL="0">
              <a:buNone/>
            </a:pPr>
            <a:r>
              <a:rPr lang="en-US" sz="1400" b="1" dirty="0">
                <a:solidFill>
                  <a:schemeClr val="tx1"/>
                </a:solidFill>
              </a:rPr>
              <a:t>Not yet clear: the night and rain groups are small</a:t>
            </a:r>
            <a:endParaRPr lang="en-US" sz="14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chemeClr val="accent6"/>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731520"/>
          </a:xfrm>
          <a:prstGeom prst="rect">
            <a:avLst/>
          </a:prstGeom>
          <a:noFill/>
          <a:ln/>
        </p:spPr>
        <p:txBody>
          <a:bodyPr wrap="square" lIns="0" tIns="0" rIns="0" bIns="0" rtlCol="0" anchor="b"/>
          <a:lstStyle/>
          <a:p>
            <a:pPr algn="l" indent="0" marL="0">
              <a:buNone/>
            </a:pPr>
            <a:r>
              <a:rPr lang="en-US" sz="3400" b="1" dirty="0">
                <a:solidFill>
                  <a:schemeClr val="bg1"/>
                </a:solidFill>
              </a:rPr>
              <a:t>Headline results</a:t>
            </a:r>
            <a:endParaRPr lang="en-US" sz="3400" dirty="0"/>
          </a:p>
        </p:txBody>
      </p:sp>
      <p:sp>
        <p:nvSpPr>
          <p:cNvPr id="3" name="Text 0"/>
          <p:cNvSpPr/>
          <p:nvPr>
            <p:ph idx="101" type="body" hasCustomPrompt="1"/>
          </p:nvPr>
        </p:nvSpPr>
        <p:spPr>
          <a:xfrm>
            <a:off x="548640" y="1078992"/>
            <a:ext cx="11094415" cy="411480"/>
          </a:xfrm>
          <a:prstGeom prst="rect">
            <a:avLst/>
          </a:prstGeom>
          <a:noFill/>
          <a:ln/>
        </p:spPr>
        <p:txBody>
          <a:bodyPr wrap="square" lIns="0" tIns="0" rIns="0" bIns="0" rtlCol="0" anchor="t"/>
          <a:lstStyle/>
          <a:p>
            <a:pPr indent="0" marL="0">
              <a:buNone/>
            </a:pPr>
            <a:r>
              <a:rPr lang="en-US" sz="1600" dirty="0">
                <a:solidFill>
                  <a:schemeClr val="bg2"/>
                </a:solidFill>
              </a:rPr>
              <a:t>Mean of 2 seeds per configuration; details on the results slides</a:t>
            </a:r>
            <a:endParaRPr lang="en-US" sz="1600" dirty="0"/>
          </a:p>
        </p:txBody>
      </p:sp>
      <p:sp>
        <p:nvSpPr>
          <p:cNvPr id="4" name="headline 1 number"/>
          <p:cNvSpPr txBox="1"/>
          <p:nvPr/>
        </p:nvSpPr>
        <p:spPr>
          <a:xfrm>
            <a:off x="548640" y="1737360"/>
            <a:ext cx="3017520" cy="731520"/>
          </a:xfrm>
          <a:prstGeom prst="rect">
            <a:avLst/>
          </a:prstGeom>
          <a:noFill/>
          <a:ln/>
        </p:spPr>
        <p:txBody>
          <a:bodyPr wrap="square" lIns="0" tIns="0" rIns="0" bIns="0" rtlCol="0" anchor="ctr"/>
          <a:lstStyle/>
          <a:p>
            <a:pPr indent="0" marL="0">
              <a:buNone/>
            </a:pPr>
            <a:r>
              <a:rPr lang="en-US" sz="3400" b="1" dirty="0">
                <a:solidFill>
                  <a:schemeClr val="accent1"/>
                </a:solidFill>
                <a:latin typeface="Cambria" pitchFamily="34" charset="0"/>
                <a:ea typeface="Cambria" pitchFamily="34" charset="-122"/>
                <a:cs typeface="Cambria" pitchFamily="34" charset="-120"/>
              </a:rPr>
              <a:t>0.63</a:t>
            </a:r>
            <a:endParaRPr lang="en-US" sz="3400" dirty="0"/>
          </a:p>
        </p:txBody>
      </p:sp>
      <p:sp>
        <p:nvSpPr>
          <p:cNvPr id="5" name="headline 1 label"/>
          <p:cNvSpPr txBox="1"/>
          <p:nvPr/>
        </p:nvSpPr>
        <p:spPr>
          <a:xfrm>
            <a:off x="3749040" y="1783080"/>
            <a:ext cx="7863840" cy="365760"/>
          </a:xfrm>
          <a:prstGeom prst="rect">
            <a:avLst/>
          </a:prstGeom>
          <a:noFill/>
          <a:ln/>
        </p:spPr>
        <p:txBody>
          <a:bodyPr wrap="square" lIns="0" tIns="0" rIns="0" bIns="0" rtlCol="0" anchor="t"/>
          <a:lstStyle/>
          <a:p>
            <a:pPr indent="0" marL="0">
              <a:buNone/>
            </a:pPr>
            <a:r>
              <a:rPr lang="en-US" sz="1800" b="1" dirty="0">
                <a:solidFill>
                  <a:schemeClr val="bg1"/>
                </a:solidFill>
              </a:rPr>
              <a:t>Nexar mAP from CARLA only</a:t>
            </a:r>
            <a:endParaRPr lang="en-US" sz="1800" dirty="0"/>
          </a:p>
        </p:txBody>
      </p:sp>
      <p:sp>
        <p:nvSpPr>
          <p:cNvPr id="6" name="headline 1 detail"/>
          <p:cNvSpPr txBox="1"/>
          <p:nvPr/>
        </p:nvSpPr>
        <p:spPr>
          <a:xfrm>
            <a:off x="3749040" y="2130552"/>
            <a:ext cx="7863840" cy="365760"/>
          </a:xfrm>
          <a:prstGeom prst="rect">
            <a:avLst/>
          </a:prstGeom>
          <a:noFill/>
          <a:ln/>
        </p:spPr>
        <p:txBody>
          <a:bodyPr wrap="square" lIns="0" tIns="0" rIns="0" bIns="0" rtlCol="0" anchor="t"/>
          <a:lstStyle/>
          <a:p>
            <a:pPr indent="0" marL="0">
              <a:buNone/>
            </a:pPr>
            <a:r>
              <a:rPr lang="en-US" sz="1400" dirty="0">
                <a:solidFill>
                  <a:schemeClr val="bg2"/>
                </a:solidFill>
              </a:rPr>
              <a:t>as good as 10–25 % of the real training data (chance ≈ 0.5)</a:t>
            </a:r>
            <a:endParaRPr lang="en-US" sz="1400" dirty="0"/>
          </a:p>
        </p:txBody>
      </p:sp>
      <p:sp>
        <p:nvSpPr>
          <p:cNvPr id="7" name="headline 2 number"/>
          <p:cNvSpPr txBox="1"/>
          <p:nvPr/>
        </p:nvSpPr>
        <p:spPr>
          <a:xfrm>
            <a:off x="548640" y="2624328"/>
            <a:ext cx="3017520" cy="731520"/>
          </a:xfrm>
          <a:prstGeom prst="rect">
            <a:avLst/>
          </a:prstGeom>
          <a:noFill/>
          <a:ln/>
        </p:spPr>
        <p:txBody>
          <a:bodyPr wrap="square" lIns="0" tIns="0" rIns="0" bIns="0" rtlCol="0" anchor="ctr"/>
          <a:lstStyle/>
          <a:p>
            <a:pPr indent="0" marL="0">
              <a:buNone/>
            </a:pPr>
            <a:r>
              <a:rPr lang="en-US" sz="3400" b="1" dirty="0">
                <a:solidFill>
                  <a:schemeClr val="accent1"/>
                </a:solidFill>
                <a:latin typeface="Cambria" pitchFamily="34" charset="0"/>
                <a:ea typeface="Cambria" pitchFamily="34" charset="-122"/>
                <a:cs typeface="Cambria" pitchFamily="34" charset="-120"/>
              </a:rPr>
              <a:t>0.25</a:t>
            </a:r>
            <a:endParaRPr lang="en-US" sz="3400" dirty="0"/>
          </a:p>
        </p:txBody>
      </p:sp>
      <p:sp>
        <p:nvSpPr>
          <p:cNvPr id="8" name="headline 2 label"/>
          <p:cNvSpPr txBox="1"/>
          <p:nvPr/>
        </p:nvSpPr>
        <p:spPr>
          <a:xfrm>
            <a:off x="3749040" y="2670048"/>
            <a:ext cx="7863840" cy="365760"/>
          </a:xfrm>
          <a:prstGeom prst="rect">
            <a:avLst/>
          </a:prstGeom>
          <a:noFill/>
          <a:ln/>
        </p:spPr>
        <p:txBody>
          <a:bodyPr wrap="square" lIns="0" tIns="0" rIns="0" bIns="0" rtlCol="0" anchor="t"/>
          <a:lstStyle/>
          <a:p>
            <a:pPr indent="0" marL="0">
              <a:buNone/>
            </a:pPr>
            <a:r>
              <a:rPr lang="en-US" sz="1800" b="1" dirty="0">
                <a:solidFill>
                  <a:schemeClr val="bg1"/>
                </a:solidFill>
              </a:rPr>
              <a:t>CCD AP from CARLA only</a:t>
            </a:r>
            <a:endParaRPr lang="en-US" sz="1800" dirty="0"/>
          </a:p>
        </p:txBody>
      </p:sp>
      <p:sp>
        <p:nvSpPr>
          <p:cNvPr id="9" name="headline 2 detail"/>
          <p:cNvSpPr txBox="1"/>
          <p:nvPr/>
        </p:nvSpPr>
        <p:spPr>
          <a:xfrm>
            <a:off x="3749040" y="3017520"/>
            <a:ext cx="7863840" cy="365760"/>
          </a:xfrm>
          <a:prstGeom prst="rect">
            <a:avLst/>
          </a:prstGeom>
          <a:noFill/>
          <a:ln/>
        </p:spPr>
        <p:txBody>
          <a:bodyPr wrap="square" lIns="0" tIns="0" rIns="0" bIns="0" rtlCol="0" anchor="t"/>
          <a:lstStyle/>
          <a:p>
            <a:pPr indent="0" marL="0">
              <a:buNone/>
            </a:pPr>
            <a:r>
              <a:rPr lang="en-US" sz="1400" dirty="0">
                <a:solidFill>
                  <a:schemeClr val="bg2"/>
                </a:solidFill>
              </a:rPr>
              <a:t>below the 0.31 chance level: the twin does not transfer to CCD</a:t>
            </a:r>
            <a:endParaRPr lang="en-US" sz="1400" dirty="0"/>
          </a:p>
        </p:txBody>
      </p:sp>
      <p:sp>
        <p:nvSpPr>
          <p:cNvPr id="10" name="headline 3 number"/>
          <p:cNvSpPr txBox="1"/>
          <p:nvPr/>
        </p:nvSpPr>
        <p:spPr>
          <a:xfrm>
            <a:off x="548640" y="3511296"/>
            <a:ext cx="3017520" cy="731520"/>
          </a:xfrm>
          <a:prstGeom prst="rect">
            <a:avLst/>
          </a:prstGeom>
          <a:noFill/>
          <a:ln/>
        </p:spPr>
        <p:txBody>
          <a:bodyPr wrap="square" lIns="0" tIns="0" rIns="0" bIns="0" rtlCol="0" anchor="ctr"/>
          <a:lstStyle/>
          <a:p>
            <a:pPr indent="0" marL="0">
              <a:buNone/>
            </a:pPr>
            <a:r>
              <a:rPr lang="en-US" sz="3400" b="1" dirty="0">
                <a:solidFill>
                  <a:schemeClr val="accent1"/>
                </a:solidFill>
                <a:latin typeface="Cambria" pitchFamily="34" charset="0"/>
                <a:ea typeface="Cambria" pitchFamily="34" charset="-122"/>
                <a:cs typeface="Cambria" pitchFamily="34" charset="-120"/>
              </a:rPr>
              <a:t>+0.03</a:t>
            </a:r>
            <a:endParaRPr lang="en-US" sz="3400" dirty="0"/>
          </a:p>
        </p:txBody>
      </p:sp>
      <p:sp>
        <p:nvSpPr>
          <p:cNvPr id="11" name="headline 3 label"/>
          <p:cNvSpPr txBox="1"/>
          <p:nvPr/>
        </p:nvSpPr>
        <p:spPr>
          <a:xfrm>
            <a:off x="3749040" y="3557016"/>
            <a:ext cx="7863840" cy="365760"/>
          </a:xfrm>
          <a:prstGeom prst="rect">
            <a:avLst/>
          </a:prstGeom>
          <a:noFill/>
          <a:ln/>
        </p:spPr>
        <p:txBody>
          <a:bodyPr wrap="square" lIns="0" tIns="0" rIns="0" bIns="0" rtlCol="0" anchor="t"/>
          <a:lstStyle/>
          <a:p>
            <a:pPr indent="0" marL="0">
              <a:buNone/>
            </a:pPr>
            <a:r>
              <a:rPr lang="en-US" sz="1800" b="1" dirty="0">
                <a:solidFill>
                  <a:schemeClr val="bg1"/>
                </a:solidFill>
              </a:rPr>
              <a:t>Nexar private mAP from adding CARLA to all real data</a:t>
            </a:r>
            <a:endParaRPr lang="en-US" sz="1800" dirty="0"/>
          </a:p>
        </p:txBody>
      </p:sp>
      <p:sp>
        <p:nvSpPr>
          <p:cNvPr id="12" name="headline 3 detail"/>
          <p:cNvSpPr txBox="1"/>
          <p:nvPr/>
        </p:nvSpPr>
        <p:spPr>
          <a:xfrm>
            <a:off x="3749040" y="3904488"/>
            <a:ext cx="7863840" cy="365760"/>
          </a:xfrm>
          <a:prstGeom prst="rect">
            <a:avLst/>
          </a:prstGeom>
          <a:noFill/>
          <a:ln/>
        </p:spPr>
        <p:txBody>
          <a:bodyPr wrap="square" lIns="0" tIns="0" rIns="0" bIns="0" rtlCol="0" anchor="t"/>
          <a:lstStyle/>
          <a:p>
            <a:pPr indent="0" marL="0">
              <a:buNone/>
            </a:pPr>
            <a:r>
              <a:rPr lang="en-US" sz="1400" dirty="0">
                <a:solidFill>
                  <a:schemeClr val="bg2"/>
                </a:solidFill>
              </a:rPr>
              <a:t>0.681 → 0.714; on CCD it costs 0.867 → 0.844</a:t>
            </a:r>
            <a:endParaRPr lang="en-US" sz="1400" dirty="0"/>
          </a:p>
        </p:txBody>
      </p:sp>
      <p:sp>
        <p:nvSpPr>
          <p:cNvPr id="13" name="headline 4 number"/>
          <p:cNvSpPr txBox="1"/>
          <p:nvPr/>
        </p:nvSpPr>
        <p:spPr>
          <a:xfrm>
            <a:off x="548640" y="4398264"/>
            <a:ext cx="3017520" cy="731520"/>
          </a:xfrm>
          <a:prstGeom prst="rect">
            <a:avLst/>
          </a:prstGeom>
          <a:noFill/>
          <a:ln/>
        </p:spPr>
        <p:txBody>
          <a:bodyPr wrap="square" lIns="0" tIns="0" rIns="0" bIns="0" rtlCol="0" anchor="ctr"/>
          <a:lstStyle/>
          <a:p>
            <a:pPr indent="0" marL="0">
              <a:buNone/>
            </a:pPr>
            <a:r>
              <a:rPr lang="en-US" sz="3400" b="1" dirty="0">
                <a:solidFill>
                  <a:schemeClr val="accent1"/>
                </a:solidFill>
                <a:latin typeface="Cambria" pitchFamily="34" charset="0"/>
                <a:ea typeface="Cambria" pitchFamily="34" charset="-122"/>
                <a:cs typeface="Cambria" pitchFamily="34" charset="-120"/>
              </a:rPr>
              <a:t>0.84 → 0.97</a:t>
            </a:r>
            <a:endParaRPr lang="en-US" sz="3400" dirty="0"/>
          </a:p>
        </p:txBody>
      </p:sp>
      <p:sp>
        <p:nvSpPr>
          <p:cNvPr id="14" name="headline 4 label"/>
          <p:cNvSpPr txBox="1"/>
          <p:nvPr/>
        </p:nvSpPr>
        <p:spPr>
          <a:xfrm>
            <a:off x="3749040" y="4443984"/>
            <a:ext cx="7863840" cy="365760"/>
          </a:xfrm>
          <a:prstGeom prst="rect">
            <a:avLst/>
          </a:prstGeom>
          <a:noFill/>
          <a:ln/>
        </p:spPr>
        <p:txBody>
          <a:bodyPr wrap="square" lIns="0" tIns="0" rIns="0" bIns="0" rtlCol="0" anchor="t"/>
          <a:lstStyle/>
          <a:p>
            <a:pPr indent="0" marL="0">
              <a:buNone/>
            </a:pPr>
            <a:r>
              <a:rPr lang="en-US" sz="1800" b="1" dirty="0">
                <a:solidFill>
                  <a:schemeClr val="bg1"/>
                </a:solidFill>
              </a:rPr>
              <a:t>Unseen-town AP with radar + LiDAR + depth</a:t>
            </a:r>
            <a:endParaRPr lang="en-US" sz="1800" dirty="0"/>
          </a:p>
        </p:txBody>
      </p:sp>
      <p:sp>
        <p:nvSpPr>
          <p:cNvPr id="15" name="headline 4 detail"/>
          <p:cNvSpPr txBox="1"/>
          <p:nvPr/>
        </p:nvSpPr>
        <p:spPr>
          <a:xfrm>
            <a:off x="3749040" y="4791456"/>
            <a:ext cx="7863840" cy="365760"/>
          </a:xfrm>
          <a:prstGeom prst="rect">
            <a:avLst/>
          </a:prstGeom>
          <a:noFill/>
          <a:ln/>
        </p:spPr>
        <p:txBody>
          <a:bodyPr wrap="square" lIns="0" tIns="0" rIns="0" bIns="0" rtlCol="0" anchor="t"/>
          <a:lstStyle/>
          <a:p>
            <a:pPr indent="0" marL="0">
              <a:buNone/>
            </a:pPr>
            <a:r>
              <a:rPr lang="en-US" sz="1400" dirty="0">
                <a:solidFill>
                  <a:schemeClr val="bg2"/>
                </a:solidFill>
              </a:rPr>
              <a:t>in simulation, so an upper bound for real sensors</a:t>
            </a:r>
            <a:endParaRPr lang="en-US" sz="1400" dirty="0"/>
          </a:p>
        </p:txBody>
      </p:sp>
      <p:sp>
        <p:nvSpPr>
          <p:cNvPr id="16" name="headline 5 number"/>
          <p:cNvSpPr txBox="1"/>
          <p:nvPr/>
        </p:nvSpPr>
        <p:spPr>
          <a:xfrm>
            <a:off x="548640" y="5285232"/>
            <a:ext cx="3017520" cy="731520"/>
          </a:xfrm>
          <a:prstGeom prst="rect">
            <a:avLst/>
          </a:prstGeom>
          <a:noFill/>
          <a:ln/>
        </p:spPr>
        <p:txBody>
          <a:bodyPr wrap="square" lIns="0" tIns="0" rIns="0" bIns="0" rtlCol="0" anchor="ctr"/>
          <a:lstStyle/>
          <a:p>
            <a:pPr indent="0" marL="0">
              <a:buNone/>
            </a:pPr>
            <a:r>
              <a:rPr lang="en-US" sz="3400" b="1" dirty="0">
                <a:solidFill>
                  <a:schemeClr val="accent1"/>
                </a:solidFill>
                <a:latin typeface="Cambria" pitchFamily="34" charset="0"/>
                <a:ea typeface="Cambria" pitchFamily="34" charset="-122"/>
                <a:cs typeface="Cambria" pitchFamily="34" charset="-120"/>
              </a:rPr>
              <a:t>107 / 133</a:t>
            </a:r>
            <a:endParaRPr lang="en-US" sz="3400" dirty="0"/>
          </a:p>
        </p:txBody>
      </p:sp>
      <p:sp>
        <p:nvSpPr>
          <p:cNvPr id="17" name="headline 5 label"/>
          <p:cNvSpPr txBox="1"/>
          <p:nvPr/>
        </p:nvSpPr>
        <p:spPr>
          <a:xfrm>
            <a:off x="3749040" y="5330952"/>
            <a:ext cx="7863840" cy="365760"/>
          </a:xfrm>
          <a:prstGeom prst="rect">
            <a:avLst/>
          </a:prstGeom>
          <a:noFill/>
          <a:ln/>
        </p:spPr>
        <p:txBody>
          <a:bodyPr wrap="square" lIns="0" tIns="0" rIns="0" bIns="0" rtlCol="0" anchor="t"/>
          <a:lstStyle/>
          <a:p>
            <a:pPr indent="0" marL="0">
              <a:buNone/>
            </a:pPr>
            <a:r>
              <a:rPr lang="en-US" sz="1800" b="1" dirty="0">
                <a:solidFill>
                  <a:schemeClr val="bg1"/>
                </a:solidFill>
              </a:rPr>
              <a:t>CCD source videos in both official train and test</a:t>
            </a:r>
            <a:endParaRPr lang="en-US" sz="1800" dirty="0"/>
          </a:p>
        </p:txBody>
      </p:sp>
      <p:sp>
        <p:nvSpPr>
          <p:cNvPr id="18" name="headline 5 detail"/>
          <p:cNvSpPr txBox="1"/>
          <p:nvPr/>
        </p:nvSpPr>
        <p:spPr>
          <a:xfrm>
            <a:off x="3749040" y="5678424"/>
            <a:ext cx="7863840" cy="365760"/>
          </a:xfrm>
          <a:prstGeom prst="rect">
            <a:avLst/>
          </a:prstGeom>
          <a:noFill/>
          <a:ln/>
        </p:spPr>
        <p:txBody>
          <a:bodyPr wrap="square" lIns="0" tIns="0" rIns="0" bIns="0" rtlCol="0" anchor="t"/>
          <a:lstStyle/>
          <a:p>
            <a:pPr indent="0" marL="0">
              <a:buNone/>
            </a:pPr>
            <a:r>
              <a:rPr lang="en-US" sz="1400" dirty="0">
                <a:solidFill>
                  <a:schemeClr val="bg2"/>
                </a:solidFill>
              </a:rPr>
              <a:t>we evaluate on a source-grouped split instead</a:t>
            </a:r>
            <a:endParaRPr lang="en-US" sz="14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chemeClr val="bg2"/>
                </a:solidFil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731520"/>
          </a:xfrm>
          <a:prstGeom prst="rect">
            <a:avLst/>
          </a:prstGeom>
          <a:noFill/>
          <a:ln/>
        </p:spPr>
        <p:txBody>
          <a:bodyPr wrap="square" lIns="0" tIns="0" rIns="0" bIns="0" rtlCol="0" anchor="b"/>
          <a:lstStyle/>
          <a:p>
            <a:pPr algn="l" indent="0" marL="0">
              <a:buNone/>
            </a:pPr>
            <a:r>
              <a:rPr lang="en-US" sz="3400" b="1" dirty="0">
                <a:solidFill>
                  <a:schemeClr val="tx1"/>
                </a:solidFill>
              </a:rPr>
              <a:t>How CrashTwin works</a:t>
            </a:r>
            <a:endParaRPr lang="en-US" sz="3400" dirty="0"/>
          </a:p>
        </p:txBody>
      </p:sp>
      <p:sp>
        <p:nvSpPr>
          <p:cNvPr id="3" name="Text 0"/>
          <p:cNvSpPr/>
          <p:nvPr>
            <p:ph idx="101" type="body" hasCustomPrompt="1"/>
          </p:nvPr>
        </p:nvSpPr>
        <p:spPr>
          <a:xfrm>
            <a:off x="548640" y="1078992"/>
            <a:ext cx="11094415" cy="411480"/>
          </a:xfrm>
          <a:prstGeom prst="rect">
            <a:avLst/>
          </a:prstGeom>
          <a:noFill/>
          <a:ln/>
        </p:spPr>
        <p:txBody>
          <a:bodyPr wrap="square" lIns="0" tIns="0" rIns="0" bIns="0" rtlCol="0" anchor="t"/>
          <a:lstStyle/>
          <a:p>
            <a:pPr indent="0" marL="0">
              <a:buNone/>
            </a:pPr>
            <a:r>
              <a:rPr lang="en-US" sz="1600" dirty="0">
                <a:solidFill>
                  <a:schemeClr val="accent6"/>
                </a:solidFill>
              </a:rPr>
              <a:t>One pipeline for simulated and real video; no simulator ground truth ever reaches a real-video model</a:t>
            </a:r>
            <a:endParaRPr lang="en-US" sz="1600" dirty="0"/>
          </a:p>
        </p:txBody>
      </p:sp>
      <p:sp>
        <p:nvSpPr>
          <p:cNvPr id="4" name="pipeline step 1"/>
          <p:cNvSpPr/>
          <p:nvPr/>
        </p:nvSpPr>
        <p:spPr>
          <a:xfrm>
            <a:off x="548640" y="1965960"/>
            <a:ext cx="1673352" cy="2971800"/>
          </a:xfrm>
          <a:prstGeom prst="roundRect">
            <a:avLst>
              <a:gd name="adj" fmla="val 4372"/>
            </a:avLst>
          </a:prstGeom>
          <a:solidFill>
            <a:schemeClr val="bg2"/>
          </a:solidFill>
          <a:ln w="12700">
            <a:solidFill>
              <a:schemeClr val="bg2"/>
            </a:solidFill>
            <a:prstDash val="solid"/>
          </a:ln>
        </p:spPr>
      </p:sp>
      <p:sp>
        <p:nvSpPr>
          <p:cNvPr id="5" name="pipeline step 1 icon circle"/>
          <p:cNvSpPr/>
          <p:nvPr/>
        </p:nvSpPr>
        <p:spPr>
          <a:xfrm>
            <a:off x="1019556" y="2240280"/>
            <a:ext cx="731520" cy="731520"/>
          </a:xfrm>
          <a:prstGeom prst="ellipse">
            <a:avLst/>
          </a:prstGeom>
          <a:solidFill>
            <a:schemeClr val="accent1"/>
          </a:solidFill>
          <a:ln w="12700">
            <a:solidFill>
              <a:schemeClr val="accent1"/>
            </a:solidFill>
            <a:prstDash val="solid"/>
          </a:ln>
        </p:spPr>
      </p:sp>
      <p:pic>
        <p:nvPicPr>
          <p:cNvPr id="6" name="pipeline step 1 icon" descr="pipeline step 1">    </p:cNvPr>
          <p:cNvPicPr>
            <a:picLocks noChangeAspect="1"/>
          </p:cNvPicPr>
          <p:nvPr/>
        </p:nvPicPr>
        <p:blipFill>
          <a:blip r:embed="rId1"/>
          <a:stretch>
            <a:fillRect/>
          </a:stretch>
        </p:blipFill>
        <p:spPr>
          <a:xfrm>
            <a:off x="1195121" y="2415845"/>
            <a:ext cx="380390" cy="380390"/>
          </a:xfrm>
          <a:prstGeom prst="rect">
            <a:avLst/>
          </a:prstGeom>
        </p:spPr>
      </p:pic>
      <p:sp>
        <p:nvSpPr>
          <p:cNvPr id="7" name="pipeline step 1 title"/>
          <p:cNvSpPr txBox="1"/>
          <p:nvPr/>
        </p:nvSpPr>
        <p:spPr>
          <a:xfrm>
            <a:off x="685800" y="3154680"/>
            <a:ext cx="1399032" cy="685800"/>
          </a:xfrm>
          <a:prstGeom prst="rect">
            <a:avLst/>
          </a:prstGeom>
          <a:noFill/>
          <a:ln/>
        </p:spPr>
        <p:txBody>
          <a:bodyPr wrap="square" lIns="0" tIns="0" rIns="0" bIns="0" rtlCol="0" anchor="t"/>
          <a:lstStyle/>
          <a:p>
            <a:pPr algn="ctr" indent="0" marL="0">
              <a:buNone/>
            </a:pPr>
            <a:r>
              <a:rPr lang="en-US" sz="1500" b="1" dirty="0">
                <a:solidFill>
                  <a:schemeClr val="tx1"/>
                </a:solidFill>
              </a:rPr>
              <a:t>1. CARLA generator</a:t>
            </a:r>
            <a:endParaRPr lang="en-US" sz="1500" dirty="0"/>
          </a:p>
        </p:txBody>
      </p:sp>
      <p:sp>
        <p:nvSpPr>
          <p:cNvPr id="8" name="pipeline step 1 text"/>
          <p:cNvSpPr txBox="1"/>
          <p:nvPr/>
        </p:nvSpPr>
        <p:spPr>
          <a:xfrm>
            <a:off x="685800" y="3840480"/>
            <a:ext cx="1399032" cy="1325880"/>
          </a:xfrm>
          <a:prstGeom prst="rect">
            <a:avLst/>
          </a:prstGeom>
          <a:noFill/>
          <a:ln/>
        </p:spPr>
        <p:txBody>
          <a:bodyPr wrap="square" lIns="0" tIns="0" rIns="0" bIns="0" rtlCol="0" anchor="t"/>
          <a:lstStyle/>
          <a:p>
            <a:pPr algn="ctr" indent="0" marL="0">
              <a:buNone/>
            </a:pPr>
            <a:r>
              <a:rPr lang="en-US" sz="1200" dirty="0">
                <a:solidFill>
                  <a:schemeClr val="accent6"/>
                </a:solidFill>
              </a:rPr>
              <a:t>13 scenario families, 6 towns, 8 weathers, 3 traffic densities</a:t>
            </a:r>
            <a:endParaRPr lang="en-US" sz="1200" dirty="0"/>
          </a:p>
        </p:txBody>
      </p:sp>
      <p:sp>
        <p:nvSpPr>
          <p:cNvPr id="9" name="pipeline arrow 1"/>
          <p:cNvSpPr/>
          <p:nvPr/>
        </p:nvSpPr>
        <p:spPr>
          <a:xfrm>
            <a:off x="2245126" y="2468880"/>
            <a:ext cx="164592" cy="274320"/>
          </a:xfrm>
          <a:prstGeom prst="chevron">
            <a:avLst/>
          </a:prstGeom>
          <a:solidFill>
            <a:schemeClr val="accent6"/>
          </a:solidFill>
          <a:ln w="12700">
            <a:solidFill>
              <a:schemeClr val="accent6"/>
            </a:solidFill>
            <a:prstDash val="solid"/>
          </a:ln>
        </p:spPr>
      </p:sp>
      <p:sp>
        <p:nvSpPr>
          <p:cNvPr id="10" name="pipeline step 2"/>
          <p:cNvSpPr/>
          <p:nvPr/>
        </p:nvSpPr>
        <p:spPr>
          <a:xfrm>
            <a:off x="2432853" y="1965960"/>
            <a:ext cx="1673352" cy="2971800"/>
          </a:xfrm>
          <a:prstGeom prst="roundRect">
            <a:avLst>
              <a:gd name="adj" fmla="val 4372"/>
            </a:avLst>
          </a:prstGeom>
          <a:solidFill>
            <a:schemeClr val="bg2"/>
          </a:solidFill>
          <a:ln w="12700">
            <a:solidFill>
              <a:schemeClr val="bg2"/>
            </a:solidFill>
            <a:prstDash val="solid"/>
          </a:ln>
        </p:spPr>
      </p:sp>
      <p:sp>
        <p:nvSpPr>
          <p:cNvPr id="11" name="pipeline step 2 icon circle"/>
          <p:cNvSpPr/>
          <p:nvPr/>
        </p:nvSpPr>
        <p:spPr>
          <a:xfrm>
            <a:off x="2903769" y="2240280"/>
            <a:ext cx="731520" cy="731520"/>
          </a:xfrm>
          <a:prstGeom prst="ellipse">
            <a:avLst/>
          </a:prstGeom>
          <a:solidFill>
            <a:schemeClr val="accent1"/>
          </a:solidFill>
          <a:ln w="12700">
            <a:solidFill>
              <a:schemeClr val="accent1"/>
            </a:solidFill>
            <a:prstDash val="solid"/>
          </a:ln>
        </p:spPr>
      </p:sp>
      <p:pic>
        <p:nvPicPr>
          <p:cNvPr id="12" name="pipeline step 2 icon" descr="pipeline step 2">    </p:cNvPr>
          <p:cNvPicPr>
            <a:picLocks noChangeAspect="1"/>
          </p:cNvPicPr>
          <p:nvPr/>
        </p:nvPicPr>
        <p:blipFill>
          <a:blip r:embed="rId2"/>
          <a:stretch>
            <a:fillRect/>
          </a:stretch>
        </p:blipFill>
        <p:spPr>
          <a:xfrm>
            <a:off x="3079333" y="2415845"/>
            <a:ext cx="380390" cy="380390"/>
          </a:xfrm>
          <a:prstGeom prst="rect">
            <a:avLst/>
          </a:prstGeom>
        </p:spPr>
      </p:pic>
      <p:sp>
        <p:nvSpPr>
          <p:cNvPr id="13" name="pipeline step 2 title"/>
          <p:cNvSpPr txBox="1"/>
          <p:nvPr/>
        </p:nvSpPr>
        <p:spPr>
          <a:xfrm>
            <a:off x="2570013" y="3154680"/>
            <a:ext cx="1399032" cy="685800"/>
          </a:xfrm>
          <a:prstGeom prst="rect">
            <a:avLst/>
          </a:prstGeom>
          <a:noFill/>
          <a:ln/>
        </p:spPr>
        <p:txBody>
          <a:bodyPr wrap="square" lIns="0" tIns="0" rIns="0" bIns="0" rtlCol="0" anchor="t"/>
          <a:lstStyle/>
          <a:p>
            <a:pPr algn="ctr" indent="0" marL="0">
              <a:buNone/>
            </a:pPr>
            <a:r>
              <a:rPr lang="en-US" sz="1500" b="1" dirty="0">
                <a:solidFill>
                  <a:schemeClr val="tx1"/>
                </a:solidFill>
              </a:rPr>
              <a:t>2. Measured labels</a:t>
            </a:r>
            <a:endParaRPr lang="en-US" sz="1500" dirty="0"/>
          </a:p>
        </p:txBody>
      </p:sp>
      <p:sp>
        <p:nvSpPr>
          <p:cNvPr id="14" name="pipeline step 2 text"/>
          <p:cNvSpPr txBox="1"/>
          <p:nvPr/>
        </p:nvSpPr>
        <p:spPr>
          <a:xfrm>
            <a:off x="2570013" y="3840480"/>
            <a:ext cx="1399032" cy="1325880"/>
          </a:xfrm>
          <a:prstGeom prst="rect">
            <a:avLst/>
          </a:prstGeom>
          <a:noFill/>
          <a:ln/>
        </p:spPr>
        <p:txBody>
          <a:bodyPr wrap="square" lIns="0" tIns="0" rIns="0" bIns="0" rtlCol="0" anchor="t"/>
          <a:lstStyle/>
          <a:p>
            <a:pPr algn="ctr" indent="0" marL="0">
              <a:buNone/>
            </a:pPr>
            <a:r>
              <a:rPr lang="en-US" sz="1200" dirty="0">
                <a:solidFill>
                  <a:schemeClr val="accent6"/>
                </a:solidFill>
              </a:rPr>
              <a:t>crash, near-miss or normal from collisions and TTC; 20+ checks per clip</a:t>
            </a:r>
            <a:endParaRPr lang="en-US" sz="1200" dirty="0"/>
          </a:p>
        </p:txBody>
      </p:sp>
      <p:sp>
        <p:nvSpPr>
          <p:cNvPr id="15" name="pipeline arrow 2"/>
          <p:cNvSpPr/>
          <p:nvPr/>
        </p:nvSpPr>
        <p:spPr>
          <a:xfrm>
            <a:off x="4129339" y="2468880"/>
            <a:ext cx="164592" cy="274320"/>
          </a:xfrm>
          <a:prstGeom prst="chevron">
            <a:avLst/>
          </a:prstGeom>
          <a:solidFill>
            <a:schemeClr val="accent6"/>
          </a:solidFill>
          <a:ln w="12700">
            <a:solidFill>
              <a:schemeClr val="accent6"/>
            </a:solidFill>
            <a:prstDash val="solid"/>
          </a:ln>
        </p:spPr>
      </p:sp>
      <p:sp>
        <p:nvSpPr>
          <p:cNvPr id="16" name="pipeline step 3"/>
          <p:cNvSpPr/>
          <p:nvPr/>
        </p:nvSpPr>
        <p:spPr>
          <a:xfrm>
            <a:off x="4317065" y="1965960"/>
            <a:ext cx="1673352" cy="2971800"/>
          </a:xfrm>
          <a:prstGeom prst="roundRect">
            <a:avLst>
              <a:gd name="adj" fmla="val 4372"/>
            </a:avLst>
          </a:prstGeom>
          <a:solidFill>
            <a:schemeClr val="bg2"/>
          </a:solidFill>
          <a:ln w="12700">
            <a:solidFill>
              <a:schemeClr val="bg2"/>
            </a:solidFill>
            <a:prstDash val="solid"/>
          </a:ln>
        </p:spPr>
      </p:sp>
      <p:sp>
        <p:nvSpPr>
          <p:cNvPr id="17" name="pipeline step 3 icon circle"/>
          <p:cNvSpPr/>
          <p:nvPr/>
        </p:nvSpPr>
        <p:spPr>
          <a:xfrm>
            <a:off x="4787981" y="2240280"/>
            <a:ext cx="731520" cy="731520"/>
          </a:xfrm>
          <a:prstGeom prst="ellipse">
            <a:avLst/>
          </a:prstGeom>
          <a:solidFill>
            <a:schemeClr val="accent1"/>
          </a:solidFill>
          <a:ln w="12700">
            <a:solidFill>
              <a:schemeClr val="accent1"/>
            </a:solidFill>
            <a:prstDash val="solid"/>
          </a:ln>
        </p:spPr>
      </p:sp>
      <p:pic>
        <p:nvPicPr>
          <p:cNvPr id="18" name="pipeline step 3 icon" descr="pipeline step 3">    </p:cNvPr>
          <p:cNvPicPr>
            <a:picLocks noChangeAspect="1"/>
          </p:cNvPicPr>
          <p:nvPr/>
        </p:nvPicPr>
        <p:blipFill>
          <a:blip r:embed="rId3"/>
          <a:stretch>
            <a:fillRect/>
          </a:stretch>
        </p:blipFill>
        <p:spPr>
          <a:xfrm>
            <a:off x="4963546" y="2415845"/>
            <a:ext cx="380390" cy="380390"/>
          </a:xfrm>
          <a:prstGeom prst="rect">
            <a:avLst/>
          </a:prstGeom>
        </p:spPr>
      </p:pic>
      <p:sp>
        <p:nvSpPr>
          <p:cNvPr id="19" name="pipeline step 3 title"/>
          <p:cNvSpPr txBox="1"/>
          <p:nvPr/>
        </p:nvSpPr>
        <p:spPr>
          <a:xfrm>
            <a:off x="4454225" y="3154680"/>
            <a:ext cx="1399032" cy="685800"/>
          </a:xfrm>
          <a:prstGeom prst="rect">
            <a:avLst/>
          </a:prstGeom>
          <a:noFill/>
          <a:ln/>
        </p:spPr>
        <p:txBody>
          <a:bodyPr wrap="square" lIns="0" tIns="0" rIns="0" bIns="0" rtlCol="0" anchor="t"/>
          <a:lstStyle/>
          <a:p>
            <a:pPr algn="ctr" indent="0" marL="0">
              <a:buNone/>
            </a:pPr>
            <a:r>
              <a:rPr lang="en-US" sz="1500" b="1" dirty="0">
                <a:solidFill>
                  <a:schemeClr val="tx1"/>
                </a:solidFill>
              </a:rPr>
              <a:t>3. YOLO11s + ByteTrack</a:t>
            </a:r>
            <a:endParaRPr lang="en-US" sz="1500" dirty="0"/>
          </a:p>
        </p:txBody>
      </p:sp>
      <p:sp>
        <p:nvSpPr>
          <p:cNvPr id="20" name="pipeline step 3 text"/>
          <p:cNvSpPr txBox="1"/>
          <p:nvPr/>
        </p:nvSpPr>
        <p:spPr>
          <a:xfrm>
            <a:off x="4454225" y="3840480"/>
            <a:ext cx="1399032" cy="1325880"/>
          </a:xfrm>
          <a:prstGeom prst="rect">
            <a:avLst/>
          </a:prstGeom>
          <a:noFill/>
          <a:ln/>
        </p:spPr>
        <p:txBody>
          <a:bodyPr wrap="square" lIns="0" tIns="0" rIns="0" bIns="0" rtlCol="0" anchor="t"/>
          <a:lstStyle/>
          <a:p>
            <a:pPr algn="ctr" indent="0" marL="0">
              <a:buNone/>
            </a:pPr>
            <a:r>
              <a:rPr lang="en-US" sz="1200" dirty="0">
                <a:solidFill>
                  <a:schemeClr val="accent6"/>
                </a:solidFill>
              </a:rPr>
              <a:t>the same frozen detector and tracker for CARLA and real video</a:t>
            </a:r>
            <a:endParaRPr lang="en-US" sz="1200" dirty="0"/>
          </a:p>
        </p:txBody>
      </p:sp>
      <p:sp>
        <p:nvSpPr>
          <p:cNvPr id="21" name="pipeline arrow 3"/>
          <p:cNvSpPr/>
          <p:nvPr/>
        </p:nvSpPr>
        <p:spPr>
          <a:xfrm>
            <a:off x="6013552" y="2468880"/>
            <a:ext cx="164592" cy="274320"/>
          </a:xfrm>
          <a:prstGeom prst="chevron">
            <a:avLst/>
          </a:prstGeom>
          <a:solidFill>
            <a:schemeClr val="accent6"/>
          </a:solidFill>
          <a:ln w="12700">
            <a:solidFill>
              <a:schemeClr val="accent6"/>
            </a:solidFill>
            <a:prstDash val="solid"/>
          </a:ln>
        </p:spPr>
      </p:sp>
      <p:sp>
        <p:nvSpPr>
          <p:cNvPr id="22" name="pipeline step 4"/>
          <p:cNvSpPr/>
          <p:nvPr/>
        </p:nvSpPr>
        <p:spPr>
          <a:xfrm>
            <a:off x="6201278" y="1965960"/>
            <a:ext cx="1673352" cy="2971800"/>
          </a:xfrm>
          <a:prstGeom prst="roundRect">
            <a:avLst>
              <a:gd name="adj" fmla="val 4372"/>
            </a:avLst>
          </a:prstGeom>
          <a:solidFill>
            <a:schemeClr val="bg2"/>
          </a:solidFill>
          <a:ln w="12700">
            <a:solidFill>
              <a:schemeClr val="bg2"/>
            </a:solidFill>
            <a:prstDash val="solid"/>
          </a:ln>
        </p:spPr>
      </p:sp>
      <p:sp>
        <p:nvSpPr>
          <p:cNvPr id="23" name="pipeline step 4 icon circle"/>
          <p:cNvSpPr/>
          <p:nvPr/>
        </p:nvSpPr>
        <p:spPr>
          <a:xfrm>
            <a:off x="6672194" y="2240280"/>
            <a:ext cx="731520" cy="731520"/>
          </a:xfrm>
          <a:prstGeom prst="ellipse">
            <a:avLst/>
          </a:prstGeom>
          <a:solidFill>
            <a:schemeClr val="accent1"/>
          </a:solidFill>
          <a:ln w="12700">
            <a:solidFill>
              <a:schemeClr val="accent1"/>
            </a:solidFill>
            <a:prstDash val="solid"/>
          </a:ln>
        </p:spPr>
      </p:sp>
      <p:pic>
        <p:nvPicPr>
          <p:cNvPr id="24" name="pipeline step 4 icon" descr="pipeline step 4">    </p:cNvPr>
          <p:cNvPicPr>
            <a:picLocks noChangeAspect="1"/>
          </p:cNvPicPr>
          <p:nvPr/>
        </p:nvPicPr>
        <p:blipFill>
          <a:blip r:embed="rId4"/>
          <a:stretch>
            <a:fillRect/>
          </a:stretch>
        </p:blipFill>
        <p:spPr>
          <a:xfrm>
            <a:off x="6847759" y="2415845"/>
            <a:ext cx="380390" cy="380390"/>
          </a:xfrm>
          <a:prstGeom prst="rect">
            <a:avLst/>
          </a:prstGeom>
        </p:spPr>
      </p:pic>
      <p:sp>
        <p:nvSpPr>
          <p:cNvPr id="25" name="pipeline step 4 title"/>
          <p:cNvSpPr txBox="1"/>
          <p:nvPr/>
        </p:nvSpPr>
        <p:spPr>
          <a:xfrm>
            <a:off x="6338438" y="3154680"/>
            <a:ext cx="1399032" cy="685800"/>
          </a:xfrm>
          <a:prstGeom prst="rect">
            <a:avLst/>
          </a:prstGeom>
          <a:noFill/>
          <a:ln/>
        </p:spPr>
        <p:txBody>
          <a:bodyPr wrap="square" lIns="0" tIns="0" rIns="0" bIns="0" rtlCol="0" anchor="t"/>
          <a:lstStyle/>
          <a:p>
            <a:pPr algn="ctr" indent="0" marL="0">
              <a:buNone/>
            </a:pPr>
            <a:r>
              <a:rPr lang="en-US" sz="1500" b="1" dirty="0">
                <a:solidFill>
                  <a:schemeClr val="tx1"/>
                </a:solidFill>
              </a:rPr>
              <a:t>4. 83 camera features</a:t>
            </a:r>
            <a:endParaRPr lang="en-US" sz="1500" dirty="0"/>
          </a:p>
        </p:txBody>
      </p:sp>
      <p:sp>
        <p:nvSpPr>
          <p:cNvPr id="26" name="pipeline step 4 text"/>
          <p:cNvSpPr txBox="1"/>
          <p:nvPr/>
        </p:nvSpPr>
        <p:spPr>
          <a:xfrm>
            <a:off x="6338438" y="3840480"/>
            <a:ext cx="1399032" cy="1325880"/>
          </a:xfrm>
          <a:prstGeom prst="rect">
            <a:avLst/>
          </a:prstGeom>
          <a:noFill/>
          <a:ln/>
        </p:spPr>
        <p:txBody>
          <a:bodyPr wrap="square" lIns="0" tIns="0" rIns="0" bIns="0" rtlCol="0" anchor="t"/>
          <a:lstStyle/>
          <a:p>
            <a:pPr algn="ctr" indent="0" marL="0">
              <a:buNone/>
            </a:pPr>
            <a:r>
              <a:rPr lang="en-US" sz="1200" dirty="0">
                <a:solidFill>
                  <a:schemeClr val="accent6"/>
                </a:solidFill>
              </a:rPr>
              <a:t>box growth, image TTC, ego motion; + 8 sensor features in CARLA</a:t>
            </a:r>
            <a:endParaRPr lang="en-US" sz="1200" dirty="0"/>
          </a:p>
        </p:txBody>
      </p:sp>
      <p:sp>
        <p:nvSpPr>
          <p:cNvPr id="27" name="pipeline arrow 4"/>
          <p:cNvSpPr/>
          <p:nvPr/>
        </p:nvSpPr>
        <p:spPr>
          <a:xfrm>
            <a:off x="7897764" y="2468880"/>
            <a:ext cx="164592" cy="274320"/>
          </a:xfrm>
          <a:prstGeom prst="chevron">
            <a:avLst/>
          </a:prstGeom>
          <a:solidFill>
            <a:schemeClr val="accent6"/>
          </a:solidFill>
          <a:ln w="12700">
            <a:solidFill>
              <a:schemeClr val="accent6"/>
            </a:solidFill>
            <a:prstDash val="solid"/>
          </a:ln>
        </p:spPr>
      </p:sp>
      <p:sp>
        <p:nvSpPr>
          <p:cNvPr id="28" name="pipeline step 5"/>
          <p:cNvSpPr/>
          <p:nvPr/>
        </p:nvSpPr>
        <p:spPr>
          <a:xfrm>
            <a:off x="8085491" y="1965960"/>
            <a:ext cx="1673352" cy="2971800"/>
          </a:xfrm>
          <a:prstGeom prst="roundRect">
            <a:avLst>
              <a:gd name="adj" fmla="val 4372"/>
            </a:avLst>
          </a:prstGeom>
          <a:solidFill>
            <a:schemeClr val="bg2"/>
          </a:solidFill>
          <a:ln w="12700">
            <a:solidFill>
              <a:schemeClr val="bg2"/>
            </a:solidFill>
            <a:prstDash val="solid"/>
          </a:ln>
        </p:spPr>
      </p:sp>
      <p:sp>
        <p:nvSpPr>
          <p:cNvPr id="29" name="pipeline step 5 icon circle"/>
          <p:cNvSpPr/>
          <p:nvPr/>
        </p:nvSpPr>
        <p:spPr>
          <a:xfrm>
            <a:off x="8556407" y="2240280"/>
            <a:ext cx="731520" cy="731520"/>
          </a:xfrm>
          <a:prstGeom prst="ellipse">
            <a:avLst/>
          </a:prstGeom>
          <a:solidFill>
            <a:schemeClr val="accent1"/>
          </a:solidFill>
          <a:ln w="12700">
            <a:solidFill>
              <a:schemeClr val="accent1"/>
            </a:solidFill>
            <a:prstDash val="solid"/>
          </a:ln>
        </p:spPr>
      </p:sp>
      <p:pic>
        <p:nvPicPr>
          <p:cNvPr id="30" name="pipeline step 5 icon" descr="pipeline step 5">    </p:cNvPr>
          <p:cNvPicPr>
            <a:picLocks noChangeAspect="1"/>
          </p:cNvPicPr>
          <p:nvPr/>
        </p:nvPicPr>
        <p:blipFill>
          <a:blip r:embed="rId5"/>
          <a:stretch>
            <a:fillRect/>
          </a:stretch>
        </p:blipFill>
        <p:spPr>
          <a:xfrm>
            <a:off x="8731971" y="2415845"/>
            <a:ext cx="380390" cy="380390"/>
          </a:xfrm>
          <a:prstGeom prst="rect">
            <a:avLst/>
          </a:prstGeom>
        </p:spPr>
      </p:pic>
      <p:sp>
        <p:nvSpPr>
          <p:cNvPr id="31" name="pipeline step 5 title"/>
          <p:cNvSpPr txBox="1"/>
          <p:nvPr/>
        </p:nvSpPr>
        <p:spPr>
          <a:xfrm>
            <a:off x="8222651" y="3154680"/>
            <a:ext cx="1399032" cy="685800"/>
          </a:xfrm>
          <a:prstGeom prst="rect">
            <a:avLst/>
          </a:prstGeom>
          <a:noFill/>
          <a:ln/>
        </p:spPr>
        <p:txBody>
          <a:bodyPr wrap="square" lIns="0" tIns="0" rIns="0" bIns="0" rtlCol="0" anchor="t"/>
          <a:lstStyle/>
          <a:p>
            <a:pPr algn="ctr" indent="0" marL="0">
              <a:buNone/>
            </a:pPr>
            <a:r>
              <a:rPr lang="en-US" sz="1500" b="1" dirty="0">
                <a:solidFill>
                  <a:schemeClr val="tx1"/>
                </a:solidFill>
              </a:rPr>
              <a:t>5. Causal GRU</a:t>
            </a:r>
            <a:endParaRPr lang="en-US" sz="1500" dirty="0"/>
          </a:p>
        </p:txBody>
      </p:sp>
      <p:sp>
        <p:nvSpPr>
          <p:cNvPr id="32" name="pipeline step 5 text"/>
          <p:cNvSpPr txBox="1"/>
          <p:nvPr/>
        </p:nvSpPr>
        <p:spPr>
          <a:xfrm>
            <a:off x="8222651" y="3840480"/>
            <a:ext cx="1399032" cy="1325880"/>
          </a:xfrm>
          <a:prstGeom prst="rect">
            <a:avLst/>
          </a:prstGeom>
          <a:noFill/>
          <a:ln/>
        </p:spPr>
        <p:txBody>
          <a:bodyPr wrap="square" lIns="0" tIns="0" rIns="0" bIns="0" rtlCol="0" anchor="t"/>
          <a:lstStyle/>
          <a:p>
            <a:pPr algn="ctr" indent="0" marL="0">
              <a:buNone/>
            </a:pPr>
            <a:r>
              <a:rPr lang="en-US" sz="1200" dirty="0">
                <a:solidFill>
                  <a:schemeClr val="accent6"/>
                </a:solidFill>
              </a:rPr>
              <a:t>a crash probability for every frame, before the event</a:t>
            </a:r>
            <a:endParaRPr lang="en-US" sz="1200" dirty="0"/>
          </a:p>
        </p:txBody>
      </p:sp>
      <p:sp>
        <p:nvSpPr>
          <p:cNvPr id="33" name="pipeline arrow 5"/>
          <p:cNvSpPr/>
          <p:nvPr/>
        </p:nvSpPr>
        <p:spPr>
          <a:xfrm>
            <a:off x="9781977" y="2468880"/>
            <a:ext cx="164592" cy="274320"/>
          </a:xfrm>
          <a:prstGeom prst="chevron">
            <a:avLst/>
          </a:prstGeom>
          <a:solidFill>
            <a:schemeClr val="accent6"/>
          </a:solidFill>
          <a:ln w="12700">
            <a:solidFill>
              <a:schemeClr val="accent6"/>
            </a:solidFill>
            <a:prstDash val="solid"/>
          </a:ln>
        </p:spPr>
      </p:sp>
      <p:sp>
        <p:nvSpPr>
          <p:cNvPr id="34" name="pipeline step 6"/>
          <p:cNvSpPr/>
          <p:nvPr/>
        </p:nvSpPr>
        <p:spPr>
          <a:xfrm>
            <a:off x="9969703" y="1965960"/>
            <a:ext cx="1673352" cy="2971800"/>
          </a:xfrm>
          <a:prstGeom prst="roundRect">
            <a:avLst>
              <a:gd name="adj" fmla="val 4372"/>
            </a:avLst>
          </a:prstGeom>
          <a:solidFill>
            <a:schemeClr val="bg2"/>
          </a:solidFill>
          <a:ln w="12700">
            <a:solidFill>
              <a:schemeClr val="bg2"/>
            </a:solidFill>
            <a:prstDash val="solid"/>
          </a:ln>
        </p:spPr>
      </p:sp>
      <p:sp>
        <p:nvSpPr>
          <p:cNvPr id="35" name="pipeline step 6 icon circle"/>
          <p:cNvSpPr/>
          <p:nvPr/>
        </p:nvSpPr>
        <p:spPr>
          <a:xfrm>
            <a:off x="10440619" y="2240280"/>
            <a:ext cx="731520" cy="731520"/>
          </a:xfrm>
          <a:prstGeom prst="ellipse">
            <a:avLst/>
          </a:prstGeom>
          <a:solidFill>
            <a:schemeClr val="accent1"/>
          </a:solidFill>
          <a:ln w="12700">
            <a:solidFill>
              <a:schemeClr val="accent1"/>
            </a:solidFill>
            <a:prstDash val="solid"/>
          </a:ln>
        </p:spPr>
      </p:sp>
      <p:pic>
        <p:nvPicPr>
          <p:cNvPr id="36" name="pipeline step 6 icon" descr="pipeline step 6">    </p:cNvPr>
          <p:cNvPicPr>
            <a:picLocks noChangeAspect="1"/>
          </p:cNvPicPr>
          <p:nvPr/>
        </p:nvPicPr>
        <p:blipFill>
          <a:blip r:embed="rId6"/>
          <a:stretch>
            <a:fillRect/>
          </a:stretch>
        </p:blipFill>
        <p:spPr>
          <a:xfrm>
            <a:off x="10616184" y="2415845"/>
            <a:ext cx="380390" cy="380390"/>
          </a:xfrm>
          <a:prstGeom prst="rect">
            <a:avLst/>
          </a:prstGeom>
        </p:spPr>
      </p:pic>
      <p:sp>
        <p:nvSpPr>
          <p:cNvPr id="37" name="pipeline step 6 title"/>
          <p:cNvSpPr txBox="1"/>
          <p:nvPr/>
        </p:nvSpPr>
        <p:spPr>
          <a:xfrm>
            <a:off x="10106863" y="3154680"/>
            <a:ext cx="1399032" cy="685800"/>
          </a:xfrm>
          <a:prstGeom prst="rect">
            <a:avLst/>
          </a:prstGeom>
          <a:noFill/>
          <a:ln/>
        </p:spPr>
        <p:txBody>
          <a:bodyPr wrap="square" lIns="0" tIns="0" rIns="0" bIns="0" rtlCol="0" anchor="t"/>
          <a:lstStyle/>
          <a:p>
            <a:pPr algn="ctr" indent="0" marL="0">
              <a:buNone/>
            </a:pPr>
            <a:r>
              <a:rPr lang="en-US" sz="1500" b="1" dirty="0">
                <a:solidFill>
                  <a:schemeClr val="tx1"/>
                </a:solidFill>
              </a:rPr>
              <a:t>6. Evaluation</a:t>
            </a:r>
            <a:endParaRPr lang="en-US" sz="1500" dirty="0"/>
          </a:p>
        </p:txBody>
      </p:sp>
      <p:sp>
        <p:nvSpPr>
          <p:cNvPr id="38" name="pipeline step 6 text"/>
          <p:cNvSpPr txBox="1"/>
          <p:nvPr/>
        </p:nvSpPr>
        <p:spPr>
          <a:xfrm>
            <a:off x="10106863" y="3840480"/>
            <a:ext cx="1399032" cy="1325880"/>
          </a:xfrm>
          <a:prstGeom prst="rect">
            <a:avLst/>
          </a:prstGeom>
          <a:noFill/>
          <a:ln/>
        </p:spPr>
        <p:txBody>
          <a:bodyPr wrap="square" lIns="0" tIns="0" rIns="0" bIns="0" rtlCol="0" anchor="t"/>
          <a:lstStyle/>
          <a:p>
            <a:pPr algn="ctr" indent="0" marL="0">
              <a:buNone/>
            </a:pPr>
            <a:r>
              <a:rPr lang="en-US" sz="1200" dirty="0">
                <a:solidFill>
                  <a:schemeClr val="accent6"/>
                </a:solidFill>
              </a:rPr>
              <a:t>Nexar and CCD: AP, mAP, warning time, false alarms</a:t>
            </a:r>
            <a:endParaRPr lang="en-US" sz="1200" dirty="0"/>
          </a:p>
        </p:txBody>
      </p:sp>
      <p:sp>
        <p:nvSpPr>
          <p:cNvPr id="39" name="pipeline note"/>
          <p:cNvSpPr txBox="1"/>
          <p:nvPr/>
        </p:nvSpPr>
        <p:spPr>
          <a:xfrm>
            <a:off x="548640" y="5257800"/>
            <a:ext cx="11094415" cy="411480"/>
          </a:xfrm>
          <a:prstGeom prst="rect">
            <a:avLst/>
          </a:prstGeom>
          <a:noFill/>
          <a:ln/>
        </p:spPr>
        <p:txBody>
          <a:bodyPr wrap="square" lIns="0" tIns="0" rIns="0" bIns="0" rtlCol="0" anchor="t"/>
          <a:lstStyle/>
          <a:p>
            <a:pPr indent="0" marL="0">
              <a:buNone/>
            </a:pPr>
            <a:r>
              <a:rPr lang="en-US" sz="1600" i="1" dirty="0">
                <a:solidFill>
                  <a:schemeClr val="tx1"/>
                </a:solidFill>
              </a:rPr>
              <a:t>Real video (CCD, Nexar) enters at step 3, so CARLA and real clips get identical inputs.</a:t>
            </a:r>
            <a:endParaRPr lang="en-US" sz="16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chemeClr val="accent6"/>
                </a:solidFil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731520"/>
          </a:xfrm>
          <a:prstGeom prst="rect">
            <a:avLst/>
          </a:prstGeom>
          <a:noFill/>
          <a:ln/>
        </p:spPr>
        <p:txBody>
          <a:bodyPr wrap="square" lIns="0" tIns="0" rIns="0" bIns="0" rtlCol="0" anchor="b"/>
          <a:lstStyle/>
          <a:p>
            <a:pPr algn="l" indent="0" marL="0">
              <a:buNone/>
            </a:pPr>
            <a:r>
              <a:rPr lang="en-US" sz="3400" b="1" dirty="0">
                <a:solidFill>
                  <a:schemeClr val="tx1"/>
                </a:solidFill>
              </a:rPr>
              <a:t>13 scenario families, controlled conditions</a:t>
            </a:r>
            <a:endParaRPr lang="en-US" sz="3400" dirty="0"/>
          </a:p>
        </p:txBody>
      </p:sp>
      <p:sp>
        <p:nvSpPr>
          <p:cNvPr id="3" name="Text 0"/>
          <p:cNvSpPr/>
          <p:nvPr>
            <p:ph idx="101" type="body" hasCustomPrompt="1"/>
          </p:nvPr>
        </p:nvSpPr>
        <p:spPr>
          <a:xfrm>
            <a:off x="548640" y="1078992"/>
            <a:ext cx="11094415" cy="411480"/>
          </a:xfrm>
          <a:prstGeom prst="rect">
            <a:avLst/>
          </a:prstGeom>
          <a:noFill/>
          <a:ln/>
        </p:spPr>
        <p:txBody>
          <a:bodyPr wrap="square" lIns="0" tIns="0" rIns="0" bIns="0" rtlCol="0" anchor="t"/>
          <a:lstStyle/>
          <a:p>
            <a:pPr indent="0" marL="0">
              <a:buNone/>
            </a:pPr>
            <a:r>
              <a:rPr lang="en-US" sz="1600" dirty="0">
                <a:solidFill>
                  <a:schemeClr val="accent6"/>
                </a:solidFill>
              </a:rPr>
              <a:t>Every clip: 10 s at 10 Hz, event at frame 60–90 after a ≥ 3 s warm-up; the scenario's intent never sets the label</a:t>
            </a:r>
            <a:endParaRPr lang="en-US" sz="1600" dirty="0"/>
          </a:p>
        </p:txBody>
      </p:sp>
      <p:sp>
        <p:nvSpPr>
          <p:cNvPr id="4" name="family card 1"/>
          <p:cNvSpPr/>
          <p:nvPr/>
        </p:nvSpPr>
        <p:spPr>
          <a:xfrm>
            <a:off x="548640" y="1783080"/>
            <a:ext cx="2331720" cy="3337560"/>
          </a:xfrm>
          <a:prstGeom prst="roundRect">
            <a:avLst>
              <a:gd name="adj" fmla="val 3137"/>
            </a:avLst>
          </a:prstGeom>
          <a:solidFill>
            <a:schemeClr val="bg2"/>
          </a:solidFill>
          <a:ln w="12700">
            <a:solidFill>
              <a:schemeClr val="bg2"/>
            </a:solidFill>
            <a:prstDash val="solid"/>
          </a:ln>
        </p:spPr>
      </p:sp>
      <p:sp>
        <p:nvSpPr>
          <p:cNvPr id="5" name="family 1 heading"/>
          <p:cNvSpPr txBox="1"/>
          <p:nvPr/>
        </p:nvSpPr>
        <p:spPr>
          <a:xfrm>
            <a:off x="777240" y="2011680"/>
            <a:ext cx="1874520" cy="365760"/>
          </a:xfrm>
          <a:prstGeom prst="rect">
            <a:avLst/>
          </a:prstGeom>
          <a:noFill/>
          <a:ln/>
        </p:spPr>
        <p:txBody>
          <a:bodyPr wrap="square" lIns="0" tIns="0" rIns="0" bIns="0" rtlCol="0" anchor="t"/>
          <a:lstStyle/>
          <a:p>
            <a:pPr indent="0" marL="0">
              <a:buNone/>
            </a:pPr>
            <a:r>
              <a:rPr lang="en-US" sz="1600" b="1" dirty="0">
                <a:solidFill>
                  <a:schemeClr val="tx1"/>
                </a:solidFill>
              </a:rPr>
              <a:t>Crash · C1–C5</a:t>
            </a:r>
            <a:endParaRPr lang="en-US" sz="1600" dirty="0"/>
          </a:p>
        </p:txBody>
      </p:sp>
      <p:sp>
        <p:nvSpPr>
          <p:cNvPr id="6" name="family 1 list"/>
          <p:cNvSpPr txBox="1"/>
          <p:nvPr/>
        </p:nvSpPr>
        <p:spPr>
          <a:xfrm>
            <a:off x="777240" y="2514600"/>
            <a:ext cx="1920240" cy="2423160"/>
          </a:xfrm>
          <a:prstGeom prst="rect">
            <a:avLst/>
          </a:prstGeom>
          <a:noFill/>
          <a:ln/>
        </p:spPr>
        <p:txBody>
          <a:bodyPr wrap="square" lIns="0" tIns="0" rIns="0" bIns="0" rtlCol="0" anchor="t"/>
          <a:lstStyle/>
          <a:p>
            <a:pPr marL="177800" indent="-177800">
              <a:spcAft>
                <a:spcPts val="600"/>
              </a:spcAft>
              <a:buSzPct val="100000"/>
              <a:buChar char="•"/>
            </a:pPr>
            <a:r>
              <a:rPr lang="en-US" sz="1400" dirty="0">
                <a:solidFill>
                  <a:schemeClr val="tx1"/>
                </a:solidFill>
              </a:rPr>
              <a:t>Rear-end</a:t>
            </a:r>
            <a:endParaRPr lang="en-US" sz="1400" dirty="0"/>
          </a:p>
          <a:p>
            <a:pPr marL="177800" indent="-177800">
              <a:spcAft>
                <a:spcPts val="600"/>
              </a:spcAft>
              <a:buSzPct val="100000"/>
              <a:buChar char="•"/>
            </a:pPr>
            <a:r>
              <a:rPr lang="en-US" sz="1400" dirty="0">
                <a:solidFill>
                  <a:schemeClr val="tx1"/>
                </a:solidFill>
              </a:rPr>
              <a:t>Cut-in</a:t>
            </a:r>
            <a:endParaRPr lang="en-US" sz="1400" dirty="0"/>
          </a:p>
          <a:p>
            <a:pPr marL="177800" indent="-177800">
              <a:spcAft>
                <a:spcPts val="600"/>
              </a:spcAft>
              <a:buSzPct val="100000"/>
              <a:buChar char="•"/>
            </a:pPr>
            <a:r>
              <a:rPr lang="en-US" sz="1400" dirty="0">
                <a:solidFill>
                  <a:schemeClr val="tx1"/>
                </a:solidFill>
              </a:rPr>
              <a:t>Junction</a:t>
            </a:r>
            <a:endParaRPr lang="en-US" sz="1400" dirty="0"/>
          </a:p>
          <a:p>
            <a:pPr marL="177800" indent="-177800">
              <a:spcAft>
                <a:spcPts val="600"/>
              </a:spcAft>
              <a:buSzPct val="100000"/>
              <a:buChar char="•"/>
            </a:pPr>
            <a:r>
              <a:rPr lang="en-US" sz="1400" dirty="0">
                <a:solidFill>
                  <a:schemeClr val="tx1"/>
                </a:solidFill>
              </a:rPr>
              <a:t>Pedestrian or cyclist crossing</a:t>
            </a:r>
            <a:endParaRPr lang="en-US" sz="1400" dirty="0"/>
          </a:p>
          <a:p>
            <a:pPr marL="177800" indent="-177800">
              <a:spcAft>
                <a:spcPts val="600"/>
              </a:spcAft>
              <a:buSzPct val="100000"/>
              <a:buChar char="•"/>
            </a:pPr>
            <a:r>
              <a:rPr lang="en-US" sz="1400" dirty="0">
                <a:solidFill>
                  <a:schemeClr val="tx1"/>
                </a:solidFill>
              </a:rPr>
              <a:t>Single vehicle into a pole</a:t>
            </a:r>
            <a:endParaRPr lang="en-US" sz="1400" dirty="0"/>
          </a:p>
        </p:txBody>
      </p:sp>
      <p:sp>
        <p:nvSpPr>
          <p:cNvPr id="7" name="family card 2"/>
          <p:cNvSpPr/>
          <p:nvPr/>
        </p:nvSpPr>
        <p:spPr>
          <a:xfrm>
            <a:off x="3035808" y="1783080"/>
            <a:ext cx="2331720" cy="3337560"/>
          </a:xfrm>
          <a:prstGeom prst="roundRect">
            <a:avLst>
              <a:gd name="adj" fmla="val 3137"/>
            </a:avLst>
          </a:prstGeom>
          <a:solidFill>
            <a:schemeClr val="bg2"/>
          </a:solidFill>
          <a:ln w="12700">
            <a:solidFill>
              <a:schemeClr val="bg2"/>
            </a:solidFill>
            <a:prstDash val="solid"/>
          </a:ln>
        </p:spPr>
      </p:sp>
      <p:sp>
        <p:nvSpPr>
          <p:cNvPr id="8" name="family 2 heading"/>
          <p:cNvSpPr txBox="1"/>
          <p:nvPr/>
        </p:nvSpPr>
        <p:spPr>
          <a:xfrm>
            <a:off x="3264408" y="2011680"/>
            <a:ext cx="1874520" cy="365760"/>
          </a:xfrm>
          <a:prstGeom prst="rect">
            <a:avLst/>
          </a:prstGeom>
          <a:noFill/>
          <a:ln/>
        </p:spPr>
        <p:txBody>
          <a:bodyPr wrap="square" lIns="0" tIns="0" rIns="0" bIns="0" rtlCol="0" anchor="t"/>
          <a:lstStyle/>
          <a:p>
            <a:pPr indent="0" marL="0">
              <a:buNone/>
            </a:pPr>
            <a:r>
              <a:rPr lang="en-US" sz="1600" b="1" dirty="0">
                <a:solidFill>
                  <a:schemeClr val="tx1"/>
                </a:solidFill>
              </a:rPr>
              <a:t>Near-miss · N1–N4</a:t>
            </a:r>
            <a:endParaRPr lang="en-US" sz="1600" dirty="0"/>
          </a:p>
        </p:txBody>
      </p:sp>
      <p:sp>
        <p:nvSpPr>
          <p:cNvPr id="9" name="family 2 list"/>
          <p:cNvSpPr txBox="1"/>
          <p:nvPr/>
        </p:nvSpPr>
        <p:spPr>
          <a:xfrm>
            <a:off x="3264408" y="2514600"/>
            <a:ext cx="1920240" cy="2423160"/>
          </a:xfrm>
          <a:prstGeom prst="rect">
            <a:avLst/>
          </a:prstGeom>
          <a:noFill/>
          <a:ln/>
        </p:spPr>
        <p:txBody>
          <a:bodyPr wrap="square" lIns="0" tIns="0" rIns="0" bIns="0" rtlCol="0" anchor="t"/>
          <a:lstStyle/>
          <a:p>
            <a:pPr marL="177800" indent="-177800">
              <a:spcAft>
                <a:spcPts val="600"/>
              </a:spcAft>
              <a:buSzPct val="100000"/>
              <a:buChar char="•"/>
            </a:pPr>
            <a:r>
              <a:rPr lang="en-US" sz="1400" dirty="0">
                <a:solidFill>
                  <a:schemeClr val="tx1"/>
                </a:solidFill>
              </a:rPr>
              <a:t>Rear-end avoided</a:t>
            </a:r>
            <a:endParaRPr lang="en-US" sz="1400" dirty="0"/>
          </a:p>
          <a:p>
            <a:pPr marL="177800" indent="-177800">
              <a:spcAft>
                <a:spcPts val="600"/>
              </a:spcAft>
              <a:buSzPct val="100000"/>
              <a:buChar char="•"/>
            </a:pPr>
            <a:r>
              <a:rPr lang="en-US" sz="1400" dirty="0">
                <a:solidFill>
                  <a:schemeClr val="tx1"/>
                </a:solidFill>
              </a:rPr>
              <a:t>Cut-in avoided</a:t>
            </a:r>
            <a:endParaRPr lang="en-US" sz="1400" dirty="0"/>
          </a:p>
          <a:p>
            <a:pPr marL="177800" indent="-177800">
              <a:spcAft>
                <a:spcPts val="600"/>
              </a:spcAft>
              <a:buSzPct val="100000"/>
              <a:buChar char="•"/>
            </a:pPr>
            <a:r>
              <a:rPr lang="en-US" sz="1400" dirty="0">
                <a:solidFill>
                  <a:schemeClr val="tx1"/>
                </a:solidFill>
              </a:rPr>
              <a:t>Junction conflict</a:t>
            </a:r>
            <a:endParaRPr lang="en-US" sz="1400" dirty="0"/>
          </a:p>
          <a:p>
            <a:pPr marL="177800" indent="-177800">
              <a:spcAft>
                <a:spcPts val="600"/>
              </a:spcAft>
              <a:buSzPct val="100000"/>
              <a:buChar char="•"/>
            </a:pPr>
            <a:r>
              <a:rPr lang="en-US" sz="1400" dirty="0">
                <a:solidFill>
                  <a:schemeClr val="tx1"/>
                </a:solidFill>
              </a:rPr>
              <a:t>Pedestrian or cyclist conflict</a:t>
            </a:r>
            <a:endParaRPr lang="en-US" sz="1400" dirty="0"/>
          </a:p>
        </p:txBody>
      </p:sp>
      <p:sp>
        <p:nvSpPr>
          <p:cNvPr id="10" name="family card 3"/>
          <p:cNvSpPr/>
          <p:nvPr/>
        </p:nvSpPr>
        <p:spPr>
          <a:xfrm>
            <a:off x="5522976" y="1783080"/>
            <a:ext cx="2331720" cy="3337560"/>
          </a:xfrm>
          <a:prstGeom prst="roundRect">
            <a:avLst>
              <a:gd name="adj" fmla="val 3137"/>
            </a:avLst>
          </a:prstGeom>
          <a:solidFill>
            <a:schemeClr val="bg2"/>
          </a:solidFill>
          <a:ln w="12700">
            <a:solidFill>
              <a:schemeClr val="bg2"/>
            </a:solidFill>
            <a:prstDash val="solid"/>
          </a:ln>
        </p:spPr>
      </p:sp>
      <p:sp>
        <p:nvSpPr>
          <p:cNvPr id="11" name="family 3 heading"/>
          <p:cNvSpPr txBox="1"/>
          <p:nvPr/>
        </p:nvSpPr>
        <p:spPr>
          <a:xfrm>
            <a:off x="5751576" y="2011680"/>
            <a:ext cx="1874520" cy="365760"/>
          </a:xfrm>
          <a:prstGeom prst="rect">
            <a:avLst/>
          </a:prstGeom>
          <a:noFill/>
          <a:ln/>
        </p:spPr>
        <p:txBody>
          <a:bodyPr wrap="square" lIns="0" tIns="0" rIns="0" bIns="0" rtlCol="0" anchor="t"/>
          <a:lstStyle/>
          <a:p>
            <a:pPr indent="0" marL="0">
              <a:buNone/>
            </a:pPr>
            <a:r>
              <a:rPr lang="en-US" sz="1600" b="1" dirty="0">
                <a:solidFill>
                  <a:schemeClr val="tx1"/>
                </a:solidFill>
              </a:rPr>
              <a:t>Normal · R1–R4</a:t>
            </a:r>
            <a:endParaRPr lang="en-US" sz="1600" dirty="0"/>
          </a:p>
        </p:txBody>
      </p:sp>
      <p:sp>
        <p:nvSpPr>
          <p:cNvPr id="12" name="family 3 list"/>
          <p:cNvSpPr txBox="1"/>
          <p:nvPr/>
        </p:nvSpPr>
        <p:spPr>
          <a:xfrm>
            <a:off x="5751576" y="2514600"/>
            <a:ext cx="1920240" cy="2423160"/>
          </a:xfrm>
          <a:prstGeom prst="rect">
            <a:avLst/>
          </a:prstGeom>
          <a:noFill/>
          <a:ln/>
        </p:spPr>
        <p:txBody>
          <a:bodyPr wrap="square" lIns="0" tIns="0" rIns="0" bIns="0" rtlCol="0" anchor="t"/>
          <a:lstStyle/>
          <a:p>
            <a:pPr marL="177800" indent="-177800">
              <a:spcAft>
                <a:spcPts val="600"/>
              </a:spcAft>
              <a:buSzPct val="100000"/>
              <a:buChar char="•"/>
            </a:pPr>
            <a:r>
              <a:rPr lang="en-US" sz="1400" dirty="0">
                <a:solidFill>
                  <a:schemeClr val="tx1"/>
                </a:solidFill>
              </a:rPr>
              <a:t>Car following</a:t>
            </a:r>
            <a:endParaRPr lang="en-US" sz="1400" dirty="0"/>
          </a:p>
          <a:p>
            <a:pPr marL="177800" indent="-177800">
              <a:spcAft>
                <a:spcPts val="600"/>
              </a:spcAft>
              <a:buSzPct val="100000"/>
              <a:buChar char="•"/>
            </a:pPr>
            <a:r>
              <a:rPr lang="en-US" sz="1400" dirty="0">
                <a:solidFill>
                  <a:schemeClr val="tx1"/>
                </a:solidFill>
              </a:rPr>
              <a:t>Junction approach</a:t>
            </a:r>
            <a:endParaRPr lang="en-US" sz="1400" dirty="0"/>
          </a:p>
          <a:p>
            <a:pPr marL="177800" indent="-177800">
              <a:spcAft>
                <a:spcPts val="600"/>
              </a:spcAft>
              <a:buSzPct val="100000"/>
              <a:buChar char="•"/>
            </a:pPr>
            <a:r>
              <a:rPr lang="en-US" sz="1400" dirty="0">
                <a:solidFill>
                  <a:schemeClr val="tx1"/>
                </a:solidFill>
              </a:rPr>
              <a:t>Lane change</a:t>
            </a:r>
            <a:endParaRPr lang="en-US" sz="1400" dirty="0"/>
          </a:p>
          <a:p>
            <a:pPr marL="177800" indent="-177800">
              <a:spcAft>
                <a:spcPts val="600"/>
              </a:spcAft>
              <a:buSzPct val="100000"/>
              <a:buChar char="•"/>
            </a:pPr>
            <a:r>
              <a:rPr lang="en-US" sz="1400" dirty="0">
                <a:solidFill>
                  <a:schemeClr val="tx1"/>
                </a:solidFill>
              </a:rPr>
              <a:t>Pedestrian or cyclist nearby</a:t>
            </a:r>
            <a:endParaRPr lang="en-US" sz="1400" dirty="0"/>
          </a:p>
        </p:txBody>
      </p:sp>
      <p:sp>
        <p:nvSpPr>
          <p:cNvPr id="13" name="condition 1 icon circle"/>
          <p:cNvSpPr/>
          <p:nvPr/>
        </p:nvSpPr>
        <p:spPr>
          <a:xfrm>
            <a:off x="8138160" y="1828800"/>
            <a:ext cx="548640" cy="548640"/>
          </a:xfrm>
          <a:prstGeom prst="ellipse">
            <a:avLst/>
          </a:prstGeom>
          <a:solidFill>
            <a:schemeClr val="accent1"/>
          </a:solidFill>
          <a:ln w="12700">
            <a:solidFill>
              <a:schemeClr val="accent1"/>
            </a:solidFill>
            <a:prstDash val="solid"/>
          </a:ln>
        </p:spPr>
      </p:sp>
      <p:pic>
        <p:nvPicPr>
          <p:cNvPr id="14" name="condition 1 icon" descr="condition 1">    </p:cNvPr>
          <p:cNvPicPr>
            <a:picLocks noChangeAspect="1"/>
          </p:cNvPicPr>
          <p:nvPr/>
        </p:nvPicPr>
        <p:blipFill>
          <a:blip r:embed="rId1"/>
          <a:stretch>
            <a:fillRect/>
          </a:stretch>
        </p:blipFill>
        <p:spPr>
          <a:xfrm>
            <a:off x="8269834" y="1960474"/>
            <a:ext cx="285293" cy="285293"/>
          </a:xfrm>
          <a:prstGeom prst="rect">
            <a:avLst/>
          </a:prstGeom>
        </p:spPr>
      </p:pic>
      <p:sp>
        <p:nvSpPr>
          <p:cNvPr id="15" name="condition 1 heading"/>
          <p:cNvSpPr txBox="1"/>
          <p:nvPr/>
        </p:nvSpPr>
        <p:spPr>
          <a:xfrm>
            <a:off x="8869680" y="1783080"/>
            <a:ext cx="2743200" cy="320040"/>
          </a:xfrm>
          <a:prstGeom prst="rect">
            <a:avLst/>
          </a:prstGeom>
          <a:noFill/>
          <a:ln/>
        </p:spPr>
        <p:txBody>
          <a:bodyPr wrap="square" lIns="0" tIns="0" rIns="0" bIns="0" rtlCol="0" anchor="t"/>
          <a:lstStyle/>
          <a:p>
            <a:pPr indent="0" marL="0">
              <a:buNone/>
            </a:pPr>
            <a:r>
              <a:rPr lang="en-US" sz="1500" b="1" dirty="0">
                <a:solidFill>
                  <a:schemeClr val="tx1"/>
                </a:solidFill>
              </a:rPr>
              <a:t>Towns</a:t>
            </a:r>
            <a:endParaRPr lang="en-US" sz="1500" dirty="0"/>
          </a:p>
        </p:txBody>
      </p:sp>
      <p:sp>
        <p:nvSpPr>
          <p:cNvPr id="16" name="condition 1 text"/>
          <p:cNvSpPr txBox="1"/>
          <p:nvPr/>
        </p:nvSpPr>
        <p:spPr>
          <a:xfrm>
            <a:off x="8869680" y="2112264"/>
            <a:ext cx="2743200" cy="731520"/>
          </a:xfrm>
          <a:prstGeom prst="rect">
            <a:avLst/>
          </a:prstGeom>
          <a:noFill/>
          <a:ln/>
        </p:spPr>
        <p:txBody>
          <a:bodyPr wrap="square" lIns="0" tIns="0" rIns="0" bIns="0" rtlCol="0" anchor="t"/>
          <a:lstStyle/>
          <a:p>
            <a:pPr indent="0" marL="0">
              <a:buNone/>
            </a:pPr>
            <a:r>
              <a:rPr lang="en-US" sz="1200" dirty="0">
                <a:solidFill>
                  <a:schemeClr val="accent6"/>
                </a:solidFill>
              </a:rPr>
              <a:t>Town01, 02, 03, 04, 10HD for training; Town05 held out for testing</a:t>
            </a:r>
            <a:endParaRPr lang="en-US" sz="1200" dirty="0"/>
          </a:p>
        </p:txBody>
      </p:sp>
      <p:sp>
        <p:nvSpPr>
          <p:cNvPr id="17" name="condition 2 icon circle"/>
          <p:cNvSpPr/>
          <p:nvPr/>
        </p:nvSpPr>
        <p:spPr>
          <a:xfrm>
            <a:off x="8138160" y="2971800"/>
            <a:ext cx="548640" cy="548640"/>
          </a:xfrm>
          <a:prstGeom prst="ellipse">
            <a:avLst/>
          </a:prstGeom>
          <a:solidFill>
            <a:schemeClr val="accent1"/>
          </a:solidFill>
          <a:ln w="12700">
            <a:solidFill>
              <a:schemeClr val="accent1"/>
            </a:solidFill>
            <a:prstDash val="solid"/>
          </a:ln>
        </p:spPr>
      </p:sp>
      <p:pic>
        <p:nvPicPr>
          <p:cNvPr id="18" name="condition 2 icon" descr="condition 2">    </p:cNvPr>
          <p:cNvPicPr>
            <a:picLocks noChangeAspect="1"/>
          </p:cNvPicPr>
          <p:nvPr/>
        </p:nvPicPr>
        <p:blipFill>
          <a:blip r:embed="rId2"/>
          <a:stretch>
            <a:fillRect/>
          </a:stretch>
        </p:blipFill>
        <p:spPr>
          <a:xfrm>
            <a:off x="8269834" y="3103474"/>
            <a:ext cx="285293" cy="285293"/>
          </a:xfrm>
          <a:prstGeom prst="rect">
            <a:avLst/>
          </a:prstGeom>
        </p:spPr>
      </p:pic>
      <p:sp>
        <p:nvSpPr>
          <p:cNvPr id="19" name="condition 2 heading"/>
          <p:cNvSpPr txBox="1"/>
          <p:nvPr/>
        </p:nvSpPr>
        <p:spPr>
          <a:xfrm>
            <a:off x="8869680" y="2926080"/>
            <a:ext cx="2743200" cy="320040"/>
          </a:xfrm>
          <a:prstGeom prst="rect">
            <a:avLst/>
          </a:prstGeom>
          <a:noFill/>
          <a:ln/>
        </p:spPr>
        <p:txBody>
          <a:bodyPr wrap="square" lIns="0" tIns="0" rIns="0" bIns="0" rtlCol="0" anchor="t"/>
          <a:lstStyle/>
          <a:p>
            <a:pPr indent="0" marL="0">
              <a:buNone/>
            </a:pPr>
            <a:r>
              <a:rPr lang="en-US" sz="1500" b="1" dirty="0">
                <a:solidFill>
                  <a:schemeClr val="tx1"/>
                </a:solidFill>
              </a:rPr>
              <a:t>Weather and light</a:t>
            </a:r>
            <a:endParaRPr lang="en-US" sz="1500" dirty="0"/>
          </a:p>
        </p:txBody>
      </p:sp>
      <p:sp>
        <p:nvSpPr>
          <p:cNvPr id="20" name="condition 2 text"/>
          <p:cNvSpPr txBox="1"/>
          <p:nvPr/>
        </p:nvSpPr>
        <p:spPr>
          <a:xfrm>
            <a:off x="8869680" y="3255264"/>
            <a:ext cx="2743200" cy="731520"/>
          </a:xfrm>
          <a:prstGeom prst="rect">
            <a:avLst/>
          </a:prstGeom>
          <a:noFill/>
          <a:ln/>
        </p:spPr>
        <p:txBody>
          <a:bodyPr wrap="square" lIns="0" tIns="0" rIns="0" bIns="0" rtlCol="0" anchor="t"/>
          <a:lstStyle/>
          <a:p>
            <a:pPr indent="0" marL="0">
              <a:buNone/>
            </a:pPr>
            <a:r>
              <a:rPr lang="en-US" sz="1200" dirty="0">
                <a:solidFill>
                  <a:schemeClr val="accent6"/>
                </a:solidFill>
              </a:rPr>
              <a:t>8 conditions: clear noon, sunset, night, cloudy, wet, rain night, hard rain, fog</a:t>
            </a:r>
            <a:endParaRPr lang="en-US" sz="1200" dirty="0"/>
          </a:p>
        </p:txBody>
      </p:sp>
      <p:sp>
        <p:nvSpPr>
          <p:cNvPr id="21" name="condition 3 icon circle"/>
          <p:cNvSpPr/>
          <p:nvPr/>
        </p:nvSpPr>
        <p:spPr>
          <a:xfrm>
            <a:off x="8138160" y="4114800"/>
            <a:ext cx="548640" cy="548640"/>
          </a:xfrm>
          <a:prstGeom prst="ellipse">
            <a:avLst/>
          </a:prstGeom>
          <a:solidFill>
            <a:schemeClr val="accent1"/>
          </a:solidFill>
          <a:ln w="12700">
            <a:solidFill>
              <a:schemeClr val="accent1"/>
            </a:solidFill>
            <a:prstDash val="solid"/>
          </a:ln>
        </p:spPr>
      </p:sp>
      <p:pic>
        <p:nvPicPr>
          <p:cNvPr id="22" name="condition 3 icon" descr="condition 3">    </p:cNvPr>
          <p:cNvPicPr>
            <a:picLocks noChangeAspect="1"/>
          </p:cNvPicPr>
          <p:nvPr/>
        </p:nvPicPr>
        <p:blipFill>
          <a:blip r:embed="rId3"/>
          <a:stretch>
            <a:fillRect/>
          </a:stretch>
        </p:blipFill>
        <p:spPr>
          <a:xfrm>
            <a:off x="8269834" y="4246474"/>
            <a:ext cx="285293" cy="285293"/>
          </a:xfrm>
          <a:prstGeom prst="rect">
            <a:avLst/>
          </a:prstGeom>
        </p:spPr>
      </p:pic>
      <p:sp>
        <p:nvSpPr>
          <p:cNvPr id="23" name="condition 3 heading"/>
          <p:cNvSpPr txBox="1"/>
          <p:nvPr/>
        </p:nvSpPr>
        <p:spPr>
          <a:xfrm>
            <a:off x="8869680" y="4069080"/>
            <a:ext cx="2743200" cy="320040"/>
          </a:xfrm>
          <a:prstGeom prst="rect">
            <a:avLst/>
          </a:prstGeom>
          <a:noFill/>
          <a:ln/>
        </p:spPr>
        <p:txBody>
          <a:bodyPr wrap="square" lIns="0" tIns="0" rIns="0" bIns="0" rtlCol="0" anchor="t"/>
          <a:lstStyle/>
          <a:p>
            <a:pPr indent="0" marL="0">
              <a:buNone/>
            </a:pPr>
            <a:r>
              <a:rPr lang="en-US" sz="1500" b="1" dirty="0">
                <a:solidFill>
                  <a:schemeClr val="tx1"/>
                </a:solidFill>
              </a:rPr>
              <a:t>Sensors</a:t>
            </a:r>
            <a:endParaRPr lang="en-US" sz="1500" dirty="0"/>
          </a:p>
        </p:txBody>
      </p:sp>
      <p:sp>
        <p:nvSpPr>
          <p:cNvPr id="24" name="condition 3 text"/>
          <p:cNvSpPr txBox="1"/>
          <p:nvPr/>
        </p:nvSpPr>
        <p:spPr>
          <a:xfrm>
            <a:off x="8869680" y="4398264"/>
            <a:ext cx="2743200" cy="731520"/>
          </a:xfrm>
          <a:prstGeom prst="rect">
            <a:avLst/>
          </a:prstGeom>
          <a:noFill/>
          <a:ln/>
        </p:spPr>
        <p:txBody>
          <a:bodyPr wrap="square" lIns="0" tIns="0" rIns="0" bIns="0" rtlCol="0" anchor="t"/>
          <a:lstStyle/>
          <a:p>
            <a:pPr indent="0" marL="0">
              <a:buNone/>
            </a:pPr>
            <a:r>
              <a:rPr lang="en-US" sz="1200" dirty="0">
                <a:solidFill>
                  <a:schemeClr val="accent6"/>
                </a:solidFill>
              </a:rPr>
              <a:t>RGB 1280×720, depth, 32-channel LiDAR, radar, IMU, GNSS, collision; all synchronised by frame</a:t>
            </a:r>
            <a:endParaRPr lang="en-US" sz="1200" dirty="0"/>
          </a:p>
        </p:txBody>
      </p:sp>
      <p:sp>
        <p:nvSpPr>
          <p:cNvPr id="25" name="generator note"/>
          <p:cNvSpPr txBox="1"/>
          <p:nvPr/>
        </p:nvSpPr>
        <p:spPr>
          <a:xfrm>
            <a:off x="548640" y="5349240"/>
            <a:ext cx="11094415" cy="411480"/>
          </a:xfrm>
          <a:prstGeom prst="rect">
            <a:avLst/>
          </a:prstGeom>
          <a:noFill/>
          <a:ln/>
        </p:spPr>
        <p:txBody>
          <a:bodyPr wrap="square" lIns="0" tIns="0" rIns="0" bIns="0" rtlCol="0" anchor="t"/>
          <a:lstStyle/>
          <a:p>
            <a:pPr indent="0" marL="0">
              <a:buNone/>
            </a:pPr>
            <a:r>
              <a:rPr lang="en-US" sz="1400" dirty="0">
                <a:solidFill>
                  <a:schemeClr val="accent6"/>
                </a:solidFill>
              </a:rPr>
              <a:t>3 traffic densities. Actors are placed in advance (no pop-in); triggers are timed in closed loop.</a:t>
            </a:r>
            <a:endParaRPr lang="en-US" sz="14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chemeClr val="accent6"/>
                </a:solidFil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731520"/>
          </a:xfrm>
          <a:prstGeom prst="rect">
            <a:avLst/>
          </a:prstGeom>
          <a:noFill/>
          <a:ln/>
        </p:spPr>
        <p:txBody>
          <a:bodyPr wrap="square" lIns="0" tIns="0" rIns="0" bIns="0" rtlCol="0" anchor="b"/>
          <a:lstStyle/>
          <a:p>
            <a:pPr algn="l" indent="0" marL="0">
              <a:buNone/>
            </a:pPr>
            <a:r>
              <a:rPr lang="en-US" sz="3400" b="1" dirty="0">
                <a:solidFill>
                  <a:schemeClr val="tx1"/>
                </a:solidFill>
              </a:rPr>
              <a:t>Labels are measured, never assumed</a:t>
            </a:r>
            <a:endParaRPr lang="en-US" sz="3400" dirty="0"/>
          </a:p>
        </p:txBody>
      </p:sp>
      <p:sp>
        <p:nvSpPr>
          <p:cNvPr id="3" name="Text 0"/>
          <p:cNvSpPr/>
          <p:nvPr>
            <p:ph idx="101" type="body" hasCustomPrompt="1"/>
          </p:nvPr>
        </p:nvSpPr>
        <p:spPr>
          <a:xfrm>
            <a:off x="548640" y="1078992"/>
            <a:ext cx="11094415" cy="411480"/>
          </a:xfrm>
          <a:prstGeom prst="rect">
            <a:avLst/>
          </a:prstGeom>
          <a:noFill/>
          <a:ln/>
        </p:spPr>
        <p:txBody>
          <a:bodyPr wrap="square" lIns="0" tIns="0" rIns="0" bIns="0" rtlCol="0" anchor="t"/>
          <a:lstStyle/>
          <a:p>
            <a:pPr indent="0" marL="0">
              <a:buNone/>
            </a:pPr>
            <a:r>
              <a:rPr lang="en-US" sz="1600" dirty="0">
                <a:solidFill>
                  <a:schemeClr val="accent6"/>
                </a:solidFill>
              </a:rPr>
              <a:t>Outcome comes from the collision sensor and a predicted-overlap time-to-collision (TTC), then 20+ automatic checks</a:t>
            </a:r>
            <a:endParaRPr lang="en-US" sz="1600" dirty="0"/>
          </a:p>
        </p:txBody>
      </p:sp>
      <p:sp>
        <p:nvSpPr>
          <p:cNvPr id="4" name="label card 1"/>
          <p:cNvSpPr/>
          <p:nvPr/>
        </p:nvSpPr>
        <p:spPr>
          <a:xfrm>
            <a:off x="548640" y="1783080"/>
            <a:ext cx="3337560" cy="1417320"/>
          </a:xfrm>
          <a:prstGeom prst="roundRect">
            <a:avLst>
              <a:gd name="adj" fmla="val 5161"/>
            </a:avLst>
          </a:prstGeom>
          <a:solidFill>
            <a:schemeClr val="bg2"/>
          </a:solidFill>
          <a:ln w="12700">
            <a:solidFill>
              <a:schemeClr val="bg2"/>
            </a:solidFill>
            <a:prstDash val="solid"/>
          </a:ln>
        </p:spPr>
      </p:sp>
      <p:sp>
        <p:nvSpPr>
          <p:cNvPr id="5" name="label 1 name"/>
          <p:cNvSpPr txBox="1"/>
          <p:nvPr/>
        </p:nvSpPr>
        <p:spPr>
          <a:xfrm>
            <a:off x="777240" y="1984248"/>
            <a:ext cx="2880360" cy="365760"/>
          </a:xfrm>
          <a:prstGeom prst="rect">
            <a:avLst/>
          </a:prstGeom>
          <a:noFill/>
          <a:ln/>
        </p:spPr>
        <p:txBody>
          <a:bodyPr wrap="square" lIns="0" tIns="0" rIns="0" bIns="0" rtlCol="0" anchor="t"/>
          <a:lstStyle/>
          <a:p>
            <a:pPr indent="0" marL="0">
              <a:buNone/>
            </a:pPr>
            <a:r>
              <a:rPr lang="en-US" sz="1800" b="1" dirty="0">
                <a:solidFill>
                  <a:schemeClr val="tx1"/>
                </a:solidFill>
              </a:rPr>
              <a:t>Crash</a:t>
            </a:r>
            <a:endParaRPr lang="en-US" sz="1800" dirty="0"/>
          </a:p>
        </p:txBody>
      </p:sp>
      <p:sp>
        <p:nvSpPr>
          <p:cNvPr id="6" name="label 1 rule"/>
          <p:cNvSpPr txBox="1"/>
          <p:nvPr/>
        </p:nvSpPr>
        <p:spPr>
          <a:xfrm>
            <a:off x="777240" y="2404872"/>
            <a:ext cx="2880360" cy="685800"/>
          </a:xfrm>
          <a:prstGeom prst="rect">
            <a:avLst/>
          </a:prstGeom>
          <a:noFill/>
          <a:ln/>
        </p:spPr>
        <p:txBody>
          <a:bodyPr wrap="square" lIns="0" tIns="0" rIns="0" bIns="0" rtlCol="0" anchor="t"/>
          <a:lstStyle/>
          <a:p>
            <a:pPr indent="0" marL="0">
              <a:buNone/>
            </a:pPr>
            <a:r>
              <a:rPr lang="en-US" sz="1400" dirty="0">
                <a:solidFill>
                  <a:schemeClr val="accent6"/>
                </a:solidFill>
              </a:rPr>
              <a:t>any collision of the ego car</a:t>
            </a:r>
            <a:endParaRPr lang="en-US" sz="1400" dirty="0"/>
          </a:p>
        </p:txBody>
      </p:sp>
      <p:sp>
        <p:nvSpPr>
          <p:cNvPr id="7" name="label card 2"/>
          <p:cNvSpPr/>
          <p:nvPr/>
        </p:nvSpPr>
        <p:spPr>
          <a:xfrm>
            <a:off x="4069080" y="1783080"/>
            <a:ext cx="3337560" cy="1417320"/>
          </a:xfrm>
          <a:prstGeom prst="roundRect">
            <a:avLst>
              <a:gd name="adj" fmla="val 5161"/>
            </a:avLst>
          </a:prstGeom>
          <a:solidFill>
            <a:schemeClr val="bg2"/>
          </a:solidFill>
          <a:ln w="12700">
            <a:solidFill>
              <a:schemeClr val="bg2"/>
            </a:solidFill>
            <a:prstDash val="solid"/>
          </a:ln>
        </p:spPr>
      </p:sp>
      <p:sp>
        <p:nvSpPr>
          <p:cNvPr id="8" name="label 2 name"/>
          <p:cNvSpPr txBox="1"/>
          <p:nvPr/>
        </p:nvSpPr>
        <p:spPr>
          <a:xfrm>
            <a:off x="4297680" y="1984248"/>
            <a:ext cx="2880360" cy="365760"/>
          </a:xfrm>
          <a:prstGeom prst="rect">
            <a:avLst/>
          </a:prstGeom>
          <a:noFill/>
          <a:ln/>
        </p:spPr>
        <p:txBody>
          <a:bodyPr wrap="square" lIns="0" tIns="0" rIns="0" bIns="0" rtlCol="0" anchor="t"/>
          <a:lstStyle/>
          <a:p>
            <a:pPr indent="0" marL="0">
              <a:buNone/>
            </a:pPr>
            <a:r>
              <a:rPr lang="en-US" sz="1800" b="1" dirty="0">
                <a:solidFill>
                  <a:schemeClr val="tx1"/>
                </a:solidFill>
              </a:rPr>
              <a:t>Near-miss</a:t>
            </a:r>
            <a:endParaRPr lang="en-US" sz="1800" dirty="0"/>
          </a:p>
        </p:txBody>
      </p:sp>
      <p:sp>
        <p:nvSpPr>
          <p:cNvPr id="9" name="label 2 rule"/>
          <p:cNvSpPr txBox="1"/>
          <p:nvPr/>
        </p:nvSpPr>
        <p:spPr>
          <a:xfrm>
            <a:off x="4297680" y="2404872"/>
            <a:ext cx="2880360" cy="685800"/>
          </a:xfrm>
          <a:prstGeom prst="rect">
            <a:avLst/>
          </a:prstGeom>
          <a:noFill/>
          <a:ln/>
        </p:spPr>
        <p:txBody>
          <a:bodyPr wrap="square" lIns="0" tIns="0" rIns="0" bIns="0" rtlCol="0" anchor="t"/>
          <a:lstStyle/>
          <a:p>
            <a:pPr indent="0" marL="0">
              <a:buNone/>
            </a:pPr>
            <a:r>
              <a:rPr lang="en-US" sz="1400" dirty="0">
                <a:solidFill>
                  <a:schemeClr val="accent6"/>
                </a:solidFill>
              </a:rPr>
              <a:t>no collision; the same actor comes within 1.5 m and ≤ 1.5 s TTC</a:t>
            </a:r>
            <a:endParaRPr lang="en-US" sz="1400" dirty="0"/>
          </a:p>
        </p:txBody>
      </p:sp>
      <p:sp>
        <p:nvSpPr>
          <p:cNvPr id="10" name="label card 3"/>
          <p:cNvSpPr/>
          <p:nvPr/>
        </p:nvSpPr>
        <p:spPr>
          <a:xfrm>
            <a:off x="548640" y="3383280"/>
            <a:ext cx="3337560" cy="1417320"/>
          </a:xfrm>
          <a:prstGeom prst="roundRect">
            <a:avLst>
              <a:gd name="adj" fmla="val 5161"/>
            </a:avLst>
          </a:prstGeom>
          <a:solidFill>
            <a:schemeClr val="bg2"/>
          </a:solidFill>
          <a:ln w="12700">
            <a:solidFill>
              <a:schemeClr val="bg2"/>
            </a:solidFill>
            <a:prstDash val="solid"/>
          </a:ln>
        </p:spPr>
      </p:sp>
      <p:sp>
        <p:nvSpPr>
          <p:cNvPr id="11" name="label 3 name"/>
          <p:cNvSpPr txBox="1"/>
          <p:nvPr/>
        </p:nvSpPr>
        <p:spPr>
          <a:xfrm>
            <a:off x="777240" y="3584448"/>
            <a:ext cx="2880360" cy="365760"/>
          </a:xfrm>
          <a:prstGeom prst="rect">
            <a:avLst/>
          </a:prstGeom>
          <a:noFill/>
          <a:ln/>
        </p:spPr>
        <p:txBody>
          <a:bodyPr wrap="square" lIns="0" tIns="0" rIns="0" bIns="0" rtlCol="0" anchor="t"/>
          <a:lstStyle/>
          <a:p>
            <a:pPr indent="0" marL="0">
              <a:buNone/>
            </a:pPr>
            <a:r>
              <a:rPr lang="en-US" sz="1800" b="1" dirty="0">
                <a:solidFill>
                  <a:schemeClr val="tx1"/>
                </a:solidFill>
              </a:rPr>
              <a:t>Normal</a:t>
            </a:r>
            <a:endParaRPr lang="en-US" sz="1800" dirty="0"/>
          </a:p>
        </p:txBody>
      </p:sp>
      <p:sp>
        <p:nvSpPr>
          <p:cNvPr id="12" name="label 3 rule"/>
          <p:cNvSpPr txBox="1"/>
          <p:nvPr/>
        </p:nvSpPr>
        <p:spPr>
          <a:xfrm>
            <a:off x="777240" y="4005072"/>
            <a:ext cx="2880360" cy="685800"/>
          </a:xfrm>
          <a:prstGeom prst="rect">
            <a:avLst/>
          </a:prstGeom>
          <a:noFill/>
          <a:ln/>
        </p:spPr>
        <p:txBody>
          <a:bodyPr wrap="square" lIns="0" tIns="0" rIns="0" bIns="0" rtlCol="0" anchor="t"/>
          <a:lstStyle/>
          <a:p>
            <a:pPr indent="0" marL="0">
              <a:buNone/>
            </a:pPr>
            <a:r>
              <a:rPr lang="en-US" sz="1400" dirty="0">
                <a:solidFill>
                  <a:schemeClr val="accent6"/>
                </a:solidFill>
              </a:rPr>
              <a:t>no collision and minimum TTC above 3 s</a:t>
            </a:r>
            <a:endParaRPr lang="en-US" sz="1400" dirty="0"/>
          </a:p>
        </p:txBody>
      </p:sp>
      <p:sp>
        <p:nvSpPr>
          <p:cNvPr id="13" name="label card 4"/>
          <p:cNvSpPr/>
          <p:nvPr/>
        </p:nvSpPr>
        <p:spPr>
          <a:xfrm>
            <a:off x="4069080" y="3383280"/>
            <a:ext cx="3337560" cy="1417320"/>
          </a:xfrm>
          <a:prstGeom prst="roundRect">
            <a:avLst>
              <a:gd name="adj" fmla="val 5161"/>
            </a:avLst>
          </a:prstGeom>
          <a:solidFill>
            <a:schemeClr val="bg2"/>
          </a:solidFill>
          <a:ln w="12700">
            <a:solidFill>
              <a:schemeClr val="bg2"/>
            </a:solidFill>
            <a:prstDash val="solid"/>
          </a:ln>
        </p:spPr>
      </p:sp>
      <p:sp>
        <p:nvSpPr>
          <p:cNvPr id="14" name="label 4 name"/>
          <p:cNvSpPr txBox="1"/>
          <p:nvPr/>
        </p:nvSpPr>
        <p:spPr>
          <a:xfrm>
            <a:off x="4297680" y="3584448"/>
            <a:ext cx="2880360" cy="365760"/>
          </a:xfrm>
          <a:prstGeom prst="rect">
            <a:avLst/>
          </a:prstGeom>
          <a:noFill/>
          <a:ln/>
        </p:spPr>
        <p:txBody>
          <a:bodyPr wrap="square" lIns="0" tIns="0" rIns="0" bIns="0" rtlCol="0" anchor="t"/>
          <a:lstStyle/>
          <a:p>
            <a:pPr indent="0" marL="0">
              <a:buNone/>
            </a:pPr>
            <a:r>
              <a:rPr lang="en-US" sz="1800" b="1" dirty="0">
                <a:solidFill>
                  <a:schemeClr val="tx1"/>
                </a:solidFill>
              </a:rPr>
              <a:t>Invalid</a:t>
            </a:r>
            <a:endParaRPr lang="en-US" sz="1800" dirty="0"/>
          </a:p>
        </p:txBody>
      </p:sp>
      <p:sp>
        <p:nvSpPr>
          <p:cNvPr id="15" name="label 4 rule"/>
          <p:cNvSpPr txBox="1"/>
          <p:nvPr/>
        </p:nvSpPr>
        <p:spPr>
          <a:xfrm>
            <a:off x="4297680" y="4005072"/>
            <a:ext cx="2880360" cy="685800"/>
          </a:xfrm>
          <a:prstGeom prst="rect">
            <a:avLst/>
          </a:prstGeom>
          <a:noFill/>
          <a:ln/>
        </p:spPr>
        <p:txBody>
          <a:bodyPr wrap="square" lIns="0" tIns="0" rIns="0" bIns="0" rtlCol="0" anchor="t"/>
          <a:lstStyle/>
          <a:p>
            <a:pPr indent="0" marL="0">
              <a:buNone/>
            </a:pPr>
            <a:r>
              <a:rPr lang="en-US" sz="1400" dirty="0">
                <a:solidFill>
                  <a:schemeClr val="accent6"/>
                </a:solidFill>
              </a:rPr>
              <a:t>anything in between: kept on disk, never trained on</a:t>
            </a:r>
            <a:endParaRPr lang="en-US" sz="1400" dirty="0"/>
          </a:p>
        </p:txBody>
      </p:sp>
      <p:sp>
        <p:nvSpPr>
          <p:cNvPr id="16" name="validation note"/>
          <p:cNvSpPr txBox="1"/>
          <p:nvPr/>
        </p:nvSpPr>
        <p:spPr>
          <a:xfrm>
            <a:off x="548640" y="5120640"/>
            <a:ext cx="6858000" cy="685800"/>
          </a:xfrm>
          <a:prstGeom prst="rect">
            <a:avLst/>
          </a:prstGeom>
          <a:noFill/>
          <a:ln/>
        </p:spPr>
        <p:txBody>
          <a:bodyPr wrap="square" lIns="0" tIns="0" rIns="0" bIns="0" rtlCol="0" anchor="t"/>
          <a:lstStyle/>
          <a:p>
            <a:pPr indent="0" marL="0">
              <a:buNone/>
            </a:pPr>
            <a:r>
              <a:rPr lang="en-US" sz="1400" dirty="0">
                <a:solidFill>
                  <a:schemeClr val="tx1"/>
                </a:solidFill>
              </a:rPr>
              <a:t>Checks: synchronisation, files, labels, physics, provenance → PASS / WARN / FAIL. A clip is usable when nothing FAILs.</a:t>
            </a:r>
            <a:endParaRPr lang="en-US" sz="1400" dirty="0"/>
          </a:p>
        </p:txBody>
      </p:sp>
      <p:sp>
        <p:nvSpPr>
          <p:cNvPr id="17" name="pilot stat 1"/>
          <p:cNvSpPr txBox="1"/>
          <p:nvPr/>
        </p:nvSpPr>
        <p:spPr>
          <a:xfrm>
            <a:off x="8092440" y="1783080"/>
            <a:ext cx="3520440" cy="640080"/>
          </a:xfrm>
          <a:prstGeom prst="rect">
            <a:avLst/>
          </a:prstGeom>
          <a:noFill/>
          <a:ln/>
        </p:spPr>
        <p:txBody>
          <a:bodyPr wrap="square" lIns="0" tIns="0" rIns="0" bIns="0" rtlCol="0" anchor="t"/>
          <a:lstStyle/>
          <a:p>
            <a:pPr indent="0" marL="0">
              <a:buNone/>
            </a:pPr>
            <a:r>
              <a:rPr lang="en-US" sz="3400" b="1" dirty="0">
                <a:solidFill>
                  <a:schemeClr val="tx1"/>
                </a:solidFill>
                <a:latin typeface="Cambria" pitchFamily="34" charset="0"/>
                <a:ea typeface="Cambria" pitchFamily="34" charset="-122"/>
                <a:cs typeface="Cambria" pitchFamily="34" charset="-120"/>
              </a:rPr>
              <a:t>0</a:t>
            </a:r>
            <a:endParaRPr lang="en-US" sz="3400" dirty="0"/>
          </a:p>
        </p:txBody>
      </p:sp>
      <p:sp>
        <p:nvSpPr>
          <p:cNvPr id="18" name="pilot stat 1 label"/>
          <p:cNvSpPr txBox="1"/>
          <p:nvPr/>
        </p:nvSpPr>
        <p:spPr>
          <a:xfrm>
            <a:off x="8092440" y="2404872"/>
            <a:ext cx="3520440" cy="548640"/>
          </a:xfrm>
          <a:prstGeom prst="rect">
            <a:avLst/>
          </a:prstGeom>
          <a:noFill/>
          <a:ln/>
        </p:spPr>
        <p:txBody>
          <a:bodyPr wrap="square" lIns="0" tIns="0" rIns="0" bIns="0" rtlCol="0" anchor="t"/>
          <a:lstStyle/>
          <a:p>
            <a:pPr indent="0" marL="0">
              <a:buNone/>
            </a:pPr>
            <a:r>
              <a:rPr lang="en-US" sz="1300" dirty="0">
                <a:solidFill>
                  <a:schemeClr val="accent6"/>
                </a:solidFill>
              </a:rPr>
              <a:t>synchronisation failures in the pilot (243 clips)</a:t>
            </a:r>
            <a:endParaRPr lang="en-US" sz="1300" dirty="0"/>
          </a:p>
        </p:txBody>
      </p:sp>
      <p:sp>
        <p:nvSpPr>
          <p:cNvPr id="19" name="pilot stat 2"/>
          <p:cNvSpPr txBox="1"/>
          <p:nvPr/>
        </p:nvSpPr>
        <p:spPr>
          <a:xfrm>
            <a:off x="8092440" y="3108960"/>
            <a:ext cx="3520440" cy="640080"/>
          </a:xfrm>
          <a:prstGeom prst="rect">
            <a:avLst/>
          </a:prstGeom>
          <a:noFill/>
          <a:ln/>
        </p:spPr>
        <p:txBody>
          <a:bodyPr wrap="square" lIns="0" tIns="0" rIns="0" bIns="0" rtlCol="0" anchor="t"/>
          <a:lstStyle/>
          <a:p>
            <a:pPr indent="0" marL="0">
              <a:buNone/>
            </a:pPr>
            <a:r>
              <a:rPr lang="en-US" sz="3400" b="1" dirty="0">
                <a:solidFill>
                  <a:schemeClr val="tx1"/>
                </a:solidFill>
                <a:latin typeface="Cambria" pitchFamily="34" charset="0"/>
                <a:ea typeface="Cambria" pitchFamily="34" charset="-122"/>
                <a:cs typeface="Cambria" pitchFamily="34" charset="-120"/>
              </a:rPr>
              <a:t>0.04–0.11 m</a:t>
            </a:r>
            <a:endParaRPr lang="en-US" sz="3400" dirty="0"/>
          </a:p>
        </p:txBody>
      </p:sp>
      <p:sp>
        <p:nvSpPr>
          <p:cNvPr id="20" name="pilot stat 2 label"/>
          <p:cNvSpPr txBox="1"/>
          <p:nvPr/>
        </p:nvSpPr>
        <p:spPr>
          <a:xfrm>
            <a:off x="8092440" y="3730752"/>
            <a:ext cx="3520440" cy="548640"/>
          </a:xfrm>
          <a:prstGeom prst="rect">
            <a:avLst/>
          </a:prstGeom>
          <a:noFill/>
          <a:ln/>
        </p:spPr>
        <p:txBody>
          <a:bodyPr wrap="square" lIns="0" tIns="0" rIns="0" bIns="0" rtlCol="0" anchor="t"/>
          <a:lstStyle/>
          <a:p>
            <a:pPr indent="0" marL="0">
              <a:buNone/>
            </a:pPr>
            <a:r>
              <a:rPr lang="en-US" sz="1300" dirty="0">
                <a:solidFill>
                  <a:schemeClr val="accent6"/>
                </a:solidFill>
              </a:rPr>
              <a:t>median sensor-to-truth gap error (depth, LiDAR, radar)</a:t>
            </a:r>
            <a:endParaRPr lang="en-US" sz="1300" dirty="0"/>
          </a:p>
        </p:txBody>
      </p:sp>
      <p:sp>
        <p:nvSpPr>
          <p:cNvPr id="21" name="pilot stat 3"/>
          <p:cNvSpPr txBox="1"/>
          <p:nvPr/>
        </p:nvSpPr>
        <p:spPr>
          <a:xfrm>
            <a:off x="8092440" y="4434840"/>
            <a:ext cx="3520440" cy="640080"/>
          </a:xfrm>
          <a:prstGeom prst="rect">
            <a:avLst/>
          </a:prstGeom>
          <a:noFill/>
          <a:ln/>
        </p:spPr>
        <p:txBody>
          <a:bodyPr wrap="square" lIns="0" tIns="0" rIns="0" bIns="0" rtlCol="0" anchor="t"/>
          <a:lstStyle/>
          <a:p>
            <a:pPr indent="0" marL="0">
              <a:buNone/>
            </a:pPr>
            <a:r>
              <a:rPr lang="en-US" sz="3400" b="1" dirty="0">
                <a:solidFill>
                  <a:schemeClr val="tx1"/>
                </a:solidFill>
                <a:latin typeface="Cambria" pitchFamily="34" charset="0"/>
                <a:ea typeface="Cambria" pitchFamily="34" charset="-122"/>
                <a:cs typeface="Cambria" pitchFamily="34" charset="-120"/>
              </a:rPr>
              <a:t>24</a:t>
            </a:r>
            <a:endParaRPr lang="en-US" sz="3400" dirty="0"/>
          </a:p>
        </p:txBody>
      </p:sp>
      <p:sp>
        <p:nvSpPr>
          <p:cNvPr id="22" name="pilot stat 3 label"/>
          <p:cNvSpPr txBox="1"/>
          <p:nvPr/>
        </p:nvSpPr>
        <p:spPr>
          <a:xfrm>
            <a:off x="8092440" y="5056632"/>
            <a:ext cx="3520440" cy="548640"/>
          </a:xfrm>
          <a:prstGeom prst="rect">
            <a:avLst/>
          </a:prstGeom>
          <a:noFill/>
          <a:ln/>
        </p:spPr>
        <p:txBody>
          <a:bodyPr wrap="square" lIns="0" tIns="0" rIns="0" bIns="0" rtlCol="0" anchor="t"/>
          <a:lstStyle/>
          <a:p>
            <a:pPr indent="0" marL="0">
              <a:buNone/>
            </a:pPr>
            <a:r>
              <a:rPr lang="en-US" sz="1300" dirty="0">
                <a:solidFill>
                  <a:schemeClr val="accent6"/>
                </a:solidFill>
              </a:rPr>
              <a:t>unit tests, all passing</a:t>
            </a:r>
            <a:endParaRPr lang="en-US" sz="13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chemeClr val="accent6"/>
                </a:solidFill>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731520"/>
          </a:xfrm>
          <a:prstGeom prst="rect">
            <a:avLst/>
          </a:prstGeom>
          <a:noFill/>
          <a:ln/>
        </p:spPr>
        <p:txBody>
          <a:bodyPr wrap="square" lIns="0" tIns="0" rIns="0" bIns="0" rtlCol="0" anchor="b"/>
          <a:lstStyle/>
          <a:p>
            <a:pPr algn="l" indent="0" marL="0">
              <a:buNone/>
            </a:pPr>
            <a:r>
              <a:rPr lang="en-US" sz="3400" b="1" dirty="0">
                <a:solidFill>
                  <a:schemeClr val="tx1"/>
                </a:solidFill>
              </a:rPr>
              <a:t>Data: one twin, three real datasets</a:t>
            </a:r>
            <a:endParaRPr lang="en-US" sz="3400" dirty="0"/>
          </a:p>
        </p:txBody>
      </p:sp>
      <p:sp>
        <p:nvSpPr>
          <p:cNvPr id="3" name="Text 0"/>
          <p:cNvSpPr/>
          <p:nvPr>
            <p:ph idx="101" type="body" hasCustomPrompt="1"/>
          </p:nvPr>
        </p:nvSpPr>
        <p:spPr>
          <a:xfrm>
            <a:off x="548640" y="1078992"/>
            <a:ext cx="11094415" cy="411480"/>
          </a:xfrm>
          <a:prstGeom prst="rect">
            <a:avLst/>
          </a:prstGeom>
          <a:noFill/>
          <a:ln/>
        </p:spPr>
        <p:txBody>
          <a:bodyPr wrap="square" lIns="0" tIns="0" rIns="0" bIns="0" rtlCol="0" anchor="t"/>
          <a:lstStyle/>
          <a:p>
            <a:pPr indent="0" marL="0">
              <a:buNone/>
            </a:pPr>
            <a:r>
              <a:rPr lang="en-US" sz="1600" dirty="0">
                <a:solidFill>
                  <a:schemeClr val="accent6"/>
                </a:solidFill>
              </a:rPr>
              <a:t>Splits are by scenario slot (CARLA) or by source video (CCD), never by frame</a:t>
            </a:r>
            <a:endParaRPr lang="en-US" sz="1600" dirty="0"/>
          </a:p>
        </p:txBody>
      </p:sp>
      <p:graphicFrame>
        <p:nvGraphicFramePr>
          <p:cNvPr id="9" name="datasets table"/>
          <p:cNvGraphicFramePr>
            <a:graphicFrameLocks noGrp="1"/>
          </p:cNvGraphicFramePr>
          <p:nvPr>
            <p:extLst>
              <p:ext uri="{D42A27DB-BD31-4B8C-83A1-F6EECF244321}">
                <p14:modId xmlns:p14="http://schemas.microsoft.com/office/powerpoint/2010/main" val="1579011935"/>
              </p:ext>
            </p:extLst>
          </p:nvPr>
        </p:nvGraphicFramePr>
        <p:xfrm>
          <a:off x="548640" y="1783080"/>
          <a:ext cx="11094415" cy="914400"/>
        </p:xfrm>
        <a:graphic>
          <a:graphicData uri="http://schemas.openxmlformats.org/drawingml/2006/table">
            <a:tbl>
              <a:tblPr/>
              <a:tblGrid>
                <a:gridCol w="1691640"/>
                <a:gridCol w="2240280"/>
                <a:gridCol w="2834640"/>
                <a:gridCol w="3044952"/>
                <a:gridCol w="1280160"/>
              </a:tblGrid>
              <a:tr h="457200">
                <a:tc>
                  <a:txBody>
                    <a:bodyPr/>
                    <a:lstStyle/>
                    <a:p>
                      <a:pPr indent="0" marL="0">
                        <a:buNone/>
                      </a:pPr>
                      <a:r>
                        <a:rPr lang="en-US" sz="1300" b="1" dirty="0">
                          <a:solidFill>
                            <a:schemeClr val="bg1"/>
                          </a:solidFill>
                        </a:rPr>
                        <a:t>Dataset</a:t>
                      </a:r>
                      <a:endParaRPr lang="en-US" sz="1300" dirty="0"/>
                    </a:p>
                  </a:txBody>
                  <a:tcPr marL="91440" marR="91440" marT="54864" marB="54864" anchor="ctr">
                    <a:lnL w="9525" cap="flat" cmpd="sng" algn="ctr">
                      <a:solidFill>
                        <a:srgbClr val="D5DAE1"/>
                      </a:solidFill>
                      <a:prstDash val="solid"/>
                      <a:round/>
                      <a:headEnd type="none" w="med" len="med"/>
                      <a:tailEnd type="none" w="med" len="med"/>
                    </a:lnL>
                    <a:lnR w="9525" cap="flat" cmpd="sng" algn="ctr">
                      <a:solidFill>
                        <a:srgbClr val="D5DAE1"/>
                      </a:solidFill>
                      <a:prstDash val="solid"/>
                      <a:round/>
                      <a:headEnd type="none" w="med" len="med"/>
                      <a:tailEnd type="none" w="med" len="med"/>
                    </a:lnR>
                    <a:lnT w="9525" cap="flat" cmpd="sng" algn="ctr">
                      <a:solidFill>
                        <a:srgbClr val="D5DAE1"/>
                      </a:solidFill>
                      <a:prstDash val="solid"/>
                      <a:round/>
                      <a:headEnd type="none" w="med" len="med"/>
                      <a:tailEnd type="none" w="med" len="med"/>
                    </a:lnT>
                    <a:lnB w="9525" cap="flat" cmpd="sng" algn="ctr">
                      <a:solidFill>
                        <a:srgbClr val="D5DAE1"/>
                      </a:solidFill>
                      <a:prstDash val="solid"/>
                      <a:round/>
                      <a:headEnd type="none" w="med" len="med"/>
                      <a:tailEnd type="none" w="med" len="med"/>
                    </a:lnB>
                    <a:solidFill>
                      <a:schemeClr val="tx2"/>
                    </a:solidFill>
                  </a:tcPr>
                </a:tc>
                <a:tc>
                  <a:txBody>
                    <a:bodyPr/>
                    <a:lstStyle/>
                    <a:p>
                      <a:pPr indent="0" marL="0">
                        <a:buNone/>
                      </a:pPr>
                      <a:r>
                        <a:rPr lang="en-US" sz="1300" b="1" dirty="0">
                          <a:solidFill>
                            <a:schemeClr val="bg1"/>
                          </a:solidFill>
                        </a:rPr>
                        <a:t>What it is</a:t>
                      </a:r>
                      <a:endParaRPr lang="en-US" sz="1300" dirty="0"/>
                    </a:p>
                  </a:txBody>
                  <a:tcPr marL="91440" marR="91440" marT="54864" marB="54864" anchor="ctr">
                    <a:lnL w="9525" cap="flat" cmpd="sng" algn="ctr">
                      <a:solidFill>
                        <a:srgbClr val="D5DAE1"/>
                      </a:solidFill>
                      <a:prstDash val="solid"/>
                      <a:round/>
                      <a:headEnd type="none" w="med" len="med"/>
                      <a:tailEnd type="none" w="med" len="med"/>
                    </a:lnL>
                    <a:lnR w="9525" cap="flat" cmpd="sng" algn="ctr">
                      <a:solidFill>
                        <a:srgbClr val="D5DAE1"/>
                      </a:solidFill>
                      <a:prstDash val="solid"/>
                      <a:round/>
                      <a:headEnd type="none" w="med" len="med"/>
                      <a:tailEnd type="none" w="med" len="med"/>
                    </a:lnR>
                    <a:lnT w="9525" cap="flat" cmpd="sng" algn="ctr">
                      <a:solidFill>
                        <a:srgbClr val="D5DAE1"/>
                      </a:solidFill>
                      <a:prstDash val="solid"/>
                      <a:round/>
                      <a:headEnd type="none" w="med" len="med"/>
                      <a:tailEnd type="none" w="med" len="med"/>
                    </a:lnT>
                    <a:lnB w="9525" cap="flat" cmpd="sng" algn="ctr">
                      <a:solidFill>
                        <a:srgbClr val="D5DAE1"/>
                      </a:solidFill>
                      <a:prstDash val="solid"/>
                      <a:round/>
                      <a:headEnd type="none" w="med" len="med"/>
                      <a:tailEnd type="none" w="med" len="med"/>
                    </a:lnB>
                    <a:solidFill>
                      <a:schemeClr val="tx2"/>
                    </a:solidFill>
                  </a:tcPr>
                </a:tc>
                <a:tc>
                  <a:txBody>
                    <a:bodyPr/>
                    <a:lstStyle/>
                    <a:p>
                      <a:pPr indent="0" marL="0">
                        <a:buNone/>
                      </a:pPr>
                      <a:r>
                        <a:rPr lang="en-US" sz="1300" b="1" dirty="0">
                          <a:solidFill>
                            <a:schemeClr val="bg1"/>
                          </a:solidFill>
                        </a:rPr>
                        <a:t>Size</a:t>
                      </a:r>
                      <a:endParaRPr lang="en-US" sz="1300" dirty="0"/>
                    </a:p>
                  </a:txBody>
                  <a:tcPr marL="91440" marR="91440" marT="54864" marB="54864" anchor="ctr">
                    <a:lnL w="9525" cap="flat" cmpd="sng" algn="ctr">
                      <a:solidFill>
                        <a:srgbClr val="D5DAE1"/>
                      </a:solidFill>
                      <a:prstDash val="solid"/>
                      <a:round/>
                      <a:headEnd type="none" w="med" len="med"/>
                      <a:tailEnd type="none" w="med" len="med"/>
                    </a:lnL>
                    <a:lnR w="9525" cap="flat" cmpd="sng" algn="ctr">
                      <a:solidFill>
                        <a:srgbClr val="D5DAE1"/>
                      </a:solidFill>
                      <a:prstDash val="solid"/>
                      <a:round/>
                      <a:headEnd type="none" w="med" len="med"/>
                      <a:tailEnd type="none" w="med" len="med"/>
                    </a:lnR>
                    <a:lnT w="9525" cap="flat" cmpd="sng" algn="ctr">
                      <a:solidFill>
                        <a:srgbClr val="D5DAE1"/>
                      </a:solidFill>
                      <a:prstDash val="solid"/>
                      <a:round/>
                      <a:headEnd type="none" w="med" len="med"/>
                      <a:tailEnd type="none" w="med" len="med"/>
                    </a:lnT>
                    <a:lnB w="9525" cap="flat" cmpd="sng" algn="ctr">
                      <a:solidFill>
                        <a:srgbClr val="D5DAE1"/>
                      </a:solidFill>
                      <a:prstDash val="solid"/>
                      <a:round/>
                      <a:headEnd type="none" w="med" len="med"/>
                      <a:tailEnd type="none" w="med" len="med"/>
                    </a:lnB>
                    <a:solidFill>
                      <a:schemeClr val="tx2"/>
                    </a:solidFill>
                  </a:tcPr>
                </a:tc>
                <a:tc>
                  <a:txBody>
                    <a:bodyPr/>
                    <a:lstStyle/>
                    <a:p>
                      <a:pPr indent="0" marL="0">
                        <a:buNone/>
                      </a:pPr>
                      <a:r>
                        <a:rPr lang="en-US" sz="1300" b="1" dirty="0">
                          <a:solidFill>
                            <a:schemeClr val="bg1"/>
                          </a:solidFill>
                        </a:rPr>
                        <a:t>Split</a:t>
                      </a:r>
                      <a:endParaRPr lang="en-US" sz="1300" dirty="0"/>
                    </a:p>
                  </a:txBody>
                  <a:tcPr marL="91440" marR="91440" marT="54864" marB="54864" anchor="ctr">
                    <a:lnL w="9525" cap="flat" cmpd="sng" algn="ctr">
                      <a:solidFill>
                        <a:srgbClr val="D5DAE1"/>
                      </a:solidFill>
                      <a:prstDash val="solid"/>
                      <a:round/>
                      <a:headEnd type="none" w="med" len="med"/>
                      <a:tailEnd type="none" w="med" len="med"/>
                    </a:lnL>
                    <a:lnR w="9525" cap="flat" cmpd="sng" algn="ctr">
                      <a:solidFill>
                        <a:srgbClr val="D5DAE1"/>
                      </a:solidFill>
                      <a:prstDash val="solid"/>
                      <a:round/>
                      <a:headEnd type="none" w="med" len="med"/>
                      <a:tailEnd type="none" w="med" len="med"/>
                    </a:lnR>
                    <a:lnT w="9525" cap="flat" cmpd="sng" algn="ctr">
                      <a:solidFill>
                        <a:srgbClr val="D5DAE1"/>
                      </a:solidFill>
                      <a:prstDash val="solid"/>
                      <a:round/>
                      <a:headEnd type="none" w="med" len="med"/>
                      <a:tailEnd type="none" w="med" len="med"/>
                    </a:lnT>
                    <a:lnB w="9525" cap="flat" cmpd="sng" algn="ctr">
                      <a:solidFill>
                        <a:srgbClr val="D5DAE1"/>
                      </a:solidFill>
                      <a:prstDash val="solid"/>
                      <a:round/>
                      <a:headEnd type="none" w="med" len="med"/>
                      <a:tailEnd type="none" w="med" len="med"/>
                    </a:lnB>
                    <a:solidFill>
                      <a:schemeClr val="tx2"/>
                    </a:solidFill>
                  </a:tcPr>
                </a:tc>
                <a:tc>
                  <a:txBody>
                    <a:bodyPr/>
                    <a:lstStyle/>
                    <a:p>
                      <a:pPr indent="0" marL="0">
                        <a:buNone/>
                      </a:pPr>
                      <a:r>
                        <a:rPr lang="en-US" sz="1300" b="1" dirty="0">
                          <a:solidFill>
                            <a:schemeClr val="bg1"/>
                          </a:solidFill>
                        </a:rPr>
                        <a:t>Used in</a:t>
                      </a:r>
                      <a:endParaRPr lang="en-US" sz="1300" dirty="0"/>
                    </a:p>
                  </a:txBody>
                  <a:tcPr marL="91440" marR="91440" marT="54864" marB="54864" anchor="ctr">
                    <a:lnL w="9525" cap="flat" cmpd="sng" algn="ctr">
                      <a:solidFill>
                        <a:srgbClr val="D5DAE1"/>
                      </a:solidFill>
                      <a:prstDash val="solid"/>
                      <a:round/>
                      <a:headEnd type="none" w="med" len="med"/>
                      <a:tailEnd type="none" w="med" len="med"/>
                    </a:lnL>
                    <a:lnR w="9525" cap="flat" cmpd="sng" algn="ctr">
                      <a:solidFill>
                        <a:srgbClr val="D5DAE1"/>
                      </a:solidFill>
                      <a:prstDash val="solid"/>
                      <a:round/>
                      <a:headEnd type="none" w="med" len="med"/>
                      <a:tailEnd type="none" w="med" len="med"/>
                    </a:lnR>
                    <a:lnT w="9525" cap="flat" cmpd="sng" algn="ctr">
                      <a:solidFill>
                        <a:srgbClr val="D5DAE1"/>
                      </a:solidFill>
                      <a:prstDash val="solid"/>
                      <a:round/>
                      <a:headEnd type="none" w="med" len="med"/>
                      <a:tailEnd type="none" w="med" len="med"/>
                    </a:lnT>
                    <a:lnB w="9525" cap="flat" cmpd="sng" algn="ctr">
                      <a:solidFill>
                        <a:srgbClr val="D5DAE1"/>
                      </a:solidFill>
                      <a:prstDash val="solid"/>
                      <a:round/>
                      <a:headEnd type="none" w="med" len="med"/>
                      <a:tailEnd type="none" w="med" len="med"/>
                    </a:lnB>
                    <a:solidFill>
                      <a:schemeClr val="tx2"/>
                    </a:solidFill>
                  </a:tcPr>
                </a:tc>
              </a:tr>
              <a:tr h="868680">
                <a:tc>
                  <a:txBody>
                    <a:bodyPr/>
                    <a:lstStyle/>
                    <a:p>
                      <a:pPr indent="0" marL="0">
                        <a:buNone/>
                      </a:pPr>
                      <a:r>
                        <a:rPr lang="en-US" sz="1300" b="1" dirty="0">
                          <a:solidFill>
                            <a:schemeClr val="tx1"/>
                          </a:solidFill>
                        </a:rPr>
                        <a:t>CrashTwin (CARLA)</a:t>
                      </a:r>
                      <a:endParaRPr lang="en-US" sz="1300" dirty="0"/>
                    </a:p>
                  </a:txBody>
                  <a:tcPr marL="91440" marR="91440" marT="54864" marB="54864" anchor="ctr">
                    <a:lnL w="9525" cap="flat" cmpd="sng" algn="ctr">
                      <a:solidFill>
                        <a:srgbClr val="D5DAE1"/>
                      </a:solidFill>
                      <a:prstDash val="solid"/>
                      <a:round/>
                      <a:headEnd type="none" w="med" len="med"/>
                      <a:tailEnd type="none" w="med" len="med"/>
                    </a:lnL>
                    <a:lnR w="9525" cap="flat" cmpd="sng" algn="ctr">
                      <a:solidFill>
                        <a:srgbClr val="D5DAE1"/>
                      </a:solidFill>
                      <a:prstDash val="solid"/>
                      <a:round/>
                      <a:headEnd type="none" w="med" len="med"/>
                      <a:tailEnd type="none" w="med" len="med"/>
                    </a:lnR>
                    <a:lnT w="9525" cap="flat" cmpd="sng" algn="ctr">
                      <a:solidFill>
                        <a:srgbClr val="D5DAE1"/>
                      </a:solidFill>
                      <a:prstDash val="solid"/>
                      <a:round/>
                      <a:headEnd type="none" w="med" len="med"/>
                      <a:tailEnd type="none" w="med" len="med"/>
                    </a:lnT>
                    <a:lnB w="9525" cap="flat" cmpd="sng" algn="ctr">
                      <a:solidFill>
                        <a:srgbClr val="D5DAE1"/>
                      </a:solidFill>
                      <a:prstDash val="solid"/>
                      <a:round/>
                      <a:headEnd type="none" w="med" len="med"/>
                      <a:tailEnd type="none" w="med" len="med"/>
                    </a:lnB>
                    <a:solidFill>
                      <a:schemeClr val="bg1"/>
                    </a:solidFill>
                  </a:tcPr>
                </a:tc>
                <a:tc>
                  <a:txBody>
                    <a:bodyPr/>
                    <a:lstStyle/>
                    <a:p>
                      <a:pPr indent="0" marL="0">
                        <a:buNone/>
                      </a:pPr>
                      <a:r>
                        <a:rPr lang="en-US" sz="1300" dirty="0">
                          <a:solidFill>
                            <a:schemeClr val="tx1"/>
                          </a:solidFill>
                        </a:rPr>
                        <a:t>ego dashcam + 7 sensors, measured labels</a:t>
                      </a:r>
                      <a:endParaRPr lang="en-US" sz="1300" dirty="0"/>
                    </a:p>
                  </a:txBody>
                  <a:tcPr marL="91440" marR="91440" marT="54864" marB="54864" anchor="ctr">
                    <a:lnL w="9525" cap="flat" cmpd="sng" algn="ctr">
                      <a:solidFill>
                        <a:srgbClr val="D5DAE1"/>
                      </a:solidFill>
                      <a:prstDash val="solid"/>
                      <a:round/>
                      <a:headEnd type="none" w="med" len="med"/>
                      <a:tailEnd type="none" w="med" len="med"/>
                    </a:lnL>
                    <a:lnR w="9525" cap="flat" cmpd="sng" algn="ctr">
                      <a:solidFill>
                        <a:srgbClr val="D5DAE1"/>
                      </a:solidFill>
                      <a:prstDash val="solid"/>
                      <a:round/>
                      <a:headEnd type="none" w="med" len="med"/>
                      <a:tailEnd type="none" w="med" len="med"/>
                    </a:lnR>
                    <a:lnT w="9525" cap="flat" cmpd="sng" algn="ctr">
                      <a:solidFill>
                        <a:srgbClr val="D5DAE1"/>
                      </a:solidFill>
                      <a:prstDash val="solid"/>
                      <a:round/>
                      <a:headEnd type="none" w="med" len="med"/>
                      <a:tailEnd type="none" w="med" len="med"/>
                    </a:lnT>
                    <a:lnB w="9525" cap="flat" cmpd="sng" algn="ctr">
                      <a:solidFill>
                        <a:srgbClr val="D5DAE1"/>
                      </a:solidFill>
                      <a:prstDash val="solid"/>
                      <a:round/>
                      <a:headEnd type="none" w="med" len="med"/>
                      <a:tailEnd type="none" w="med" len="med"/>
                    </a:lnB>
                    <a:solidFill>
                      <a:schemeClr val="bg1"/>
                    </a:solidFill>
                  </a:tcPr>
                </a:tc>
                <a:tc>
                  <a:txBody>
                    <a:bodyPr/>
                    <a:lstStyle/>
                    <a:p>
                      <a:pPr indent="0" marL="0">
                        <a:buNone/>
                      </a:pPr>
                      <a:r>
                        <a:rPr lang="en-US" sz="1300" dirty="0">
                          <a:solidFill>
                            <a:schemeClr val="tx1"/>
                          </a:solidFill>
                        </a:rPr>
                        <a:t>2,576 clips; 1,877 usable (852 crash, 276 near-miss, 749 normal)</a:t>
                      </a:r>
                      <a:endParaRPr lang="en-US" sz="1300" dirty="0"/>
                    </a:p>
                  </a:txBody>
                  <a:tcPr marL="91440" marR="91440" marT="54864" marB="54864" anchor="ctr">
                    <a:lnL w="9525" cap="flat" cmpd="sng" algn="ctr">
                      <a:solidFill>
                        <a:srgbClr val="D5DAE1"/>
                      </a:solidFill>
                      <a:prstDash val="solid"/>
                      <a:round/>
                      <a:headEnd type="none" w="med" len="med"/>
                      <a:tailEnd type="none" w="med" len="med"/>
                    </a:lnL>
                    <a:lnR w="9525" cap="flat" cmpd="sng" algn="ctr">
                      <a:solidFill>
                        <a:srgbClr val="D5DAE1"/>
                      </a:solidFill>
                      <a:prstDash val="solid"/>
                      <a:round/>
                      <a:headEnd type="none" w="med" len="med"/>
                      <a:tailEnd type="none" w="med" len="med"/>
                    </a:lnR>
                    <a:lnT w="9525" cap="flat" cmpd="sng" algn="ctr">
                      <a:solidFill>
                        <a:srgbClr val="D5DAE1"/>
                      </a:solidFill>
                      <a:prstDash val="solid"/>
                      <a:round/>
                      <a:headEnd type="none" w="med" len="med"/>
                      <a:tailEnd type="none" w="med" len="med"/>
                    </a:lnT>
                    <a:lnB w="9525" cap="flat" cmpd="sng" algn="ctr">
                      <a:solidFill>
                        <a:srgbClr val="D5DAE1"/>
                      </a:solidFill>
                      <a:prstDash val="solid"/>
                      <a:round/>
                      <a:headEnd type="none" w="med" len="med"/>
                      <a:tailEnd type="none" w="med" len="med"/>
                    </a:lnB>
                    <a:solidFill>
                      <a:schemeClr val="bg1"/>
                    </a:solidFill>
                  </a:tcPr>
                </a:tc>
                <a:tc>
                  <a:txBody>
                    <a:bodyPr/>
                    <a:lstStyle/>
                    <a:p>
                      <a:pPr indent="0" marL="0">
                        <a:buNone/>
                      </a:pPr>
                      <a:r>
                        <a:rPr lang="en-US" sz="1300" dirty="0">
                          <a:solidFill>
                            <a:schemeClr val="tx1"/>
                          </a:solidFill>
                        </a:rPr>
                        <a:t>train 1,031 · val 220 · test 245 · Town05 381</a:t>
                      </a:r>
                      <a:endParaRPr lang="en-US" sz="1300" dirty="0"/>
                    </a:p>
                  </a:txBody>
                  <a:tcPr marL="91440" marR="91440" marT="54864" marB="54864" anchor="ctr">
                    <a:lnL w="9525" cap="flat" cmpd="sng" algn="ctr">
                      <a:solidFill>
                        <a:srgbClr val="D5DAE1"/>
                      </a:solidFill>
                      <a:prstDash val="solid"/>
                      <a:round/>
                      <a:headEnd type="none" w="med" len="med"/>
                      <a:tailEnd type="none" w="med" len="med"/>
                    </a:lnL>
                    <a:lnR w="9525" cap="flat" cmpd="sng" algn="ctr">
                      <a:solidFill>
                        <a:srgbClr val="D5DAE1"/>
                      </a:solidFill>
                      <a:prstDash val="solid"/>
                      <a:round/>
                      <a:headEnd type="none" w="med" len="med"/>
                      <a:tailEnd type="none" w="med" len="med"/>
                    </a:lnR>
                    <a:lnT w="9525" cap="flat" cmpd="sng" algn="ctr">
                      <a:solidFill>
                        <a:srgbClr val="D5DAE1"/>
                      </a:solidFill>
                      <a:prstDash val="solid"/>
                      <a:round/>
                      <a:headEnd type="none" w="med" len="med"/>
                      <a:tailEnd type="none" w="med" len="med"/>
                    </a:lnT>
                    <a:lnB w="9525" cap="flat" cmpd="sng" algn="ctr">
                      <a:solidFill>
                        <a:srgbClr val="D5DAE1"/>
                      </a:solidFill>
                      <a:prstDash val="solid"/>
                      <a:round/>
                      <a:headEnd type="none" w="med" len="med"/>
                      <a:tailEnd type="none" w="med" len="med"/>
                    </a:lnB>
                    <a:solidFill>
                      <a:schemeClr val="bg1"/>
                    </a:solidFill>
                  </a:tcPr>
                </a:tc>
                <a:tc>
                  <a:txBody>
                    <a:bodyPr/>
                    <a:lstStyle/>
                    <a:p>
                      <a:pPr indent="0" marL="0">
                        <a:buNone/>
                      </a:pPr>
                      <a:r>
                        <a:rPr lang="en-US" sz="1300" dirty="0">
                          <a:solidFill>
                            <a:schemeClr val="tx1"/>
                          </a:solidFill>
                        </a:rPr>
                        <a:t>E1, E3, E4, E6</a:t>
                      </a:r>
                      <a:endParaRPr lang="en-US" sz="1300" dirty="0"/>
                    </a:p>
                  </a:txBody>
                  <a:tcPr marL="91440" marR="91440" marT="54864" marB="54864" anchor="ctr">
                    <a:lnL w="9525" cap="flat" cmpd="sng" algn="ctr">
                      <a:solidFill>
                        <a:srgbClr val="D5DAE1"/>
                      </a:solidFill>
                      <a:prstDash val="solid"/>
                      <a:round/>
                      <a:headEnd type="none" w="med" len="med"/>
                      <a:tailEnd type="none" w="med" len="med"/>
                    </a:lnL>
                    <a:lnR w="9525" cap="flat" cmpd="sng" algn="ctr">
                      <a:solidFill>
                        <a:srgbClr val="D5DAE1"/>
                      </a:solidFill>
                      <a:prstDash val="solid"/>
                      <a:round/>
                      <a:headEnd type="none" w="med" len="med"/>
                      <a:tailEnd type="none" w="med" len="med"/>
                    </a:lnR>
                    <a:lnT w="9525" cap="flat" cmpd="sng" algn="ctr">
                      <a:solidFill>
                        <a:srgbClr val="D5DAE1"/>
                      </a:solidFill>
                      <a:prstDash val="solid"/>
                      <a:round/>
                      <a:headEnd type="none" w="med" len="med"/>
                      <a:tailEnd type="none" w="med" len="med"/>
                    </a:lnT>
                    <a:lnB w="9525" cap="flat" cmpd="sng" algn="ctr">
                      <a:solidFill>
                        <a:srgbClr val="D5DAE1"/>
                      </a:solidFill>
                      <a:prstDash val="solid"/>
                      <a:round/>
                      <a:headEnd type="none" w="med" len="med"/>
                      <a:tailEnd type="none" w="med" len="med"/>
                    </a:lnB>
                    <a:solidFill>
                      <a:schemeClr val="bg1"/>
                    </a:solidFill>
                  </a:tcPr>
                </a:tc>
              </a:tr>
              <a:tr h="777240">
                <a:tc>
                  <a:txBody>
                    <a:bodyPr/>
                    <a:lstStyle/>
                    <a:p>
                      <a:pPr indent="0" marL="0">
                        <a:buNone/>
                      </a:pPr>
                      <a:r>
                        <a:rPr lang="en-US" sz="1300" b="1" dirty="0">
                          <a:solidFill>
                            <a:schemeClr val="tx1"/>
                          </a:solidFill>
                        </a:rPr>
                        <a:t>CCD</a:t>
                      </a:r>
                      <a:endParaRPr lang="en-US" sz="1300" dirty="0"/>
                    </a:p>
                  </a:txBody>
                  <a:tcPr marL="91440" marR="91440" marT="54864" marB="54864" anchor="ctr">
                    <a:lnL w="9525" cap="flat" cmpd="sng" algn="ctr">
                      <a:solidFill>
                        <a:srgbClr val="D5DAE1"/>
                      </a:solidFill>
                      <a:prstDash val="solid"/>
                      <a:round/>
                      <a:headEnd type="none" w="med" len="med"/>
                      <a:tailEnd type="none" w="med" len="med"/>
                    </a:lnL>
                    <a:lnR w="9525" cap="flat" cmpd="sng" algn="ctr">
                      <a:solidFill>
                        <a:srgbClr val="D5DAE1"/>
                      </a:solidFill>
                      <a:prstDash val="solid"/>
                      <a:round/>
                      <a:headEnd type="none" w="med" len="med"/>
                      <a:tailEnd type="none" w="med" len="med"/>
                    </a:lnR>
                    <a:lnT w="9525" cap="flat" cmpd="sng" algn="ctr">
                      <a:solidFill>
                        <a:srgbClr val="D5DAE1"/>
                      </a:solidFill>
                      <a:prstDash val="solid"/>
                      <a:round/>
                      <a:headEnd type="none" w="med" len="med"/>
                      <a:tailEnd type="none" w="med" len="med"/>
                    </a:lnT>
                    <a:lnB w="9525" cap="flat" cmpd="sng" algn="ctr">
                      <a:solidFill>
                        <a:srgbClr val="D5DAE1"/>
                      </a:solidFill>
                      <a:prstDash val="solid"/>
                      <a:round/>
                      <a:headEnd type="none" w="med" len="med"/>
                      <a:tailEnd type="none" w="med" len="med"/>
                    </a:lnB>
                    <a:solidFill>
                      <a:schemeClr val="bg1"/>
                    </a:solidFill>
                  </a:tcPr>
                </a:tc>
                <a:tc>
                  <a:txBody>
                    <a:bodyPr/>
                    <a:lstStyle/>
                    <a:p>
                      <a:pPr indent="0" marL="0">
                        <a:buNone/>
                      </a:pPr>
                      <a:r>
                        <a:rPr lang="en-US" sz="1300" dirty="0">
                          <a:solidFill>
                            <a:schemeClr val="tx1"/>
                          </a:solidFill>
                        </a:rPr>
                        <a:t>YouTube dashcam clips, 5 s at 10 fps</a:t>
                      </a:r>
                      <a:endParaRPr lang="en-US" sz="1300" dirty="0"/>
                    </a:p>
                  </a:txBody>
                  <a:tcPr marL="91440" marR="91440" marT="54864" marB="54864" anchor="ctr">
                    <a:lnL w="9525" cap="flat" cmpd="sng" algn="ctr">
                      <a:solidFill>
                        <a:srgbClr val="D5DAE1"/>
                      </a:solidFill>
                      <a:prstDash val="solid"/>
                      <a:round/>
                      <a:headEnd type="none" w="med" len="med"/>
                      <a:tailEnd type="none" w="med" len="med"/>
                    </a:lnL>
                    <a:lnR w="9525" cap="flat" cmpd="sng" algn="ctr">
                      <a:solidFill>
                        <a:srgbClr val="D5DAE1"/>
                      </a:solidFill>
                      <a:prstDash val="solid"/>
                      <a:round/>
                      <a:headEnd type="none" w="med" len="med"/>
                      <a:tailEnd type="none" w="med" len="med"/>
                    </a:lnR>
                    <a:lnT w="9525" cap="flat" cmpd="sng" algn="ctr">
                      <a:solidFill>
                        <a:srgbClr val="D5DAE1"/>
                      </a:solidFill>
                      <a:prstDash val="solid"/>
                      <a:round/>
                      <a:headEnd type="none" w="med" len="med"/>
                      <a:tailEnd type="none" w="med" len="med"/>
                    </a:lnT>
                    <a:lnB w="9525" cap="flat" cmpd="sng" algn="ctr">
                      <a:solidFill>
                        <a:srgbClr val="D5DAE1"/>
                      </a:solidFill>
                      <a:prstDash val="solid"/>
                      <a:round/>
                      <a:headEnd type="none" w="med" len="med"/>
                      <a:tailEnd type="none" w="med" len="med"/>
                    </a:lnB>
                    <a:solidFill>
                      <a:schemeClr val="bg1"/>
                    </a:solidFill>
                  </a:tcPr>
                </a:tc>
                <a:tc>
                  <a:txBody>
                    <a:bodyPr/>
                    <a:lstStyle/>
                    <a:p>
                      <a:pPr indent="0" marL="0">
                        <a:buNone/>
                      </a:pPr>
                      <a:r>
                        <a:rPr lang="en-US" sz="1300" dirty="0">
                          <a:solidFill>
                            <a:schemeClr val="tx1"/>
                          </a:solidFill>
                        </a:rPr>
                        <a:t>1,500 crash + 3,000 normal</a:t>
                      </a:r>
                      <a:endParaRPr lang="en-US" sz="1300" dirty="0"/>
                    </a:p>
                  </a:txBody>
                  <a:tcPr marL="91440" marR="91440" marT="54864" marB="54864" anchor="ctr">
                    <a:lnL w="9525" cap="flat" cmpd="sng" algn="ctr">
                      <a:solidFill>
                        <a:srgbClr val="D5DAE1"/>
                      </a:solidFill>
                      <a:prstDash val="solid"/>
                      <a:round/>
                      <a:headEnd type="none" w="med" len="med"/>
                      <a:tailEnd type="none" w="med" len="med"/>
                    </a:lnL>
                    <a:lnR w="9525" cap="flat" cmpd="sng" algn="ctr">
                      <a:solidFill>
                        <a:srgbClr val="D5DAE1"/>
                      </a:solidFill>
                      <a:prstDash val="solid"/>
                      <a:round/>
                      <a:headEnd type="none" w="med" len="med"/>
                      <a:tailEnd type="none" w="med" len="med"/>
                    </a:lnR>
                    <a:lnT w="9525" cap="flat" cmpd="sng" algn="ctr">
                      <a:solidFill>
                        <a:srgbClr val="D5DAE1"/>
                      </a:solidFill>
                      <a:prstDash val="solid"/>
                      <a:round/>
                      <a:headEnd type="none" w="med" len="med"/>
                      <a:tailEnd type="none" w="med" len="med"/>
                    </a:lnT>
                    <a:lnB w="9525" cap="flat" cmpd="sng" algn="ctr">
                      <a:solidFill>
                        <a:srgbClr val="D5DAE1"/>
                      </a:solidFill>
                      <a:prstDash val="solid"/>
                      <a:round/>
                      <a:headEnd type="none" w="med" len="med"/>
                      <a:tailEnd type="none" w="med" len="med"/>
                    </a:lnB>
                    <a:solidFill>
                      <a:schemeClr val="bg1"/>
                    </a:solidFill>
                  </a:tcPr>
                </a:tc>
                <a:tc>
                  <a:txBody>
                    <a:bodyPr/>
                    <a:lstStyle/>
                    <a:p>
                      <a:pPr indent="0" marL="0">
                        <a:buNone/>
                      </a:pPr>
                      <a:r>
                        <a:rPr lang="en-US" sz="1300" dirty="0">
                          <a:solidFill>
                            <a:schemeClr val="tx1"/>
                          </a:solidFill>
                        </a:rPr>
                        <a:t>source-grouped 80/10/10 (test 437 videos, 31 % crashes); official split also reported</a:t>
                      </a:r>
                      <a:endParaRPr lang="en-US" sz="1300" dirty="0"/>
                    </a:p>
                  </a:txBody>
                  <a:tcPr marL="91440" marR="91440" marT="54864" marB="54864" anchor="ctr">
                    <a:lnL w="9525" cap="flat" cmpd="sng" algn="ctr">
                      <a:solidFill>
                        <a:srgbClr val="D5DAE1"/>
                      </a:solidFill>
                      <a:prstDash val="solid"/>
                      <a:round/>
                      <a:headEnd type="none" w="med" len="med"/>
                      <a:tailEnd type="none" w="med" len="med"/>
                    </a:lnL>
                    <a:lnR w="9525" cap="flat" cmpd="sng" algn="ctr">
                      <a:solidFill>
                        <a:srgbClr val="D5DAE1"/>
                      </a:solidFill>
                      <a:prstDash val="solid"/>
                      <a:round/>
                      <a:headEnd type="none" w="med" len="med"/>
                      <a:tailEnd type="none" w="med" len="med"/>
                    </a:lnR>
                    <a:lnT w="9525" cap="flat" cmpd="sng" algn="ctr">
                      <a:solidFill>
                        <a:srgbClr val="D5DAE1"/>
                      </a:solidFill>
                      <a:prstDash val="solid"/>
                      <a:round/>
                      <a:headEnd type="none" w="med" len="med"/>
                      <a:tailEnd type="none" w="med" len="med"/>
                    </a:lnT>
                    <a:lnB w="9525" cap="flat" cmpd="sng" algn="ctr">
                      <a:solidFill>
                        <a:srgbClr val="D5DAE1"/>
                      </a:solidFill>
                      <a:prstDash val="solid"/>
                      <a:round/>
                      <a:headEnd type="none" w="med" len="med"/>
                      <a:tailEnd type="none" w="med" len="med"/>
                    </a:lnB>
                    <a:solidFill>
                      <a:schemeClr val="bg1"/>
                    </a:solidFill>
                  </a:tcPr>
                </a:tc>
                <a:tc>
                  <a:txBody>
                    <a:bodyPr/>
                    <a:lstStyle/>
                    <a:p>
                      <a:pPr indent="0" marL="0">
                        <a:buNone/>
                      </a:pPr>
                      <a:r>
                        <a:rPr lang="en-US" sz="1300" dirty="0">
                          <a:solidFill>
                            <a:schemeClr val="tx1"/>
                          </a:solidFill>
                        </a:rPr>
                        <a:t>E2, E3, E6</a:t>
                      </a:r>
                      <a:endParaRPr lang="en-US" sz="1300" dirty="0"/>
                    </a:p>
                  </a:txBody>
                  <a:tcPr marL="91440" marR="91440" marT="54864" marB="54864" anchor="ctr">
                    <a:lnL w="9525" cap="flat" cmpd="sng" algn="ctr">
                      <a:solidFill>
                        <a:srgbClr val="D5DAE1"/>
                      </a:solidFill>
                      <a:prstDash val="solid"/>
                      <a:round/>
                      <a:headEnd type="none" w="med" len="med"/>
                      <a:tailEnd type="none" w="med" len="med"/>
                    </a:lnL>
                    <a:lnR w="9525" cap="flat" cmpd="sng" algn="ctr">
                      <a:solidFill>
                        <a:srgbClr val="D5DAE1"/>
                      </a:solidFill>
                      <a:prstDash val="solid"/>
                      <a:round/>
                      <a:headEnd type="none" w="med" len="med"/>
                      <a:tailEnd type="none" w="med" len="med"/>
                    </a:lnR>
                    <a:lnT w="9525" cap="flat" cmpd="sng" algn="ctr">
                      <a:solidFill>
                        <a:srgbClr val="D5DAE1"/>
                      </a:solidFill>
                      <a:prstDash val="solid"/>
                      <a:round/>
                      <a:headEnd type="none" w="med" len="med"/>
                      <a:tailEnd type="none" w="med" len="med"/>
                    </a:lnT>
                    <a:lnB w="9525" cap="flat" cmpd="sng" algn="ctr">
                      <a:solidFill>
                        <a:srgbClr val="D5DAE1"/>
                      </a:solidFill>
                      <a:prstDash val="solid"/>
                      <a:round/>
                      <a:headEnd type="none" w="med" len="med"/>
                      <a:tailEnd type="none" w="med" len="med"/>
                    </a:lnB>
                    <a:solidFill>
                      <a:schemeClr val="bg1"/>
                    </a:solidFill>
                  </a:tcPr>
                </a:tc>
              </a:tr>
              <a:tr h="777240">
                <a:tc>
                  <a:txBody>
                    <a:bodyPr/>
                    <a:lstStyle/>
                    <a:p>
                      <a:pPr indent="0" marL="0">
                        <a:buNone/>
                      </a:pPr>
                      <a:r>
                        <a:rPr lang="en-US" sz="1300" b="1" dirty="0">
                          <a:solidFill>
                            <a:schemeClr val="tx1"/>
                          </a:solidFill>
                        </a:rPr>
                        <a:t>Nexar</a:t>
                      </a:r>
                      <a:endParaRPr lang="en-US" sz="1300" dirty="0"/>
                    </a:p>
                  </a:txBody>
                  <a:tcPr marL="91440" marR="91440" marT="54864" marB="54864" anchor="ctr">
                    <a:lnL w="9525" cap="flat" cmpd="sng" algn="ctr">
                      <a:solidFill>
                        <a:srgbClr val="D5DAE1"/>
                      </a:solidFill>
                      <a:prstDash val="solid"/>
                      <a:round/>
                      <a:headEnd type="none" w="med" len="med"/>
                      <a:tailEnd type="none" w="med" len="med"/>
                    </a:lnL>
                    <a:lnR w="9525" cap="flat" cmpd="sng" algn="ctr">
                      <a:solidFill>
                        <a:srgbClr val="D5DAE1"/>
                      </a:solidFill>
                      <a:prstDash val="solid"/>
                      <a:round/>
                      <a:headEnd type="none" w="med" len="med"/>
                      <a:tailEnd type="none" w="med" len="med"/>
                    </a:lnR>
                    <a:lnT w="9525" cap="flat" cmpd="sng" algn="ctr">
                      <a:solidFill>
                        <a:srgbClr val="D5DAE1"/>
                      </a:solidFill>
                      <a:prstDash val="solid"/>
                      <a:round/>
                      <a:headEnd type="none" w="med" len="med"/>
                      <a:tailEnd type="none" w="med" len="med"/>
                    </a:lnT>
                    <a:lnB w="9525" cap="flat" cmpd="sng" algn="ctr">
                      <a:solidFill>
                        <a:srgbClr val="D5DAE1"/>
                      </a:solidFill>
                      <a:prstDash val="solid"/>
                      <a:round/>
                      <a:headEnd type="none" w="med" len="med"/>
                      <a:tailEnd type="none" w="med" len="med"/>
                    </a:lnB>
                    <a:solidFill>
                      <a:schemeClr val="bg1"/>
                    </a:solidFill>
                  </a:tcPr>
                </a:tc>
                <a:tc>
                  <a:txBody>
                    <a:bodyPr/>
                    <a:lstStyle/>
                    <a:p>
                      <a:pPr indent="0" marL="0">
                        <a:buNone/>
                      </a:pPr>
                      <a:r>
                        <a:rPr lang="en-US" sz="1300" dirty="0">
                          <a:solidFill>
                            <a:schemeClr val="tx1"/>
                          </a:solidFill>
                        </a:rPr>
                        <a:t>dashcam, ~40 s; collisions and near-misses</a:t>
                      </a:r>
                      <a:endParaRPr lang="en-US" sz="1300" dirty="0"/>
                    </a:p>
                  </a:txBody>
                  <a:tcPr marL="91440" marR="91440" marT="54864" marB="54864" anchor="ctr">
                    <a:lnL w="9525" cap="flat" cmpd="sng" algn="ctr">
                      <a:solidFill>
                        <a:srgbClr val="D5DAE1"/>
                      </a:solidFill>
                      <a:prstDash val="solid"/>
                      <a:round/>
                      <a:headEnd type="none" w="med" len="med"/>
                      <a:tailEnd type="none" w="med" len="med"/>
                    </a:lnL>
                    <a:lnR w="9525" cap="flat" cmpd="sng" algn="ctr">
                      <a:solidFill>
                        <a:srgbClr val="D5DAE1"/>
                      </a:solidFill>
                      <a:prstDash val="solid"/>
                      <a:round/>
                      <a:headEnd type="none" w="med" len="med"/>
                      <a:tailEnd type="none" w="med" len="med"/>
                    </a:lnR>
                    <a:lnT w="9525" cap="flat" cmpd="sng" algn="ctr">
                      <a:solidFill>
                        <a:srgbClr val="D5DAE1"/>
                      </a:solidFill>
                      <a:prstDash val="solid"/>
                      <a:round/>
                      <a:headEnd type="none" w="med" len="med"/>
                      <a:tailEnd type="none" w="med" len="med"/>
                    </a:lnT>
                    <a:lnB w="9525" cap="flat" cmpd="sng" algn="ctr">
                      <a:solidFill>
                        <a:srgbClr val="D5DAE1"/>
                      </a:solidFill>
                      <a:prstDash val="solid"/>
                      <a:round/>
                      <a:headEnd type="none" w="med" len="med"/>
                      <a:tailEnd type="none" w="med" len="med"/>
                    </a:lnB>
                    <a:solidFill>
                      <a:schemeClr val="bg1"/>
                    </a:solidFill>
                  </a:tcPr>
                </a:tc>
                <a:tc>
                  <a:txBody>
                    <a:bodyPr/>
                    <a:lstStyle/>
                    <a:p>
                      <a:pPr indent="0" marL="0">
                        <a:buNone/>
                      </a:pPr>
                      <a:r>
                        <a:rPr lang="en-US" sz="1300" dirty="0">
                          <a:solidFill>
                            <a:schemeClr val="tx1"/>
                          </a:solidFill>
                        </a:rPr>
                        <a:t>1,500 training videos; test 667 public + 677 private</a:t>
                      </a:r>
                      <a:endParaRPr lang="en-US" sz="1300" dirty="0"/>
                    </a:p>
                  </a:txBody>
                  <a:tcPr marL="91440" marR="91440" marT="54864" marB="54864" anchor="ctr">
                    <a:lnL w="9525" cap="flat" cmpd="sng" algn="ctr">
                      <a:solidFill>
                        <a:srgbClr val="D5DAE1"/>
                      </a:solidFill>
                      <a:prstDash val="solid"/>
                      <a:round/>
                      <a:headEnd type="none" w="med" len="med"/>
                      <a:tailEnd type="none" w="med" len="med"/>
                    </a:lnL>
                    <a:lnR w="9525" cap="flat" cmpd="sng" algn="ctr">
                      <a:solidFill>
                        <a:srgbClr val="D5DAE1"/>
                      </a:solidFill>
                      <a:prstDash val="solid"/>
                      <a:round/>
                      <a:headEnd type="none" w="med" len="med"/>
                      <a:tailEnd type="none" w="med" len="med"/>
                    </a:lnR>
                    <a:lnT w="9525" cap="flat" cmpd="sng" algn="ctr">
                      <a:solidFill>
                        <a:srgbClr val="D5DAE1"/>
                      </a:solidFill>
                      <a:prstDash val="solid"/>
                      <a:round/>
                      <a:headEnd type="none" w="med" len="med"/>
                      <a:tailEnd type="none" w="med" len="med"/>
                    </a:lnT>
                    <a:lnB w="9525" cap="flat" cmpd="sng" algn="ctr">
                      <a:solidFill>
                        <a:srgbClr val="D5DAE1"/>
                      </a:solidFill>
                      <a:prstDash val="solid"/>
                      <a:round/>
                      <a:headEnd type="none" w="med" len="med"/>
                      <a:tailEnd type="none" w="med" len="med"/>
                    </a:lnB>
                    <a:solidFill>
                      <a:schemeClr val="bg1"/>
                    </a:solidFill>
                  </a:tcPr>
                </a:tc>
                <a:tc>
                  <a:txBody>
                    <a:bodyPr/>
                    <a:lstStyle/>
                    <a:p>
                      <a:pPr indent="0" marL="0">
                        <a:buNone/>
                      </a:pPr>
                      <a:r>
                        <a:rPr lang="en-US" sz="1300" dirty="0">
                          <a:solidFill>
                            <a:schemeClr val="tx1"/>
                          </a:solidFill>
                        </a:rPr>
                        <a:t>official partitions; 15 % of training for validation</a:t>
                      </a:r>
                      <a:endParaRPr lang="en-US" sz="1300" dirty="0"/>
                    </a:p>
                  </a:txBody>
                  <a:tcPr marL="91440" marR="91440" marT="54864" marB="54864" anchor="ctr">
                    <a:lnL w="9525" cap="flat" cmpd="sng" algn="ctr">
                      <a:solidFill>
                        <a:srgbClr val="D5DAE1"/>
                      </a:solidFill>
                      <a:prstDash val="solid"/>
                      <a:round/>
                      <a:headEnd type="none" w="med" len="med"/>
                      <a:tailEnd type="none" w="med" len="med"/>
                    </a:lnL>
                    <a:lnR w="9525" cap="flat" cmpd="sng" algn="ctr">
                      <a:solidFill>
                        <a:srgbClr val="D5DAE1"/>
                      </a:solidFill>
                      <a:prstDash val="solid"/>
                      <a:round/>
                      <a:headEnd type="none" w="med" len="med"/>
                      <a:tailEnd type="none" w="med" len="med"/>
                    </a:lnR>
                    <a:lnT w="9525" cap="flat" cmpd="sng" algn="ctr">
                      <a:solidFill>
                        <a:srgbClr val="D5DAE1"/>
                      </a:solidFill>
                      <a:prstDash val="solid"/>
                      <a:round/>
                      <a:headEnd type="none" w="med" len="med"/>
                      <a:tailEnd type="none" w="med" len="med"/>
                    </a:lnT>
                    <a:lnB w="9525" cap="flat" cmpd="sng" algn="ctr">
                      <a:solidFill>
                        <a:srgbClr val="D5DAE1"/>
                      </a:solidFill>
                      <a:prstDash val="solid"/>
                      <a:round/>
                      <a:headEnd type="none" w="med" len="med"/>
                      <a:tailEnd type="none" w="med" len="med"/>
                    </a:lnB>
                    <a:solidFill>
                      <a:schemeClr val="bg1"/>
                    </a:solidFill>
                  </a:tcPr>
                </a:tc>
                <a:tc>
                  <a:txBody>
                    <a:bodyPr/>
                    <a:lstStyle/>
                    <a:p>
                      <a:pPr indent="0" marL="0">
                        <a:buNone/>
                      </a:pPr>
                      <a:r>
                        <a:rPr lang="en-US" sz="1300" dirty="0">
                          <a:solidFill>
                            <a:schemeClr val="tx1"/>
                          </a:solidFill>
                        </a:rPr>
                        <a:t>E2, E3, E6</a:t>
                      </a:r>
                      <a:endParaRPr lang="en-US" sz="1300" dirty="0"/>
                    </a:p>
                  </a:txBody>
                  <a:tcPr marL="91440" marR="91440" marT="54864" marB="54864" anchor="ctr">
                    <a:lnL w="9525" cap="flat" cmpd="sng" algn="ctr">
                      <a:solidFill>
                        <a:srgbClr val="D5DAE1"/>
                      </a:solidFill>
                      <a:prstDash val="solid"/>
                      <a:round/>
                      <a:headEnd type="none" w="med" len="med"/>
                      <a:tailEnd type="none" w="med" len="med"/>
                    </a:lnL>
                    <a:lnR w="9525" cap="flat" cmpd="sng" algn="ctr">
                      <a:solidFill>
                        <a:srgbClr val="D5DAE1"/>
                      </a:solidFill>
                      <a:prstDash val="solid"/>
                      <a:round/>
                      <a:headEnd type="none" w="med" len="med"/>
                      <a:tailEnd type="none" w="med" len="med"/>
                    </a:lnR>
                    <a:lnT w="9525" cap="flat" cmpd="sng" algn="ctr">
                      <a:solidFill>
                        <a:srgbClr val="D5DAE1"/>
                      </a:solidFill>
                      <a:prstDash val="solid"/>
                      <a:round/>
                      <a:headEnd type="none" w="med" len="med"/>
                      <a:tailEnd type="none" w="med" len="med"/>
                    </a:lnT>
                    <a:lnB w="9525" cap="flat" cmpd="sng" algn="ctr">
                      <a:solidFill>
                        <a:srgbClr val="D5DAE1"/>
                      </a:solidFill>
                      <a:prstDash val="solid"/>
                      <a:round/>
                      <a:headEnd type="none" w="med" len="med"/>
                      <a:tailEnd type="none" w="med" len="med"/>
                    </a:lnB>
                    <a:solidFill>
                      <a:schemeClr val="bg1"/>
                    </a:solidFill>
                  </a:tcPr>
                </a:tc>
              </a:tr>
              <a:tr h="640080">
                <a:tc>
                  <a:txBody>
                    <a:bodyPr/>
                    <a:lstStyle/>
                    <a:p>
                      <a:pPr indent="0" marL="0">
                        <a:buNone/>
                      </a:pPr>
                      <a:r>
                        <a:rPr lang="en-US" sz="1300" b="1" dirty="0">
                          <a:solidFill>
                            <a:schemeClr val="tx1"/>
                          </a:solidFill>
                        </a:rPr>
                        <a:t>Accid3nD</a:t>
                      </a:r>
                      <a:endParaRPr lang="en-US" sz="1300" dirty="0"/>
                    </a:p>
                  </a:txBody>
                  <a:tcPr marL="91440" marR="91440" marT="54864" marB="54864" anchor="ctr">
                    <a:lnL w="9525" cap="flat" cmpd="sng" algn="ctr">
                      <a:solidFill>
                        <a:srgbClr val="D5DAE1"/>
                      </a:solidFill>
                      <a:prstDash val="solid"/>
                      <a:round/>
                      <a:headEnd type="none" w="med" len="med"/>
                      <a:tailEnd type="none" w="med" len="med"/>
                    </a:lnL>
                    <a:lnR w="9525" cap="flat" cmpd="sng" algn="ctr">
                      <a:solidFill>
                        <a:srgbClr val="D5DAE1"/>
                      </a:solidFill>
                      <a:prstDash val="solid"/>
                      <a:round/>
                      <a:headEnd type="none" w="med" len="med"/>
                      <a:tailEnd type="none" w="med" len="med"/>
                    </a:lnR>
                    <a:lnT w="9525" cap="flat" cmpd="sng" algn="ctr">
                      <a:solidFill>
                        <a:srgbClr val="D5DAE1"/>
                      </a:solidFill>
                      <a:prstDash val="solid"/>
                      <a:round/>
                      <a:headEnd type="none" w="med" len="med"/>
                      <a:tailEnd type="none" w="med" len="med"/>
                    </a:lnT>
                    <a:lnB w="9525" cap="flat" cmpd="sng" algn="ctr">
                      <a:solidFill>
                        <a:srgbClr val="D5DAE1"/>
                      </a:solidFill>
                      <a:prstDash val="solid"/>
                      <a:round/>
                      <a:headEnd type="none" w="med" len="med"/>
                      <a:tailEnd type="none" w="med" len="med"/>
                    </a:lnB>
                    <a:solidFill>
                      <a:schemeClr val="bg1"/>
                    </a:solidFill>
                  </a:tcPr>
                </a:tc>
                <a:tc>
                  <a:txBody>
                    <a:bodyPr/>
                    <a:lstStyle/>
                    <a:p>
                      <a:pPr indent="0" marL="0">
                        <a:buNone/>
                      </a:pPr>
                      <a:r>
                        <a:rPr lang="en-US" sz="1300" dirty="0">
                          <a:solidFill>
                            <a:schemeClr val="tx1"/>
                          </a:solidFill>
                        </a:rPr>
                        <a:t>roadside highway cameras with 3D labels</a:t>
                      </a:r>
                      <a:endParaRPr lang="en-US" sz="1300" dirty="0"/>
                    </a:p>
                  </a:txBody>
                  <a:tcPr marL="91440" marR="91440" marT="54864" marB="54864" anchor="ctr">
                    <a:lnL w="9525" cap="flat" cmpd="sng" algn="ctr">
                      <a:solidFill>
                        <a:srgbClr val="D5DAE1"/>
                      </a:solidFill>
                      <a:prstDash val="solid"/>
                      <a:round/>
                      <a:headEnd type="none" w="med" len="med"/>
                      <a:tailEnd type="none" w="med" len="med"/>
                    </a:lnL>
                    <a:lnR w="9525" cap="flat" cmpd="sng" algn="ctr">
                      <a:solidFill>
                        <a:srgbClr val="D5DAE1"/>
                      </a:solidFill>
                      <a:prstDash val="solid"/>
                      <a:round/>
                      <a:headEnd type="none" w="med" len="med"/>
                      <a:tailEnd type="none" w="med" len="med"/>
                    </a:lnR>
                    <a:lnT w="9525" cap="flat" cmpd="sng" algn="ctr">
                      <a:solidFill>
                        <a:srgbClr val="D5DAE1"/>
                      </a:solidFill>
                      <a:prstDash val="solid"/>
                      <a:round/>
                      <a:headEnd type="none" w="med" len="med"/>
                      <a:tailEnd type="none" w="med" len="med"/>
                    </a:lnT>
                    <a:lnB w="9525" cap="flat" cmpd="sng" algn="ctr">
                      <a:solidFill>
                        <a:srgbClr val="D5DAE1"/>
                      </a:solidFill>
                      <a:prstDash val="solid"/>
                      <a:round/>
                      <a:headEnd type="none" w="med" len="med"/>
                      <a:tailEnd type="none" w="med" len="med"/>
                    </a:lnB>
                    <a:solidFill>
                      <a:schemeClr val="bg1"/>
                    </a:solidFill>
                  </a:tcPr>
                </a:tc>
                <a:tc>
                  <a:txBody>
                    <a:bodyPr/>
                    <a:lstStyle/>
                    <a:p>
                      <a:pPr indent="0" marL="0">
                        <a:buNone/>
                      </a:pPr>
                      <a:r>
                        <a:rPr lang="en-US" sz="1300" dirty="0">
                          <a:solidFill>
                            <a:schemeClr val="tx1"/>
                          </a:solidFill>
                        </a:rPr>
                        <a:t>10,454 car-following samples</a:t>
                      </a:r>
                      <a:endParaRPr lang="en-US" sz="1300" dirty="0"/>
                    </a:p>
                  </a:txBody>
                  <a:tcPr marL="91440" marR="91440" marT="54864" marB="54864" anchor="ctr">
                    <a:lnL w="9525" cap="flat" cmpd="sng" algn="ctr">
                      <a:solidFill>
                        <a:srgbClr val="D5DAE1"/>
                      </a:solidFill>
                      <a:prstDash val="solid"/>
                      <a:round/>
                      <a:headEnd type="none" w="med" len="med"/>
                      <a:tailEnd type="none" w="med" len="med"/>
                    </a:lnL>
                    <a:lnR w="9525" cap="flat" cmpd="sng" algn="ctr">
                      <a:solidFill>
                        <a:srgbClr val="D5DAE1"/>
                      </a:solidFill>
                      <a:prstDash val="solid"/>
                      <a:round/>
                      <a:headEnd type="none" w="med" len="med"/>
                      <a:tailEnd type="none" w="med" len="med"/>
                    </a:lnR>
                    <a:lnT w="9525" cap="flat" cmpd="sng" algn="ctr">
                      <a:solidFill>
                        <a:srgbClr val="D5DAE1"/>
                      </a:solidFill>
                      <a:prstDash val="solid"/>
                      <a:round/>
                      <a:headEnd type="none" w="med" len="med"/>
                      <a:tailEnd type="none" w="med" len="med"/>
                    </a:lnT>
                    <a:lnB w="9525" cap="flat" cmpd="sng" algn="ctr">
                      <a:solidFill>
                        <a:srgbClr val="D5DAE1"/>
                      </a:solidFill>
                      <a:prstDash val="solid"/>
                      <a:round/>
                      <a:headEnd type="none" w="med" len="med"/>
                      <a:tailEnd type="none" w="med" len="med"/>
                    </a:lnB>
                    <a:solidFill>
                      <a:schemeClr val="bg1"/>
                    </a:solidFill>
                  </a:tcPr>
                </a:tc>
                <a:tc>
                  <a:txBody>
                    <a:bodyPr/>
                    <a:lstStyle/>
                    <a:p>
                      <a:pPr indent="0" marL="0">
                        <a:buNone/>
                      </a:pPr>
                      <a:r>
                        <a:rPr lang="en-US" sz="1300" dirty="0">
                          <a:solidFill>
                            <a:schemeClr val="tx1"/>
                          </a:solidFill>
                        </a:rPr>
                        <a:t>not used for training</a:t>
                      </a:r>
                      <a:endParaRPr lang="en-US" sz="1300" dirty="0"/>
                    </a:p>
                  </a:txBody>
                  <a:tcPr marL="91440" marR="91440" marT="54864" marB="54864" anchor="ctr">
                    <a:lnL w="9525" cap="flat" cmpd="sng" algn="ctr">
                      <a:solidFill>
                        <a:srgbClr val="D5DAE1"/>
                      </a:solidFill>
                      <a:prstDash val="solid"/>
                      <a:round/>
                      <a:headEnd type="none" w="med" len="med"/>
                      <a:tailEnd type="none" w="med" len="med"/>
                    </a:lnL>
                    <a:lnR w="9525" cap="flat" cmpd="sng" algn="ctr">
                      <a:solidFill>
                        <a:srgbClr val="D5DAE1"/>
                      </a:solidFill>
                      <a:prstDash val="solid"/>
                      <a:round/>
                      <a:headEnd type="none" w="med" len="med"/>
                      <a:tailEnd type="none" w="med" len="med"/>
                    </a:lnR>
                    <a:lnT w="9525" cap="flat" cmpd="sng" algn="ctr">
                      <a:solidFill>
                        <a:srgbClr val="D5DAE1"/>
                      </a:solidFill>
                      <a:prstDash val="solid"/>
                      <a:round/>
                      <a:headEnd type="none" w="med" len="med"/>
                      <a:tailEnd type="none" w="med" len="med"/>
                    </a:lnT>
                    <a:lnB w="9525" cap="flat" cmpd="sng" algn="ctr">
                      <a:solidFill>
                        <a:srgbClr val="D5DAE1"/>
                      </a:solidFill>
                      <a:prstDash val="solid"/>
                      <a:round/>
                      <a:headEnd type="none" w="med" len="med"/>
                      <a:tailEnd type="none" w="med" len="med"/>
                    </a:lnB>
                    <a:solidFill>
                      <a:schemeClr val="bg1"/>
                    </a:solidFill>
                  </a:tcPr>
                </a:tc>
                <a:tc>
                  <a:txBody>
                    <a:bodyPr/>
                    <a:lstStyle/>
                    <a:p>
                      <a:pPr indent="0" marL="0">
                        <a:buNone/>
                      </a:pPr>
                      <a:r>
                        <a:rPr lang="en-US" sz="1300" dirty="0">
                          <a:solidFill>
                            <a:schemeClr val="tx1"/>
                          </a:solidFill>
                        </a:rPr>
                        <a:t>E5</a:t>
                      </a:r>
                      <a:endParaRPr lang="en-US" sz="1300" dirty="0"/>
                    </a:p>
                  </a:txBody>
                  <a:tcPr marL="91440" marR="91440" marT="54864" marB="54864" anchor="ctr">
                    <a:lnL w="9525" cap="flat" cmpd="sng" algn="ctr">
                      <a:solidFill>
                        <a:srgbClr val="D5DAE1"/>
                      </a:solidFill>
                      <a:prstDash val="solid"/>
                      <a:round/>
                      <a:headEnd type="none" w="med" len="med"/>
                      <a:tailEnd type="none" w="med" len="med"/>
                    </a:lnL>
                    <a:lnR w="9525" cap="flat" cmpd="sng" algn="ctr">
                      <a:solidFill>
                        <a:srgbClr val="D5DAE1"/>
                      </a:solidFill>
                      <a:prstDash val="solid"/>
                      <a:round/>
                      <a:headEnd type="none" w="med" len="med"/>
                      <a:tailEnd type="none" w="med" len="med"/>
                    </a:lnR>
                    <a:lnT w="9525" cap="flat" cmpd="sng" algn="ctr">
                      <a:solidFill>
                        <a:srgbClr val="D5DAE1"/>
                      </a:solidFill>
                      <a:prstDash val="solid"/>
                      <a:round/>
                      <a:headEnd type="none" w="med" len="med"/>
                      <a:tailEnd type="none" w="med" len="med"/>
                    </a:lnT>
                    <a:lnB w="9525" cap="flat" cmpd="sng" algn="ctr">
                      <a:solidFill>
                        <a:srgbClr val="D5DAE1"/>
                      </a:solidFill>
                      <a:prstDash val="solid"/>
                      <a:round/>
                      <a:headEnd type="none" w="med" len="med"/>
                      <a:tailEnd type="none" w="med" len="med"/>
                    </a:lnB>
                    <a:solidFill>
                      <a:schemeClr val="bg1"/>
                    </a:solidFill>
                  </a:tcPr>
                </a:tc>
              </a:tr>
            </a:tbl>
          </a:graphicData>
        </a:graphic>
      </p:graphicFrame>
      <p:sp>
        <p:nvSpPr>
          <p:cNvPr id="5" name="data note"/>
          <p:cNvSpPr txBox="1"/>
          <p:nvPr/>
        </p:nvSpPr>
        <p:spPr>
          <a:xfrm>
            <a:off x="548640" y="5623560"/>
            <a:ext cx="11094415" cy="365760"/>
          </a:xfrm>
          <a:prstGeom prst="rect">
            <a:avLst/>
          </a:prstGeom>
          <a:noFill/>
          <a:ln/>
        </p:spPr>
        <p:txBody>
          <a:bodyPr wrap="square" lIns="0" tIns="0" rIns="0" bIns="0" rtlCol="0" anchor="t"/>
          <a:lstStyle/>
          <a:p>
            <a:pPr indent="0" marL="0">
              <a:buNone/>
            </a:pPr>
            <a:r>
              <a:rPr lang="en-US" sz="1300" dirty="0">
                <a:solidFill>
                  <a:schemeClr val="accent6"/>
                </a:solidFill>
              </a:rPr>
              <a:t>Pilot clips are never used. Licensed data (Nexar, Accid3nD) and features made from it stay private.</a:t>
            </a:r>
            <a:endParaRPr lang="en-US" sz="13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chemeClr val="accent6"/>
                </a:solidFill>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731520"/>
          </a:xfrm>
          <a:prstGeom prst="rect">
            <a:avLst/>
          </a:prstGeom>
          <a:noFill/>
          <a:ln/>
        </p:spPr>
        <p:txBody>
          <a:bodyPr wrap="square" lIns="0" tIns="0" rIns="0" bIns="0" rtlCol="0" anchor="b"/>
          <a:lstStyle/>
          <a:p>
            <a:pPr algn="l" indent="0" marL="0">
              <a:buNone/>
            </a:pPr>
            <a:r>
              <a:rPr lang="en-US" sz="3400" b="1" dirty="0">
                <a:solidFill>
                  <a:schemeClr val="tx1"/>
                </a:solidFill>
              </a:rPr>
              <a:t>CCD's official split leaks source videos</a:t>
            </a:r>
            <a:endParaRPr lang="en-US" sz="3400" dirty="0"/>
          </a:p>
        </p:txBody>
      </p:sp>
      <p:sp>
        <p:nvSpPr>
          <p:cNvPr id="3" name="Text 0"/>
          <p:cNvSpPr/>
          <p:nvPr>
            <p:ph idx="101" type="body" hasCustomPrompt="1"/>
          </p:nvPr>
        </p:nvSpPr>
        <p:spPr>
          <a:xfrm>
            <a:off x="548640" y="1078992"/>
            <a:ext cx="11094415" cy="411480"/>
          </a:xfrm>
          <a:prstGeom prst="rect">
            <a:avLst/>
          </a:prstGeom>
          <a:noFill/>
          <a:ln/>
        </p:spPr>
        <p:txBody>
          <a:bodyPr wrap="square" lIns="0" tIns="0" rIns="0" bIns="0" rtlCol="0" anchor="t"/>
          <a:lstStyle/>
          <a:p>
            <a:pPr indent="0" marL="0">
              <a:buNone/>
            </a:pPr>
            <a:r>
              <a:rPr lang="en-US" sz="1600" dirty="0">
                <a:solidFill>
                  <a:schemeClr val="accent6"/>
                </a:solidFill>
              </a:rPr>
              <a:t>Clips cut from the same YouTube video sit on both sides of the official train/test split</a:t>
            </a:r>
            <a:endParaRPr lang="en-US" sz="1600" dirty="0"/>
          </a:p>
        </p:txBody>
      </p:sp>
      <p:sp>
        <p:nvSpPr>
          <p:cNvPr id="4" name="leak stat"/>
          <p:cNvSpPr txBox="1"/>
          <p:nvPr/>
        </p:nvSpPr>
        <p:spPr>
          <a:xfrm>
            <a:off x="548640" y="1828800"/>
            <a:ext cx="4206240" cy="868680"/>
          </a:xfrm>
          <a:prstGeom prst="rect">
            <a:avLst/>
          </a:prstGeom>
          <a:noFill/>
          <a:ln/>
        </p:spPr>
        <p:txBody>
          <a:bodyPr wrap="square" lIns="0" tIns="0" rIns="0" bIns="0" rtlCol="0" anchor="t"/>
          <a:lstStyle/>
          <a:p>
            <a:pPr indent="0" marL="0">
              <a:buNone/>
            </a:pPr>
            <a:r>
              <a:rPr lang="en-US" sz="4800" b="1" dirty="0">
                <a:solidFill>
                  <a:schemeClr val="tx1"/>
                </a:solidFill>
                <a:latin typeface="Cambria" pitchFamily="34" charset="0"/>
                <a:ea typeface="Cambria" pitchFamily="34" charset="-122"/>
                <a:cs typeface="Cambria" pitchFamily="34" charset="-120"/>
              </a:rPr>
              <a:t>107 of 133</a:t>
            </a:r>
            <a:endParaRPr lang="en-US" sz="4800" dirty="0"/>
          </a:p>
        </p:txBody>
      </p:sp>
      <p:sp>
        <p:nvSpPr>
          <p:cNvPr id="5" name="leak stat label"/>
          <p:cNvSpPr txBox="1"/>
          <p:nvPr/>
        </p:nvSpPr>
        <p:spPr>
          <a:xfrm>
            <a:off x="548640" y="2697480"/>
            <a:ext cx="4023360" cy="640080"/>
          </a:xfrm>
          <a:prstGeom prst="rect">
            <a:avLst/>
          </a:prstGeom>
          <a:noFill/>
          <a:ln/>
        </p:spPr>
        <p:txBody>
          <a:bodyPr wrap="square" lIns="0" tIns="0" rIns="0" bIns="0" rtlCol="0" anchor="t"/>
          <a:lstStyle/>
          <a:p>
            <a:pPr indent="0" marL="0">
              <a:buNone/>
            </a:pPr>
            <a:r>
              <a:rPr lang="en-US" sz="1600" dirty="0">
                <a:solidFill>
                  <a:schemeClr val="tx1"/>
                </a:solidFill>
              </a:rPr>
              <a:t>source videos appear in both official train and test</a:t>
            </a:r>
            <a:endParaRPr lang="en-US" sz="1600" dirty="0"/>
          </a:p>
        </p:txBody>
      </p:sp>
      <p:sp>
        <p:nvSpPr>
          <p:cNvPr id="6" name="leak stat 2"/>
          <p:cNvSpPr txBox="1"/>
          <p:nvPr/>
        </p:nvSpPr>
        <p:spPr>
          <a:xfrm>
            <a:off x="548640" y="3520440"/>
            <a:ext cx="4206240" cy="731520"/>
          </a:xfrm>
          <a:prstGeom prst="rect">
            <a:avLst/>
          </a:prstGeom>
          <a:noFill/>
          <a:ln/>
        </p:spPr>
        <p:txBody>
          <a:bodyPr wrap="square" lIns="0" tIns="0" rIns="0" bIns="0" rtlCol="0" anchor="t"/>
          <a:lstStyle/>
          <a:p>
            <a:pPr indent="0" marL="0">
              <a:buNone/>
            </a:pPr>
            <a:r>
              <a:rPr lang="en-US" sz="3600" b="1" dirty="0">
                <a:solidFill>
                  <a:schemeClr val="tx1"/>
                </a:solidFill>
                <a:latin typeface="Cambria" pitchFamily="34" charset="0"/>
                <a:ea typeface="Cambria" pitchFamily="34" charset="-122"/>
                <a:cs typeface="Cambria" pitchFamily="34" charset="-120"/>
              </a:rPr>
              <a:t>1 of 300</a:t>
            </a:r>
            <a:endParaRPr lang="en-US" sz="3600" dirty="0"/>
          </a:p>
        </p:txBody>
      </p:sp>
      <p:sp>
        <p:nvSpPr>
          <p:cNvPr id="7" name="leak stat 2 label"/>
          <p:cNvSpPr txBox="1"/>
          <p:nvPr/>
        </p:nvSpPr>
        <p:spPr>
          <a:xfrm>
            <a:off x="548640" y="4251960"/>
            <a:ext cx="4023360" cy="640080"/>
          </a:xfrm>
          <a:prstGeom prst="rect">
            <a:avLst/>
          </a:prstGeom>
          <a:noFill/>
          <a:ln/>
        </p:spPr>
        <p:txBody>
          <a:bodyPr wrap="square" lIns="0" tIns="0" rIns="0" bIns="0" rtlCol="0" anchor="t"/>
          <a:lstStyle/>
          <a:p>
            <a:pPr indent="0" marL="0">
              <a:buNone/>
            </a:pPr>
            <a:r>
              <a:rPr lang="en-US" sz="1600" dirty="0">
                <a:solidFill>
                  <a:schemeClr val="tx1"/>
                </a:solidFill>
              </a:rPr>
              <a:t>official test crashes comes from a source unseen in training</a:t>
            </a:r>
            <a:endParaRPr lang="en-US" sz="1600" dirty="0"/>
          </a:p>
        </p:txBody>
      </p:sp>
      <p:sp>
        <p:nvSpPr>
          <p:cNvPr id="8" name="leak note"/>
          <p:cNvSpPr txBox="1"/>
          <p:nvPr/>
        </p:nvSpPr>
        <p:spPr>
          <a:xfrm>
            <a:off x="548640" y="5074920"/>
            <a:ext cx="4023360" cy="822960"/>
          </a:xfrm>
          <a:prstGeom prst="rect">
            <a:avLst/>
          </a:prstGeom>
          <a:noFill/>
          <a:ln/>
        </p:spPr>
        <p:txBody>
          <a:bodyPr wrap="square" lIns="0" tIns="0" rIns="0" bIns="0" rtlCol="0" anchor="t"/>
          <a:lstStyle/>
          <a:p>
            <a:pPr indent="0" marL="0">
              <a:buNone/>
            </a:pPr>
            <a:r>
              <a:rPr lang="en-US" sz="1400" dirty="0">
                <a:solidFill>
                  <a:schemeClr val="accent6"/>
                </a:solidFill>
              </a:rPr>
              <a:t>So we train and test on a source-grouped split (80/10/10) and report the official split only for comparison.</a:t>
            </a:r>
            <a:endParaRPr lang="en-US" sz="1400" dirty="0"/>
          </a:p>
        </p:txBody>
      </p:sp>
      <p:graphicFrame>
        <p:nvGraphicFramePr>
          <p:cNvPr id="9" name="CCD split chart" descr=""/>
          <p:cNvGraphicFramePr/>
          <p:nvPr/>
        </p:nvGraphicFramePr>
        <p:xfrm>
          <a:off x="5074920" y="1691640"/>
          <a:ext cx="6583680" cy="4343400"/>
        </p:xfrm>
        <a:graphic xmlns:a="http://schemas.openxmlformats.org/drawingml/2006/main">
          <a:graphicData uri="http://schemas.openxmlformats.org/drawingml/2006/chart">
            <c:chart xmlns:c="http://schemas.openxmlformats.org/drawingml/2006/chart" r:id="rId1"/>
          </a:graphicData>
        </a:graphic>
      </p:graphicFrame>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chemeClr val="accent6"/>
                </a:solidFill>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731520"/>
          </a:xfrm>
          <a:prstGeom prst="rect">
            <a:avLst/>
          </a:prstGeom>
          <a:noFill/>
          <a:ln/>
        </p:spPr>
        <p:txBody>
          <a:bodyPr wrap="square" lIns="0" tIns="0" rIns="0" bIns="0" rtlCol="0" anchor="b"/>
          <a:lstStyle/>
          <a:p>
            <a:pPr algn="l" indent="0" marL="0">
              <a:buNone/>
            </a:pPr>
            <a:r>
              <a:rPr lang="en-US" sz="3400" b="1" dirty="0">
                <a:solidFill>
                  <a:schemeClr val="tx1"/>
                </a:solidFill>
              </a:rPr>
              <a:t>Nexar: CARLA alone ≈ 10–25 % of real data</a:t>
            </a:r>
            <a:endParaRPr lang="en-US" sz="3400" dirty="0"/>
          </a:p>
        </p:txBody>
      </p:sp>
      <p:sp>
        <p:nvSpPr>
          <p:cNvPr id="3" name="Text 0"/>
          <p:cNvSpPr/>
          <p:nvPr>
            <p:ph idx="101" type="body" hasCustomPrompt="1"/>
          </p:nvPr>
        </p:nvSpPr>
        <p:spPr>
          <a:xfrm>
            <a:off x="548640" y="1078992"/>
            <a:ext cx="11094415" cy="411480"/>
          </a:xfrm>
          <a:prstGeom prst="rect">
            <a:avLst/>
          </a:prstGeom>
          <a:noFill/>
          <a:ln/>
        </p:spPr>
        <p:txBody>
          <a:bodyPr wrap="square" lIns="0" tIns="0" rIns="0" bIns="0" rtlCol="0" anchor="t"/>
          <a:lstStyle/>
          <a:p>
            <a:pPr indent="0" marL="0">
              <a:buNone/>
            </a:pPr>
            <a:r>
              <a:rPr lang="en-US" sz="1600" dirty="0">
                <a:solidFill>
                  <a:schemeClr val="accent6"/>
                </a:solidFill>
              </a:rPr>
              <a:t>Nexar official test sets (mean of public and private mAP); chance ≈ 0.5</a:t>
            </a:r>
            <a:endParaRPr lang="en-US" sz="1600" dirty="0"/>
          </a:p>
        </p:txBody>
      </p:sp>
      <p:graphicFrame>
        <p:nvGraphicFramePr>
          <p:cNvPr id="4" name="Nexar chart" descr=""/>
          <p:cNvGraphicFramePr/>
          <p:nvPr/>
        </p:nvGraphicFramePr>
        <p:xfrm>
          <a:off x="548640" y="1691640"/>
          <a:ext cx="6949440" cy="4434840"/>
        </p:xfrm>
        <a:graphic xmlns:a="http://schemas.openxmlformats.org/drawingml/2006/main">
          <a:graphicData uri="http://schemas.openxmlformats.org/drawingml/2006/chart">
            <c:chart xmlns:c="http://schemas.openxmlformats.org/drawingml/2006/chart" r:id="rId1"/>
          </a:graphicData>
        </a:graphic>
      </p:graphicFrame>
      <p:sp>
        <p:nvSpPr>
          <p:cNvPr id="5" name="Nexar point 1 number"/>
          <p:cNvSpPr txBox="1"/>
          <p:nvPr/>
        </p:nvSpPr>
        <p:spPr>
          <a:xfrm>
            <a:off x="7863840" y="1783080"/>
            <a:ext cx="3749040" cy="548640"/>
          </a:xfrm>
          <a:prstGeom prst="rect">
            <a:avLst/>
          </a:prstGeom>
          <a:noFill/>
          <a:ln/>
        </p:spPr>
        <p:txBody>
          <a:bodyPr wrap="square" lIns="0" tIns="0" rIns="0" bIns="0" rtlCol="0" anchor="t"/>
          <a:lstStyle/>
          <a:p>
            <a:pPr indent="0" marL="0">
              <a:buNone/>
            </a:pPr>
            <a:r>
              <a:rPr lang="en-US" sz="3000" b="1" dirty="0">
                <a:solidFill>
                  <a:schemeClr val="tx1"/>
                </a:solidFill>
                <a:latin typeface="Cambria" pitchFamily="34" charset="0"/>
                <a:ea typeface="Cambria" pitchFamily="34" charset="-122"/>
                <a:cs typeface="Cambria" pitchFamily="34" charset="-120"/>
              </a:rPr>
              <a:t>0.63</a:t>
            </a:r>
            <a:endParaRPr lang="en-US" sz="3000" dirty="0"/>
          </a:p>
        </p:txBody>
      </p:sp>
      <p:sp>
        <p:nvSpPr>
          <p:cNvPr id="6" name="Nexar point 1 label"/>
          <p:cNvSpPr txBox="1"/>
          <p:nvPr/>
        </p:nvSpPr>
        <p:spPr>
          <a:xfrm>
            <a:off x="7863840" y="2331720"/>
            <a:ext cx="3749040" cy="320040"/>
          </a:xfrm>
          <a:prstGeom prst="rect">
            <a:avLst/>
          </a:prstGeom>
          <a:noFill/>
          <a:ln/>
        </p:spPr>
        <p:txBody>
          <a:bodyPr wrap="square" lIns="0" tIns="0" rIns="0" bIns="0" rtlCol="0" anchor="t"/>
          <a:lstStyle/>
          <a:p>
            <a:pPr indent="0" marL="0">
              <a:buNone/>
            </a:pPr>
            <a:r>
              <a:rPr lang="en-US" sz="1500" b="1" dirty="0">
                <a:solidFill>
                  <a:schemeClr val="tx1"/>
                </a:solidFill>
              </a:rPr>
              <a:t>CARLA only</a:t>
            </a:r>
            <a:endParaRPr lang="en-US" sz="1500" dirty="0"/>
          </a:p>
        </p:txBody>
      </p:sp>
      <p:sp>
        <p:nvSpPr>
          <p:cNvPr id="7" name="Nexar point 1 text"/>
          <p:cNvSpPr txBox="1"/>
          <p:nvPr/>
        </p:nvSpPr>
        <p:spPr>
          <a:xfrm>
            <a:off x="7863840" y="2651760"/>
            <a:ext cx="3749040" cy="502920"/>
          </a:xfrm>
          <a:prstGeom prst="rect">
            <a:avLst/>
          </a:prstGeom>
          <a:noFill/>
          <a:ln/>
        </p:spPr>
        <p:txBody>
          <a:bodyPr wrap="square" lIns="0" tIns="0" rIns="0" bIns="0" rtlCol="0" anchor="t"/>
          <a:lstStyle/>
          <a:p>
            <a:pPr indent="0" marL="0">
              <a:buNone/>
            </a:pPr>
            <a:r>
              <a:rPr lang="en-US" sz="1200" dirty="0">
                <a:solidFill>
                  <a:schemeClr val="accent6"/>
                </a:solidFill>
              </a:rPr>
              <a:t>above chance, between the 10 % and 25 % real-data models</a:t>
            </a:r>
            <a:endParaRPr lang="en-US" sz="1200" dirty="0"/>
          </a:p>
        </p:txBody>
      </p:sp>
      <p:sp>
        <p:nvSpPr>
          <p:cNvPr id="8" name="Nexar point 2 number"/>
          <p:cNvSpPr txBox="1"/>
          <p:nvPr/>
        </p:nvSpPr>
        <p:spPr>
          <a:xfrm>
            <a:off x="7863840" y="3200400"/>
            <a:ext cx="3749040" cy="548640"/>
          </a:xfrm>
          <a:prstGeom prst="rect">
            <a:avLst/>
          </a:prstGeom>
          <a:noFill/>
          <a:ln/>
        </p:spPr>
        <p:txBody>
          <a:bodyPr wrap="square" lIns="0" tIns="0" rIns="0" bIns="0" rtlCol="0" anchor="t"/>
          <a:lstStyle/>
          <a:p>
            <a:pPr indent="0" marL="0">
              <a:buNone/>
            </a:pPr>
            <a:r>
              <a:rPr lang="en-US" sz="3000" b="1" dirty="0">
                <a:solidFill>
                  <a:schemeClr val="tx1"/>
                </a:solidFill>
                <a:latin typeface="Cambria" pitchFamily="34" charset="0"/>
                <a:ea typeface="Cambria" pitchFamily="34" charset="-122"/>
                <a:cs typeface="Cambria" pitchFamily="34" charset="-120"/>
              </a:rPr>
              <a:t>+0.05</a:t>
            </a:r>
            <a:endParaRPr lang="en-US" sz="3000" dirty="0"/>
          </a:p>
        </p:txBody>
      </p:sp>
      <p:sp>
        <p:nvSpPr>
          <p:cNvPr id="9" name="Nexar point 2 label"/>
          <p:cNvSpPr txBox="1"/>
          <p:nvPr/>
        </p:nvSpPr>
        <p:spPr>
          <a:xfrm>
            <a:off x="7863840" y="3749040"/>
            <a:ext cx="3749040" cy="320040"/>
          </a:xfrm>
          <a:prstGeom prst="rect">
            <a:avLst/>
          </a:prstGeom>
          <a:noFill/>
          <a:ln/>
        </p:spPr>
        <p:txBody>
          <a:bodyPr wrap="square" lIns="0" tIns="0" rIns="0" bIns="0" rtlCol="0" anchor="t"/>
          <a:lstStyle/>
          <a:p>
            <a:pPr indent="0" marL="0">
              <a:buNone/>
            </a:pPr>
            <a:r>
              <a:rPr lang="en-US" sz="1500" b="1" dirty="0">
                <a:solidFill>
                  <a:schemeClr val="tx1"/>
                </a:solidFill>
              </a:rPr>
              <a:t>CARLA added to 10 % real</a:t>
            </a:r>
            <a:endParaRPr lang="en-US" sz="1500" dirty="0"/>
          </a:p>
        </p:txBody>
      </p:sp>
      <p:sp>
        <p:nvSpPr>
          <p:cNvPr id="10" name="Nexar point 2 text"/>
          <p:cNvSpPr txBox="1"/>
          <p:nvPr/>
        </p:nvSpPr>
        <p:spPr>
          <a:xfrm>
            <a:off x="7863840" y="4069080"/>
            <a:ext cx="3749040" cy="502920"/>
          </a:xfrm>
          <a:prstGeom prst="rect">
            <a:avLst/>
          </a:prstGeom>
          <a:noFill/>
          <a:ln/>
        </p:spPr>
        <p:txBody>
          <a:bodyPr wrap="square" lIns="0" tIns="0" rIns="0" bIns="0" rtlCol="0" anchor="t"/>
          <a:lstStyle/>
          <a:p>
            <a:pPr indent="0" marL="0">
              <a:buNone/>
            </a:pPr>
            <a:r>
              <a:rPr lang="en-US" sz="1200" dirty="0">
                <a:solidFill>
                  <a:schemeClr val="accent6"/>
                </a:solidFill>
              </a:rPr>
              <a:t>0.556 → 0.602: the twin helps most when real data is scarce</a:t>
            </a:r>
            <a:endParaRPr lang="en-US" sz="1200" dirty="0"/>
          </a:p>
        </p:txBody>
      </p:sp>
      <p:sp>
        <p:nvSpPr>
          <p:cNvPr id="11" name="Nexar point 3 number"/>
          <p:cNvSpPr txBox="1"/>
          <p:nvPr/>
        </p:nvSpPr>
        <p:spPr>
          <a:xfrm>
            <a:off x="7863840" y="4617720"/>
            <a:ext cx="3749040" cy="548640"/>
          </a:xfrm>
          <a:prstGeom prst="rect">
            <a:avLst/>
          </a:prstGeom>
          <a:noFill/>
          <a:ln/>
        </p:spPr>
        <p:txBody>
          <a:bodyPr wrap="square" lIns="0" tIns="0" rIns="0" bIns="0" rtlCol="0" anchor="t"/>
          <a:lstStyle/>
          <a:p>
            <a:pPr indent="0" marL="0">
              <a:buNone/>
            </a:pPr>
            <a:r>
              <a:rPr lang="en-US" sz="3000" b="1" dirty="0">
                <a:solidFill>
                  <a:schemeClr val="tx1"/>
                </a:solidFill>
                <a:latin typeface="Cambria" pitchFamily="34" charset="0"/>
                <a:ea typeface="Cambria" pitchFamily="34" charset="-122"/>
                <a:cs typeface="Cambria" pitchFamily="34" charset="-120"/>
              </a:rPr>
              <a:t>0.714</a:t>
            </a:r>
            <a:endParaRPr lang="en-US" sz="3000" dirty="0"/>
          </a:p>
        </p:txBody>
      </p:sp>
      <p:sp>
        <p:nvSpPr>
          <p:cNvPr id="12" name="Nexar point 3 label"/>
          <p:cNvSpPr txBox="1"/>
          <p:nvPr/>
        </p:nvSpPr>
        <p:spPr>
          <a:xfrm>
            <a:off x="7863840" y="5166360"/>
            <a:ext cx="3749040" cy="320040"/>
          </a:xfrm>
          <a:prstGeom prst="rect">
            <a:avLst/>
          </a:prstGeom>
          <a:noFill/>
          <a:ln/>
        </p:spPr>
        <p:txBody>
          <a:bodyPr wrap="square" lIns="0" tIns="0" rIns="0" bIns="0" rtlCol="0" anchor="t"/>
          <a:lstStyle/>
          <a:p>
            <a:pPr indent="0" marL="0">
              <a:buNone/>
            </a:pPr>
            <a:r>
              <a:rPr lang="en-US" sz="1500" b="1" dirty="0">
                <a:solidFill>
                  <a:schemeClr val="tx1"/>
                </a:solidFill>
              </a:rPr>
              <a:t>best private-test mAP</a:t>
            </a:r>
            <a:endParaRPr lang="en-US" sz="1500" dirty="0"/>
          </a:p>
        </p:txBody>
      </p:sp>
      <p:sp>
        <p:nvSpPr>
          <p:cNvPr id="13" name="Nexar point 3 text"/>
          <p:cNvSpPr txBox="1"/>
          <p:nvPr/>
        </p:nvSpPr>
        <p:spPr>
          <a:xfrm>
            <a:off x="7863840" y="5486400"/>
            <a:ext cx="3749040" cy="502920"/>
          </a:xfrm>
          <a:prstGeom prst="rect">
            <a:avLst/>
          </a:prstGeom>
          <a:noFill/>
          <a:ln/>
        </p:spPr>
        <p:txBody>
          <a:bodyPr wrap="square" lIns="0" tIns="0" rIns="0" bIns="0" rtlCol="0" anchor="t"/>
          <a:lstStyle/>
          <a:p>
            <a:pPr indent="0" marL="0">
              <a:buNone/>
            </a:pPr>
            <a:r>
              <a:rPr lang="en-US" sz="1200" dirty="0">
                <a:solidFill>
                  <a:schemeClr val="accent6"/>
                </a:solidFill>
              </a:rPr>
              <a:t>CARLA + all real data (real only: 0.681)</a:t>
            </a:r>
            <a:endParaRPr lang="en-US" sz="1200" dirty="0"/>
          </a:p>
        </p:txBody>
      </p:sp>
      <p:sp>
        <p:nvSpPr>
          <p:cNvPr id="14" name="Nexar caveat"/>
          <p:cNvSpPr txBox="1"/>
          <p:nvPr/>
        </p:nvSpPr>
        <p:spPr>
          <a:xfrm>
            <a:off x="7863840" y="5852160"/>
            <a:ext cx="3749040" cy="274320"/>
          </a:xfrm>
          <a:prstGeom prst="rect">
            <a:avLst/>
          </a:prstGeom>
          <a:noFill/>
          <a:ln/>
        </p:spPr>
        <p:txBody>
          <a:bodyPr wrap="square" lIns="0" tIns="0" rIns="0" bIns="0" rtlCol="0" anchor="t"/>
          <a:lstStyle/>
          <a:p>
            <a:pPr indent="0" marL="0">
              <a:buNone/>
            </a:pPr>
            <a:r>
              <a:rPr lang="en-US" sz="1100" dirty="0">
                <a:solidFill>
                  <a:schemeClr val="accent6"/>
                </a:solidFill>
              </a:rPr>
              <a:t>2 seeds; differences under 0.03 are within seed noise.</a:t>
            </a:r>
            <a:endParaRPr lang="en-US" sz="11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chemeClr val="accent6"/>
                </a:solidFill>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731520"/>
          </a:xfrm>
          <a:prstGeom prst="rect">
            <a:avLst/>
          </a:prstGeom>
          <a:noFill/>
          <a:ln/>
        </p:spPr>
        <p:txBody>
          <a:bodyPr wrap="square" lIns="0" tIns="0" rIns="0" bIns="0" rtlCol="0" anchor="b"/>
          <a:lstStyle/>
          <a:p>
            <a:pPr algn="l" indent="0" marL="0">
              <a:buNone/>
            </a:pPr>
            <a:r>
              <a:rPr lang="en-US" sz="3400" b="1" dirty="0">
                <a:solidFill>
                  <a:schemeClr val="tx1"/>
                </a:solidFill>
              </a:rPr>
              <a:t>CCD: the twin does not transfer</a:t>
            </a:r>
            <a:endParaRPr lang="en-US" sz="3400" dirty="0"/>
          </a:p>
        </p:txBody>
      </p:sp>
      <p:sp>
        <p:nvSpPr>
          <p:cNvPr id="3" name="Text 0"/>
          <p:cNvSpPr/>
          <p:nvPr>
            <p:ph idx="101" type="body" hasCustomPrompt="1"/>
          </p:nvPr>
        </p:nvSpPr>
        <p:spPr>
          <a:xfrm>
            <a:off x="548640" y="1078992"/>
            <a:ext cx="11094415" cy="411480"/>
          </a:xfrm>
          <a:prstGeom prst="rect">
            <a:avLst/>
          </a:prstGeom>
          <a:noFill/>
          <a:ln/>
        </p:spPr>
        <p:txBody>
          <a:bodyPr wrap="square" lIns="0" tIns="0" rIns="0" bIns="0" rtlCol="0" anchor="t"/>
          <a:lstStyle/>
          <a:p>
            <a:pPr indent="0" marL="0">
              <a:buNone/>
            </a:pPr>
            <a:r>
              <a:rPr lang="en-US" sz="1600" dirty="0">
                <a:solidFill>
                  <a:schemeClr val="accent6"/>
                </a:solidFill>
              </a:rPr>
              <a:t>CCD source-grouped test: 437 videos, 31 % crashes (chance AP ≈ 0.31)</a:t>
            </a:r>
            <a:endParaRPr lang="en-US" sz="1600" dirty="0"/>
          </a:p>
        </p:txBody>
      </p:sp>
      <p:graphicFrame>
        <p:nvGraphicFramePr>
          <p:cNvPr id="4" name="CCD chart" descr=""/>
          <p:cNvGraphicFramePr/>
          <p:nvPr/>
        </p:nvGraphicFramePr>
        <p:xfrm>
          <a:off x="548640" y="1691640"/>
          <a:ext cx="6949440" cy="4434840"/>
        </p:xfrm>
        <a:graphic xmlns:a="http://schemas.openxmlformats.org/drawingml/2006/main">
          <a:graphicData uri="http://schemas.openxmlformats.org/drawingml/2006/chart">
            <c:chart xmlns:c="http://schemas.openxmlformats.org/drawingml/2006/chart" r:id="rId1"/>
          </a:graphicData>
        </a:graphic>
      </p:graphicFrame>
      <p:sp>
        <p:nvSpPr>
          <p:cNvPr id="5" name="CCD point 1 number"/>
          <p:cNvSpPr txBox="1"/>
          <p:nvPr/>
        </p:nvSpPr>
        <p:spPr>
          <a:xfrm>
            <a:off x="7863840" y="1783080"/>
            <a:ext cx="3749040" cy="548640"/>
          </a:xfrm>
          <a:prstGeom prst="rect">
            <a:avLst/>
          </a:prstGeom>
          <a:noFill/>
          <a:ln/>
        </p:spPr>
        <p:txBody>
          <a:bodyPr wrap="square" lIns="0" tIns="0" rIns="0" bIns="0" rtlCol="0" anchor="t"/>
          <a:lstStyle/>
          <a:p>
            <a:pPr indent="0" marL="0">
              <a:buNone/>
            </a:pPr>
            <a:r>
              <a:rPr lang="en-US" sz="3000" b="1" dirty="0">
                <a:solidFill>
                  <a:schemeClr val="tx1"/>
                </a:solidFill>
                <a:latin typeface="Cambria" pitchFamily="34" charset="0"/>
                <a:ea typeface="Cambria" pitchFamily="34" charset="-122"/>
                <a:cs typeface="Cambria" pitchFamily="34" charset="-120"/>
              </a:rPr>
              <a:t>0.25</a:t>
            </a:r>
            <a:endParaRPr lang="en-US" sz="3000" dirty="0"/>
          </a:p>
        </p:txBody>
      </p:sp>
      <p:sp>
        <p:nvSpPr>
          <p:cNvPr id="6" name="CCD point 1 label"/>
          <p:cNvSpPr txBox="1"/>
          <p:nvPr/>
        </p:nvSpPr>
        <p:spPr>
          <a:xfrm>
            <a:off x="7863840" y="2331720"/>
            <a:ext cx="3749040" cy="320040"/>
          </a:xfrm>
          <a:prstGeom prst="rect">
            <a:avLst/>
          </a:prstGeom>
          <a:noFill/>
          <a:ln/>
        </p:spPr>
        <p:txBody>
          <a:bodyPr wrap="square" lIns="0" tIns="0" rIns="0" bIns="0" rtlCol="0" anchor="t"/>
          <a:lstStyle/>
          <a:p>
            <a:pPr indent="0" marL="0">
              <a:buNone/>
            </a:pPr>
            <a:r>
              <a:rPr lang="en-US" sz="1500" b="1" dirty="0">
                <a:solidFill>
                  <a:schemeClr val="tx1"/>
                </a:solidFill>
              </a:rPr>
              <a:t>CARLA only</a:t>
            </a:r>
            <a:endParaRPr lang="en-US" sz="1500" dirty="0"/>
          </a:p>
        </p:txBody>
      </p:sp>
      <p:sp>
        <p:nvSpPr>
          <p:cNvPr id="7" name="CCD point 1 text"/>
          <p:cNvSpPr txBox="1"/>
          <p:nvPr/>
        </p:nvSpPr>
        <p:spPr>
          <a:xfrm>
            <a:off x="7863840" y="2651760"/>
            <a:ext cx="3749040" cy="502920"/>
          </a:xfrm>
          <a:prstGeom prst="rect">
            <a:avLst/>
          </a:prstGeom>
          <a:noFill/>
          <a:ln/>
        </p:spPr>
        <p:txBody>
          <a:bodyPr wrap="square" lIns="0" tIns="0" rIns="0" bIns="0" rtlCol="0" anchor="t"/>
          <a:lstStyle/>
          <a:p>
            <a:pPr indent="0" marL="0">
              <a:buNone/>
            </a:pPr>
            <a:r>
              <a:rPr lang="en-US" sz="1200" dirty="0">
                <a:solidFill>
                  <a:schemeClr val="accent6"/>
                </a:solidFill>
              </a:rPr>
              <a:t>below the 0.31 chance level: it ranks crashes worse than guessing</a:t>
            </a:r>
            <a:endParaRPr lang="en-US" sz="1200" dirty="0"/>
          </a:p>
        </p:txBody>
      </p:sp>
      <p:sp>
        <p:nvSpPr>
          <p:cNvPr id="8" name="CCD point 2 number"/>
          <p:cNvSpPr txBox="1"/>
          <p:nvPr/>
        </p:nvSpPr>
        <p:spPr>
          <a:xfrm>
            <a:off x="7863840" y="3200400"/>
            <a:ext cx="3749040" cy="548640"/>
          </a:xfrm>
          <a:prstGeom prst="rect">
            <a:avLst/>
          </a:prstGeom>
          <a:noFill/>
          <a:ln/>
        </p:spPr>
        <p:txBody>
          <a:bodyPr wrap="square" lIns="0" tIns="0" rIns="0" bIns="0" rtlCol="0" anchor="t"/>
          <a:lstStyle/>
          <a:p>
            <a:pPr indent="0" marL="0">
              <a:buNone/>
            </a:pPr>
            <a:r>
              <a:rPr lang="en-US" sz="3000" b="1" dirty="0">
                <a:solidFill>
                  <a:schemeClr val="tx1"/>
                </a:solidFill>
                <a:latin typeface="Cambria" pitchFamily="34" charset="0"/>
                <a:ea typeface="Cambria" pitchFamily="34" charset="-122"/>
                <a:cs typeface="Cambria" pitchFamily="34" charset="-120"/>
              </a:rPr>
              <a:t>−0.14</a:t>
            </a:r>
            <a:endParaRPr lang="en-US" sz="3000" dirty="0"/>
          </a:p>
        </p:txBody>
      </p:sp>
      <p:sp>
        <p:nvSpPr>
          <p:cNvPr id="9" name="CCD point 2 label"/>
          <p:cNvSpPr txBox="1"/>
          <p:nvPr/>
        </p:nvSpPr>
        <p:spPr>
          <a:xfrm>
            <a:off x="7863840" y="3749040"/>
            <a:ext cx="3749040" cy="320040"/>
          </a:xfrm>
          <a:prstGeom prst="rect">
            <a:avLst/>
          </a:prstGeom>
          <a:noFill/>
          <a:ln/>
        </p:spPr>
        <p:txBody>
          <a:bodyPr wrap="square" lIns="0" tIns="0" rIns="0" bIns="0" rtlCol="0" anchor="t"/>
          <a:lstStyle/>
          <a:p>
            <a:pPr indent="0" marL="0">
              <a:buNone/>
            </a:pPr>
            <a:r>
              <a:rPr lang="en-US" sz="1500" b="1" dirty="0">
                <a:solidFill>
                  <a:schemeClr val="tx1"/>
                </a:solidFill>
              </a:rPr>
              <a:t>adding CARLA to 10 % real</a:t>
            </a:r>
            <a:endParaRPr lang="en-US" sz="1500" dirty="0"/>
          </a:p>
        </p:txBody>
      </p:sp>
      <p:sp>
        <p:nvSpPr>
          <p:cNvPr id="10" name="CCD point 2 text"/>
          <p:cNvSpPr txBox="1"/>
          <p:nvPr/>
        </p:nvSpPr>
        <p:spPr>
          <a:xfrm>
            <a:off x="7863840" y="4069080"/>
            <a:ext cx="3749040" cy="502920"/>
          </a:xfrm>
          <a:prstGeom prst="rect">
            <a:avLst/>
          </a:prstGeom>
          <a:noFill/>
          <a:ln/>
        </p:spPr>
        <p:txBody>
          <a:bodyPr wrap="square" lIns="0" tIns="0" rIns="0" bIns="0" rtlCol="0" anchor="t"/>
          <a:lstStyle/>
          <a:p>
            <a:pPr indent="0" marL="0">
              <a:buNone/>
            </a:pPr>
            <a:r>
              <a:rPr lang="en-US" sz="1200" dirty="0">
                <a:solidFill>
                  <a:schemeClr val="accent6"/>
                </a:solidFill>
              </a:rPr>
              <a:t>0.678 → 0.535; the cost shrinks as real data grows (−0.02 at 100 %)</a:t>
            </a:r>
            <a:endParaRPr lang="en-US" sz="1200" dirty="0"/>
          </a:p>
        </p:txBody>
      </p:sp>
      <p:sp>
        <p:nvSpPr>
          <p:cNvPr id="11" name="CCD point 3 number"/>
          <p:cNvSpPr txBox="1"/>
          <p:nvPr/>
        </p:nvSpPr>
        <p:spPr>
          <a:xfrm>
            <a:off x="7863840" y="4617720"/>
            <a:ext cx="3749040" cy="548640"/>
          </a:xfrm>
          <a:prstGeom prst="rect">
            <a:avLst/>
          </a:prstGeom>
          <a:noFill/>
          <a:ln/>
        </p:spPr>
        <p:txBody>
          <a:bodyPr wrap="square" lIns="0" tIns="0" rIns="0" bIns="0" rtlCol="0" anchor="t"/>
          <a:lstStyle/>
          <a:p>
            <a:pPr indent="0" marL="0">
              <a:buNone/>
            </a:pPr>
            <a:r>
              <a:rPr lang="en-US" sz="3000" b="1" dirty="0">
                <a:solidFill>
                  <a:schemeClr val="tx1"/>
                </a:solidFill>
                <a:latin typeface="Cambria" pitchFamily="34" charset="0"/>
                <a:ea typeface="Cambria" pitchFamily="34" charset="-122"/>
                <a:cs typeface="Cambria" pitchFamily="34" charset="-120"/>
              </a:rPr>
              <a:t>Why?</a:t>
            </a:r>
            <a:endParaRPr lang="en-US" sz="3000" dirty="0"/>
          </a:p>
        </p:txBody>
      </p:sp>
      <p:sp>
        <p:nvSpPr>
          <p:cNvPr id="12" name="CCD point 3 label"/>
          <p:cNvSpPr txBox="1"/>
          <p:nvPr/>
        </p:nvSpPr>
        <p:spPr>
          <a:xfrm>
            <a:off x="7863840" y="5166360"/>
            <a:ext cx="3749040" cy="320040"/>
          </a:xfrm>
          <a:prstGeom prst="rect">
            <a:avLst/>
          </a:prstGeom>
          <a:noFill/>
          <a:ln/>
        </p:spPr>
        <p:txBody>
          <a:bodyPr wrap="square" lIns="0" tIns="0" rIns="0" bIns="0" rtlCol="0" anchor="t"/>
          <a:lstStyle/>
          <a:p>
            <a:pPr indent="0" marL="0">
              <a:buNone/>
            </a:pPr>
            <a:r>
              <a:rPr lang="en-US" sz="1500" b="1" dirty="0">
                <a:solidFill>
                  <a:schemeClr val="tx1"/>
                </a:solidFill>
              </a:rPr>
              <a:t>not tested yet</a:t>
            </a:r>
            <a:endParaRPr lang="en-US" sz="1500" dirty="0"/>
          </a:p>
        </p:txBody>
      </p:sp>
      <p:sp>
        <p:nvSpPr>
          <p:cNvPr id="13" name="CCD point 3 text"/>
          <p:cNvSpPr txBox="1"/>
          <p:nvPr/>
        </p:nvSpPr>
        <p:spPr>
          <a:xfrm>
            <a:off x="7863840" y="5486400"/>
            <a:ext cx="3749040" cy="502920"/>
          </a:xfrm>
          <a:prstGeom prst="rect">
            <a:avLst/>
          </a:prstGeom>
          <a:noFill/>
          <a:ln/>
        </p:spPr>
        <p:txBody>
          <a:bodyPr wrap="square" lIns="0" tIns="0" rIns="0" bIns="0" rtlCol="0" anchor="t"/>
          <a:lstStyle/>
          <a:p>
            <a:pPr indent="0" marL="0">
              <a:buNone/>
            </a:pPr>
            <a:r>
              <a:rPr lang="en-US" sz="1200" dirty="0">
                <a:solidFill>
                  <a:schemeClr val="accent6"/>
                </a:solidFill>
              </a:rPr>
              <a:t>5 s clips, other camera heights, many crashes between other cars, not the dashcam car</a:t>
            </a:r>
            <a:endParaRPr lang="en-US" sz="12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chemeClr val="accent6"/>
                </a:solidFill>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731520"/>
          </a:xfrm>
          <a:prstGeom prst="rect">
            <a:avLst/>
          </a:prstGeom>
          <a:noFill/>
          <a:ln/>
        </p:spPr>
        <p:txBody>
          <a:bodyPr wrap="square" lIns="0" tIns="0" rIns="0" bIns="0" rtlCol="0" anchor="b"/>
          <a:lstStyle/>
          <a:p>
            <a:pPr algn="l" indent="0" marL="0">
              <a:buNone/>
            </a:pPr>
            <a:r>
              <a:rPr lang="en-US" sz="3400" b="1" dirty="0">
                <a:solidFill>
                  <a:schemeClr val="tx1"/>
                </a:solidFill>
              </a:rPr>
              <a:t>Range sensors help most in the unseen town</a:t>
            </a:r>
            <a:endParaRPr lang="en-US" sz="3400" dirty="0"/>
          </a:p>
        </p:txBody>
      </p:sp>
      <p:sp>
        <p:nvSpPr>
          <p:cNvPr id="3" name="Text 0"/>
          <p:cNvSpPr/>
          <p:nvPr>
            <p:ph idx="101" type="body" hasCustomPrompt="1"/>
          </p:nvPr>
        </p:nvSpPr>
        <p:spPr>
          <a:xfrm>
            <a:off x="548640" y="1078992"/>
            <a:ext cx="11094415" cy="411480"/>
          </a:xfrm>
          <a:prstGeom prst="rect">
            <a:avLst/>
          </a:prstGeom>
          <a:noFill/>
          <a:ln/>
        </p:spPr>
        <p:txBody>
          <a:bodyPr wrap="square" lIns="0" tIns="0" rIns="0" bIns="0" rtlCol="0" anchor="t"/>
          <a:lstStyle/>
          <a:p>
            <a:pPr indent="0" marL="0">
              <a:buNone/>
            </a:pPr>
            <a:r>
              <a:rPr lang="en-US" sz="1600" dirty="0">
                <a:solidFill>
                  <a:schemeClr val="accent6"/>
                </a:solidFill>
              </a:rPr>
              <a:t>E4, CARLA test sets: camera features alone vs camera + sensor features</a:t>
            </a:r>
            <a:endParaRPr lang="en-US" sz="1600" dirty="0"/>
          </a:p>
        </p:txBody>
      </p:sp>
      <p:graphicFrame>
        <p:nvGraphicFramePr>
          <p:cNvPr id="4" name="sensor fusion chart" descr=""/>
          <p:cNvGraphicFramePr/>
          <p:nvPr/>
        </p:nvGraphicFramePr>
        <p:xfrm>
          <a:off x="548640" y="1691640"/>
          <a:ext cx="6949440" cy="4434840"/>
        </p:xfrm>
        <a:graphic xmlns:a="http://schemas.openxmlformats.org/drawingml/2006/main">
          <a:graphicData uri="http://schemas.openxmlformats.org/drawingml/2006/chart">
            <c:chart xmlns:c="http://schemas.openxmlformats.org/drawingml/2006/chart" r:id="rId1"/>
          </a:graphicData>
        </a:graphic>
      </p:graphicFrame>
      <p:sp>
        <p:nvSpPr>
          <p:cNvPr id="5" name="E4 point 1 number"/>
          <p:cNvSpPr txBox="1"/>
          <p:nvPr/>
        </p:nvSpPr>
        <p:spPr>
          <a:xfrm>
            <a:off x="7863840" y="1783080"/>
            <a:ext cx="3749040" cy="548640"/>
          </a:xfrm>
          <a:prstGeom prst="rect">
            <a:avLst/>
          </a:prstGeom>
          <a:noFill/>
          <a:ln/>
        </p:spPr>
        <p:txBody>
          <a:bodyPr wrap="square" lIns="0" tIns="0" rIns="0" bIns="0" rtlCol="0" anchor="t"/>
          <a:lstStyle/>
          <a:p>
            <a:pPr indent="0" marL="0">
              <a:buNone/>
            </a:pPr>
            <a:r>
              <a:rPr lang="en-US" sz="3000" b="1" dirty="0">
                <a:solidFill>
                  <a:schemeClr val="tx1"/>
                </a:solidFill>
                <a:latin typeface="Cambria" pitchFamily="34" charset="0"/>
                <a:ea typeface="Cambria" pitchFamily="34" charset="-122"/>
                <a:cs typeface="Cambria" pitchFamily="34" charset="-120"/>
              </a:rPr>
              <a:t>+0.09 to +0.10</a:t>
            </a:r>
            <a:endParaRPr lang="en-US" sz="3000" dirty="0"/>
          </a:p>
        </p:txBody>
      </p:sp>
      <p:sp>
        <p:nvSpPr>
          <p:cNvPr id="6" name="E4 point 1 label"/>
          <p:cNvSpPr txBox="1"/>
          <p:nvPr/>
        </p:nvSpPr>
        <p:spPr>
          <a:xfrm>
            <a:off x="7863840" y="2331720"/>
            <a:ext cx="3749040" cy="320040"/>
          </a:xfrm>
          <a:prstGeom prst="rect">
            <a:avLst/>
          </a:prstGeom>
          <a:noFill/>
          <a:ln/>
        </p:spPr>
        <p:txBody>
          <a:bodyPr wrap="square" lIns="0" tIns="0" rIns="0" bIns="0" rtlCol="0" anchor="t"/>
          <a:lstStyle/>
          <a:p>
            <a:pPr indent="0" marL="0">
              <a:buNone/>
            </a:pPr>
            <a:r>
              <a:rPr lang="en-US" sz="1500" b="1" dirty="0">
                <a:solidFill>
                  <a:schemeClr val="tx1"/>
                </a:solidFill>
              </a:rPr>
              <a:t>AP from any one range sensor</a:t>
            </a:r>
            <a:endParaRPr lang="en-US" sz="1500" dirty="0"/>
          </a:p>
        </p:txBody>
      </p:sp>
      <p:sp>
        <p:nvSpPr>
          <p:cNvPr id="7" name="E4 point 1 text"/>
          <p:cNvSpPr txBox="1"/>
          <p:nvPr/>
        </p:nvSpPr>
        <p:spPr>
          <a:xfrm>
            <a:off x="7863840" y="2651760"/>
            <a:ext cx="3749040" cy="502920"/>
          </a:xfrm>
          <a:prstGeom prst="rect">
            <a:avLst/>
          </a:prstGeom>
          <a:noFill/>
          <a:ln/>
        </p:spPr>
        <p:txBody>
          <a:bodyPr wrap="square" lIns="0" tIns="0" rIns="0" bIns="0" rtlCol="0" anchor="t"/>
          <a:lstStyle/>
          <a:p>
            <a:pPr indent="0" marL="0">
              <a:buNone/>
            </a:pPr>
            <a:r>
              <a:rPr lang="en-US" sz="1200" dirty="0">
                <a:solidFill>
                  <a:schemeClr val="accent6"/>
                </a:solidFill>
              </a:rPr>
              <a:t>in Town05, where the camera alone generalises worst</a:t>
            </a:r>
            <a:endParaRPr lang="en-US" sz="1200" dirty="0"/>
          </a:p>
        </p:txBody>
      </p:sp>
      <p:sp>
        <p:nvSpPr>
          <p:cNvPr id="8" name="E4 point 2 number"/>
          <p:cNvSpPr txBox="1"/>
          <p:nvPr/>
        </p:nvSpPr>
        <p:spPr>
          <a:xfrm>
            <a:off x="7863840" y="3200400"/>
            <a:ext cx="3749040" cy="548640"/>
          </a:xfrm>
          <a:prstGeom prst="rect">
            <a:avLst/>
          </a:prstGeom>
          <a:noFill/>
          <a:ln/>
        </p:spPr>
        <p:txBody>
          <a:bodyPr wrap="square" lIns="0" tIns="0" rIns="0" bIns="0" rtlCol="0" anchor="t"/>
          <a:lstStyle/>
          <a:p>
            <a:pPr indent="0" marL="0">
              <a:buNone/>
            </a:pPr>
            <a:r>
              <a:rPr lang="en-US" sz="3000" b="1" dirty="0">
                <a:solidFill>
                  <a:schemeClr val="tx1"/>
                </a:solidFill>
                <a:latin typeface="Cambria" pitchFamily="34" charset="0"/>
                <a:ea typeface="Cambria" pitchFamily="34" charset="-122"/>
                <a:cs typeface="Cambria" pitchFamily="34" charset="-120"/>
              </a:rPr>
              <a:t>0.971</a:t>
            </a:r>
            <a:endParaRPr lang="en-US" sz="3000" dirty="0"/>
          </a:p>
        </p:txBody>
      </p:sp>
      <p:sp>
        <p:nvSpPr>
          <p:cNvPr id="9" name="E4 point 2 label"/>
          <p:cNvSpPr txBox="1"/>
          <p:nvPr/>
        </p:nvSpPr>
        <p:spPr>
          <a:xfrm>
            <a:off x="7863840" y="3749040"/>
            <a:ext cx="3749040" cy="320040"/>
          </a:xfrm>
          <a:prstGeom prst="rect">
            <a:avLst/>
          </a:prstGeom>
          <a:noFill/>
          <a:ln/>
        </p:spPr>
        <p:txBody>
          <a:bodyPr wrap="square" lIns="0" tIns="0" rIns="0" bIns="0" rtlCol="0" anchor="t"/>
          <a:lstStyle/>
          <a:p>
            <a:pPr indent="0" marL="0">
              <a:buNone/>
            </a:pPr>
            <a:r>
              <a:rPr lang="en-US" sz="1500" b="1" dirty="0">
                <a:solidFill>
                  <a:schemeClr val="tx1"/>
                </a:solidFill>
              </a:rPr>
              <a:t>all sensors, held-out town</a:t>
            </a:r>
            <a:endParaRPr lang="en-US" sz="1500" dirty="0"/>
          </a:p>
        </p:txBody>
      </p:sp>
      <p:sp>
        <p:nvSpPr>
          <p:cNvPr id="10" name="E4 point 2 text"/>
          <p:cNvSpPr txBox="1"/>
          <p:nvPr/>
        </p:nvSpPr>
        <p:spPr>
          <a:xfrm>
            <a:off x="7863840" y="4069080"/>
            <a:ext cx="3749040" cy="502920"/>
          </a:xfrm>
          <a:prstGeom prst="rect">
            <a:avLst/>
          </a:prstGeom>
          <a:noFill/>
          <a:ln/>
        </p:spPr>
        <p:txBody>
          <a:bodyPr wrap="square" lIns="0" tIns="0" rIns="0" bIns="0" rtlCol="0" anchor="t"/>
          <a:lstStyle/>
          <a:p>
            <a:pPr indent="0" marL="0">
              <a:buNone/>
            </a:pPr>
            <a:r>
              <a:rPr lang="en-US" sz="1200" dirty="0">
                <a:solidFill>
                  <a:schemeClr val="accent6"/>
                </a:solidFill>
              </a:rPr>
              <a:t>camera alone: 0.837</a:t>
            </a:r>
            <a:endParaRPr lang="en-US" sz="1200" dirty="0"/>
          </a:p>
        </p:txBody>
      </p:sp>
      <p:sp>
        <p:nvSpPr>
          <p:cNvPr id="11" name="E4 point 3 number"/>
          <p:cNvSpPr txBox="1"/>
          <p:nvPr/>
        </p:nvSpPr>
        <p:spPr>
          <a:xfrm>
            <a:off x="7863840" y="4617720"/>
            <a:ext cx="3749040" cy="548640"/>
          </a:xfrm>
          <a:prstGeom prst="rect">
            <a:avLst/>
          </a:prstGeom>
          <a:noFill/>
          <a:ln/>
        </p:spPr>
        <p:txBody>
          <a:bodyPr wrap="square" lIns="0" tIns="0" rIns="0" bIns="0" rtlCol="0" anchor="t"/>
          <a:lstStyle/>
          <a:p>
            <a:pPr indent="0" marL="0">
              <a:buNone/>
            </a:pPr>
            <a:r>
              <a:rPr lang="en-US" sz="3000" b="1" dirty="0">
                <a:solidFill>
                  <a:schemeClr val="tx1"/>
                </a:solidFill>
                <a:latin typeface="Cambria" pitchFamily="34" charset="0"/>
                <a:ea typeface="Cambria" pitchFamily="34" charset="-122"/>
                <a:cs typeface="Cambria" pitchFamily="34" charset="-120"/>
              </a:rPr>
              <a:t>Upper bound</a:t>
            </a:r>
            <a:endParaRPr lang="en-US" sz="3000" dirty="0"/>
          </a:p>
        </p:txBody>
      </p:sp>
      <p:sp>
        <p:nvSpPr>
          <p:cNvPr id="12" name="E4 point 3 label"/>
          <p:cNvSpPr txBox="1"/>
          <p:nvPr/>
        </p:nvSpPr>
        <p:spPr>
          <a:xfrm>
            <a:off x="7863840" y="5166360"/>
            <a:ext cx="3749040" cy="320040"/>
          </a:xfrm>
          <a:prstGeom prst="rect">
            <a:avLst/>
          </a:prstGeom>
          <a:noFill/>
          <a:ln/>
        </p:spPr>
        <p:txBody>
          <a:bodyPr wrap="square" lIns="0" tIns="0" rIns="0" bIns="0" rtlCol="0" anchor="t"/>
          <a:lstStyle/>
          <a:p>
            <a:pPr indent="0" marL="0">
              <a:buNone/>
            </a:pPr>
            <a:r>
              <a:rPr lang="en-US" sz="1500" b="1" dirty="0">
                <a:solidFill>
                  <a:schemeClr val="tx1"/>
                </a:solidFill>
              </a:rPr>
              <a:t>simulated sensors</a:t>
            </a:r>
            <a:endParaRPr lang="en-US" sz="1500" dirty="0"/>
          </a:p>
        </p:txBody>
      </p:sp>
      <p:sp>
        <p:nvSpPr>
          <p:cNvPr id="13" name="E4 point 3 text"/>
          <p:cNvSpPr txBox="1"/>
          <p:nvPr/>
        </p:nvSpPr>
        <p:spPr>
          <a:xfrm>
            <a:off x="7863840" y="5486400"/>
            <a:ext cx="3749040" cy="502920"/>
          </a:xfrm>
          <a:prstGeom prst="rect">
            <a:avLst/>
          </a:prstGeom>
          <a:noFill/>
          <a:ln/>
        </p:spPr>
        <p:txBody>
          <a:bodyPr wrap="square" lIns="0" tIns="0" rIns="0" bIns="0" rtlCol="0" anchor="t"/>
          <a:lstStyle/>
          <a:p>
            <a:pPr indent="0" marL="0">
              <a:buNone/>
            </a:pPr>
            <a:r>
              <a:rPr lang="en-US" sz="1200" dirty="0">
                <a:solidFill>
                  <a:schemeClr val="accent6"/>
                </a:solidFill>
              </a:rPr>
              <a:t>real radar and LiDAR noise will reduce these gains</a:t>
            </a:r>
            <a:endParaRPr lang="en-US" sz="12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chemeClr val="accent6"/>
                </a:solidFill>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731520"/>
          </a:xfrm>
          <a:prstGeom prst="rect">
            <a:avLst/>
          </a:prstGeom>
          <a:noFill/>
          <a:ln/>
        </p:spPr>
        <p:txBody>
          <a:bodyPr wrap="square" lIns="0" tIns="0" rIns="0" bIns="0" rtlCol="0" anchor="b"/>
          <a:lstStyle/>
          <a:p>
            <a:pPr algn="l" indent="0" marL="0">
              <a:buNone/>
            </a:pPr>
            <a:r>
              <a:rPr lang="en-US" sz="3400" b="1" dirty="0">
                <a:solidFill>
                  <a:schemeClr val="tx1"/>
                </a:solidFill>
              </a:rPr>
              <a:t>CARLA traffic is slower and calmer</a:t>
            </a:r>
            <a:endParaRPr lang="en-US" sz="3400" dirty="0"/>
          </a:p>
        </p:txBody>
      </p:sp>
      <p:sp>
        <p:nvSpPr>
          <p:cNvPr id="3" name="Text 0"/>
          <p:cNvSpPr/>
          <p:nvPr>
            <p:ph idx="101" type="body" hasCustomPrompt="1"/>
          </p:nvPr>
        </p:nvSpPr>
        <p:spPr>
          <a:xfrm>
            <a:off x="548640" y="1078992"/>
            <a:ext cx="11094415" cy="411480"/>
          </a:xfrm>
          <a:prstGeom prst="rect">
            <a:avLst/>
          </a:prstGeom>
          <a:noFill/>
          <a:ln/>
        </p:spPr>
        <p:txBody>
          <a:bodyPr wrap="square" lIns="0" tIns="0" rIns="0" bIns="0" rtlCol="0" anchor="t"/>
          <a:lstStyle/>
          <a:p>
            <a:pPr indent="0" marL="0">
              <a:buNone/>
            </a:pPr>
            <a:r>
              <a:rPr lang="en-US" sz="1600" dirty="0">
                <a:solidFill>
                  <a:schemeClr val="accent6"/>
                </a:solidFill>
              </a:rPr>
              <a:t>E5: car-following in real highway traffic (Accid3nD) vs CARLA's Town04 highway, medians</a:t>
            </a:r>
            <a:endParaRPr lang="en-US" sz="1600" dirty="0"/>
          </a:p>
        </p:txBody>
      </p:sp>
      <p:sp>
        <p:nvSpPr>
          <p:cNvPr id="4" name="E5 card 1"/>
          <p:cNvSpPr/>
          <p:nvPr/>
        </p:nvSpPr>
        <p:spPr>
          <a:xfrm>
            <a:off x="548640" y="1783080"/>
            <a:ext cx="5440680" cy="1645920"/>
          </a:xfrm>
          <a:prstGeom prst="roundRect">
            <a:avLst>
              <a:gd name="adj" fmla="val 4444"/>
            </a:avLst>
          </a:prstGeom>
          <a:solidFill>
            <a:schemeClr val="bg2"/>
          </a:solidFill>
          <a:ln w="12700">
            <a:solidFill>
              <a:schemeClr val="bg2"/>
            </a:solidFill>
            <a:prstDash val="solid"/>
          </a:ln>
        </p:spPr>
      </p:sp>
      <p:sp>
        <p:nvSpPr>
          <p:cNvPr id="5" name="E5 1 icon circle"/>
          <p:cNvSpPr/>
          <p:nvPr/>
        </p:nvSpPr>
        <p:spPr>
          <a:xfrm>
            <a:off x="822960" y="2057400"/>
            <a:ext cx="594360" cy="594360"/>
          </a:xfrm>
          <a:prstGeom prst="ellipse">
            <a:avLst/>
          </a:prstGeom>
          <a:solidFill>
            <a:schemeClr val="accent1"/>
          </a:solidFill>
          <a:ln w="12700">
            <a:solidFill>
              <a:schemeClr val="accent1"/>
            </a:solidFill>
            <a:prstDash val="solid"/>
          </a:ln>
        </p:spPr>
      </p:sp>
      <p:pic>
        <p:nvPicPr>
          <p:cNvPr id="6" name="E5 1 icon" descr="E5 1">    </p:cNvPr>
          <p:cNvPicPr>
            <a:picLocks noChangeAspect="1"/>
          </p:cNvPicPr>
          <p:nvPr/>
        </p:nvPicPr>
        <p:blipFill>
          <a:blip r:embed="rId1"/>
          <a:stretch>
            <a:fillRect/>
          </a:stretch>
        </p:blipFill>
        <p:spPr>
          <a:xfrm>
            <a:off x="965606" y="2200046"/>
            <a:ext cx="309067" cy="309067"/>
          </a:xfrm>
          <a:prstGeom prst="rect">
            <a:avLst/>
          </a:prstGeom>
        </p:spPr>
      </p:pic>
      <p:sp>
        <p:nvSpPr>
          <p:cNvPr id="7" name="E5 1 metric"/>
          <p:cNvSpPr txBox="1"/>
          <p:nvPr/>
        </p:nvSpPr>
        <p:spPr>
          <a:xfrm>
            <a:off x="1600200" y="2057400"/>
            <a:ext cx="4114800" cy="365760"/>
          </a:xfrm>
          <a:prstGeom prst="rect">
            <a:avLst/>
          </a:prstGeom>
          <a:noFill/>
          <a:ln/>
        </p:spPr>
        <p:txBody>
          <a:bodyPr wrap="square" lIns="0" tIns="0" rIns="0" bIns="0" rtlCol="0" anchor="t"/>
          <a:lstStyle/>
          <a:p>
            <a:pPr indent="0" marL="0">
              <a:buNone/>
            </a:pPr>
            <a:r>
              <a:rPr lang="en-US" sz="1600" b="1" dirty="0">
                <a:solidFill>
                  <a:schemeClr val="tx1"/>
                </a:solidFill>
              </a:rPr>
              <a:t>Speed</a:t>
            </a:r>
            <a:endParaRPr lang="en-US" sz="1600" dirty="0"/>
          </a:p>
        </p:txBody>
      </p:sp>
      <p:sp>
        <p:nvSpPr>
          <p:cNvPr id="8" name="E5 1 real"/>
          <p:cNvSpPr txBox="1"/>
          <p:nvPr/>
        </p:nvSpPr>
        <p:spPr>
          <a:xfrm>
            <a:off x="1600200" y="2514600"/>
            <a:ext cx="2011680" cy="502920"/>
          </a:xfrm>
          <a:prstGeom prst="rect">
            <a:avLst/>
          </a:prstGeom>
          <a:noFill/>
          <a:ln/>
        </p:spPr>
        <p:txBody>
          <a:bodyPr wrap="square" lIns="0" tIns="0" rIns="0" bIns="0" rtlCol="0" anchor="t"/>
          <a:lstStyle/>
          <a:p>
            <a:pPr indent="0" marL="0">
              <a:buNone/>
            </a:pPr>
            <a:r>
              <a:rPr lang="en-US" sz="2600" b="1" dirty="0">
                <a:solidFill>
                  <a:schemeClr val="tx1"/>
                </a:solidFill>
                <a:latin typeface="Cambria" pitchFamily="34" charset="0"/>
                <a:ea typeface="Cambria" pitchFamily="34" charset="-122"/>
                <a:cs typeface="Cambria" pitchFamily="34" charset="-120"/>
              </a:rPr>
              <a:t>18.8 m/s</a:t>
            </a:r>
            <a:endParaRPr lang="en-US" sz="2600" dirty="0"/>
          </a:p>
        </p:txBody>
      </p:sp>
      <p:sp>
        <p:nvSpPr>
          <p:cNvPr id="9" name="E5 1 real label"/>
          <p:cNvSpPr txBox="1"/>
          <p:nvPr/>
        </p:nvSpPr>
        <p:spPr>
          <a:xfrm>
            <a:off x="1600200" y="2999232"/>
            <a:ext cx="2011680" cy="274320"/>
          </a:xfrm>
          <a:prstGeom prst="rect">
            <a:avLst/>
          </a:prstGeom>
          <a:noFill/>
          <a:ln/>
        </p:spPr>
        <p:txBody>
          <a:bodyPr wrap="square" lIns="0" tIns="0" rIns="0" bIns="0" rtlCol="0" anchor="t"/>
          <a:lstStyle/>
          <a:p>
            <a:pPr indent="0" marL="0">
              <a:buNone/>
            </a:pPr>
            <a:r>
              <a:rPr lang="en-US" sz="1200" dirty="0">
                <a:solidFill>
                  <a:schemeClr val="accent6"/>
                </a:solidFill>
              </a:rPr>
              <a:t>real highway</a:t>
            </a:r>
            <a:endParaRPr lang="en-US" sz="1200" dirty="0"/>
          </a:p>
        </p:txBody>
      </p:sp>
      <p:sp>
        <p:nvSpPr>
          <p:cNvPr id="10" name="E5 1 carla"/>
          <p:cNvSpPr txBox="1"/>
          <p:nvPr/>
        </p:nvSpPr>
        <p:spPr>
          <a:xfrm>
            <a:off x="3703320" y="2514600"/>
            <a:ext cx="2011680" cy="502920"/>
          </a:xfrm>
          <a:prstGeom prst="rect">
            <a:avLst/>
          </a:prstGeom>
          <a:noFill/>
          <a:ln/>
        </p:spPr>
        <p:txBody>
          <a:bodyPr wrap="square" lIns="0" tIns="0" rIns="0" bIns="0" rtlCol="0" anchor="t"/>
          <a:lstStyle/>
          <a:p>
            <a:pPr indent="0" marL="0">
              <a:buNone/>
            </a:pPr>
            <a:r>
              <a:rPr lang="en-US" sz="2600" b="1" dirty="0">
                <a:solidFill>
                  <a:schemeClr val="tx1"/>
                </a:solidFill>
                <a:latin typeface="Cambria" pitchFamily="34" charset="0"/>
                <a:ea typeface="Cambria" pitchFamily="34" charset="-122"/>
                <a:cs typeface="Cambria" pitchFamily="34" charset="-120"/>
              </a:rPr>
              <a:t>8.1 m/s</a:t>
            </a:r>
            <a:endParaRPr lang="en-US" sz="2600" dirty="0"/>
          </a:p>
        </p:txBody>
      </p:sp>
      <p:sp>
        <p:nvSpPr>
          <p:cNvPr id="11" name="E5 1 carla label"/>
          <p:cNvSpPr txBox="1"/>
          <p:nvPr/>
        </p:nvSpPr>
        <p:spPr>
          <a:xfrm>
            <a:off x="3703320" y="2999232"/>
            <a:ext cx="2011680" cy="274320"/>
          </a:xfrm>
          <a:prstGeom prst="rect">
            <a:avLst/>
          </a:prstGeom>
          <a:noFill/>
          <a:ln/>
        </p:spPr>
        <p:txBody>
          <a:bodyPr wrap="square" lIns="0" tIns="0" rIns="0" bIns="0" rtlCol="0" anchor="t"/>
          <a:lstStyle/>
          <a:p>
            <a:pPr indent="0" marL="0">
              <a:buNone/>
            </a:pPr>
            <a:r>
              <a:rPr lang="en-US" sz="1200" dirty="0">
                <a:solidFill>
                  <a:schemeClr val="accent6"/>
                </a:solidFill>
              </a:rPr>
              <a:t>CARLA highway</a:t>
            </a:r>
            <a:endParaRPr lang="en-US" sz="1200" dirty="0"/>
          </a:p>
        </p:txBody>
      </p:sp>
      <p:sp>
        <p:nvSpPr>
          <p:cNvPr id="12" name="E5 card 2"/>
          <p:cNvSpPr/>
          <p:nvPr/>
        </p:nvSpPr>
        <p:spPr>
          <a:xfrm>
            <a:off x="6190488" y="1783080"/>
            <a:ext cx="5440680" cy="1645920"/>
          </a:xfrm>
          <a:prstGeom prst="roundRect">
            <a:avLst>
              <a:gd name="adj" fmla="val 4444"/>
            </a:avLst>
          </a:prstGeom>
          <a:solidFill>
            <a:schemeClr val="bg2"/>
          </a:solidFill>
          <a:ln w="12700">
            <a:solidFill>
              <a:schemeClr val="bg2"/>
            </a:solidFill>
            <a:prstDash val="solid"/>
          </a:ln>
        </p:spPr>
      </p:sp>
      <p:sp>
        <p:nvSpPr>
          <p:cNvPr id="13" name="E5 2 icon circle"/>
          <p:cNvSpPr/>
          <p:nvPr/>
        </p:nvSpPr>
        <p:spPr>
          <a:xfrm>
            <a:off x="6464808" y="2057400"/>
            <a:ext cx="594360" cy="594360"/>
          </a:xfrm>
          <a:prstGeom prst="ellipse">
            <a:avLst/>
          </a:prstGeom>
          <a:solidFill>
            <a:schemeClr val="accent1"/>
          </a:solidFill>
          <a:ln w="12700">
            <a:solidFill>
              <a:schemeClr val="accent1"/>
            </a:solidFill>
            <a:prstDash val="solid"/>
          </a:ln>
        </p:spPr>
      </p:sp>
      <p:pic>
        <p:nvPicPr>
          <p:cNvPr id="14" name="E5 2 icon" descr="E5 2">    </p:cNvPr>
          <p:cNvPicPr>
            <a:picLocks noChangeAspect="1"/>
          </p:cNvPicPr>
          <p:nvPr/>
        </p:nvPicPr>
        <p:blipFill>
          <a:blip r:embed="rId2"/>
          <a:stretch>
            <a:fillRect/>
          </a:stretch>
        </p:blipFill>
        <p:spPr>
          <a:xfrm>
            <a:off x="6607454" y="2200046"/>
            <a:ext cx="309067" cy="309067"/>
          </a:xfrm>
          <a:prstGeom prst="rect">
            <a:avLst/>
          </a:prstGeom>
        </p:spPr>
      </p:pic>
      <p:sp>
        <p:nvSpPr>
          <p:cNvPr id="15" name="E5 2 metric"/>
          <p:cNvSpPr txBox="1"/>
          <p:nvPr/>
        </p:nvSpPr>
        <p:spPr>
          <a:xfrm>
            <a:off x="7242048" y="2057400"/>
            <a:ext cx="4114800" cy="365760"/>
          </a:xfrm>
          <a:prstGeom prst="rect">
            <a:avLst/>
          </a:prstGeom>
          <a:noFill/>
          <a:ln/>
        </p:spPr>
        <p:txBody>
          <a:bodyPr wrap="square" lIns="0" tIns="0" rIns="0" bIns="0" rtlCol="0" anchor="t"/>
          <a:lstStyle/>
          <a:p>
            <a:pPr indent="0" marL="0">
              <a:buNone/>
            </a:pPr>
            <a:r>
              <a:rPr lang="en-US" sz="1600" b="1" dirty="0">
                <a:solidFill>
                  <a:schemeClr val="tx1"/>
                </a:solidFill>
              </a:rPr>
              <a:t>Gap to the car ahead</a:t>
            </a:r>
            <a:endParaRPr lang="en-US" sz="1600" dirty="0"/>
          </a:p>
        </p:txBody>
      </p:sp>
      <p:sp>
        <p:nvSpPr>
          <p:cNvPr id="16" name="E5 2 real"/>
          <p:cNvSpPr txBox="1"/>
          <p:nvPr/>
        </p:nvSpPr>
        <p:spPr>
          <a:xfrm>
            <a:off x="7242048" y="2514600"/>
            <a:ext cx="2011680" cy="502920"/>
          </a:xfrm>
          <a:prstGeom prst="rect">
            <a:avLst/>
          </a:prstGeom>
          <a:noFill/>
          <a:ln/>
        </p:spPr>
        <p:txBody>
          <a:bodyPr wrap="square" lIns="0" tIns="0" rIns="0" bIns="0" rtlCol="0" anchor="t"/>
          <a:lstStyle/>
          <a:p>
            <a:pPr indent="0" marL="0">
              <a:buNone/>
            </a:pPr>
            <a:r>
              <a:rPr lang="en-US" sz="2600" b="1" dirty="0">
                <a:solidFill>
                  <a:schemeClr val="tx1"/>
                </a:solidFill>
                <a:latin typeface="Cambria" pitchFamily="34" charset="0"/>
                <a:ea typeface="Cambria" pitchFamily="34" charset="-122"/>
                <a:cs typeface="Cambria" pitchFamily="34" charset="-120"/>
              </a:rPr>
              <a:t>27.9 m</a:t>
            </a:r>
            <a:endParaRPr lang="en-US" sz="2600" dirty="0"/>
          </a:p>
        </p:txBody>
      </p:sp>
      <p:sp>
        <p:nvSpPr>
          <p:cNvPr id="17" name="E5 2 real label"/>
          <p:cNvSpPr txBox="1"/>
          <p:nvPr/>
        </p:nvSpPr>
        <p:spPr>
          <a:xfrm>
            <a:off x="7242048" y="2999232"/>
            <a:ext cx="2011680" cy="274320"/>
          </a:xfrm>
          <a:prstGeom prst="rect">
            <a:avLst/>
          </a:prstGeom>
          <a:noFill/>
          <a:ln/>
        </p:spPr>
        <p:txBody>
          <a:bodyPr wrap="square" lIns="0" tIns="0" rIns="0" bIns="0" rtlCol="0" anchor="t"/>
          <a:lstStyle/>
          <a:p>
            <a:pPr indent="0" marL="0">
              <a:buNone/>
            </a:pPr>
            <a:r>
              <a:rPr lang="en-US" sz="1200" dirty="0">
                <a:solidFill>
                  <a:schemeClr val="accent6"/>
                </a:solidFill>
              </a:rPr>
              <a:t>real highway</a:t>
            </a:r>
            <a:endParaRPr lang="en-US" sz="1200" dirty="0"/>
          </a:p>
        </p:txBody>
      </p:sp>
      <p:sp>
        <p:nvSpPr>
          <p:cNvPr id="18" name="E5 2 carla"/>
          <p:cNvSpPr txBox="1"/>
          <p:nvPr/>
        </p:nvSpPr>
        <p:spPr>
          <a:xfrm>
            <a:off x="9345168" y="2514600"/>
            <a:ext cx="2011680" cy="502920"/>
          </a:xfrm>
          <a:prstGeom prst="rect">
            <a:avLst/>
          </a:prstGeom>
          <a:noFill/>
          <a:ln/>
        </p:spPr>
        <p:txBody>
          <a:bodyPr wrap="square" lIns="0" tIns="0" rIns="0" bIns="0" rtlCol="0" anchor="t"/>
          <a:lstStyle/>
          <a:p>
            <a:pPr indent="0" marL="0">
              <a:buNone/>
            </a:pPr>
            <a:r>
              <a:rPr lang="en-US" sz="2600" b="1" dirty="0">
                <a:solidFill>
                  <a:schemeClr val="tx1"/>
                </a:solidFill>
                <a:latin typeface="Cambria" pitchFamily="34" charset="0"/>
                <a:ea typeface="Cambria" pitchFamily="34" charset="-122"/>
                <a:cs typeface="Cambria" pitchFamily="34" charset="-120"/>
              </a:rPr>
              <a:t>18.9 m</a:t>
            </a:r>
            <a:endParaRPr lang="en-US" sz="2600" dirty="0"/>
          </a:p>
        </p:txBody>
      </p:sp>
      <p:sp>
        <p:nvSpPr>
          <p:cNvPr id="19" name="E5 2 carla label"/>
          <p:cNvSpPr txBox="1"/>
          <p:nvPr/>
        </p:nvSpPr>
        <p:spPr>
          <a:xfrm>
            <a:off x="9345168" y="2999232"/>
            <a:ext cx="2011680" cy="274320"/>
          </a:xfrm>
          <a:prstGeom prst="rect">
            <a:avLst/>
          </a:prstGeom>
          <a:noFill/>
          <a:ln/>
        </p:spPr>
        <p:txBody>
          <a:bodyPr wrap="square" lIns="0" tIns="0" rIns="0" bIns="0" rtlCol="0" anchor="t"/>
          <a:lstStyle/>
          <a:p>
            <a:pPr indent="0" marL="0">
              <a:buNone/>
            </a:pPr>
            <a:r>
              <a:rPr lang="en-US" sz="1200" dirty="0">
                <a:solidFill>
                  <a:schemeClr val="accent6"/>
                </a:solidFill>
              </a:rPr>
              <a:t>CARLA highway</a:t>
            </a:r>
            <a:endParaRPr lang="en-US" sz="1200" dirty="0"/>
          </a:p>
        </p:txBody>
      </p:sp>
      <p:sp>
        <p:nvSpPr>
          <p:cNvPr id="20" name="E5 card 3"/>
          <p:cNvSpPr/>
          <p:nvPr/>
        </p:nvSpPr>
        <p:spPr>
          <a:xfrm>
            <a:off x="548640" y="3611880"/>
            <a:ext cx="5440680" cy="1645920"/>
          </a:xfrm>
          <a:prstGeom prst="roundRect">
            <a:avLst>
              <a:gd name="adj" fmla="val 4444"/>
            </a:avLst>
          </a:prstGeom>
          <a:solidFill>
            <a:schemeClr val="bg2"/>
          </a:solidFill>
          <a:ln w="12700">
            <a:solidFill>
              <a:schemeClr val="bg2"/>
            </a:solidFill>
            <a:prstDash val="solid"/>
          </a:ln>
        </p:spPr>
      </p:sp>
      <p:sp>
        <p:nvSpPr>
          <p:cNvPr id="21" name="E5 3 icon circle"/>
          <p:cNvSpPr/>
          <p:nvPr/>
        </p:nvSpPr>
        <p:spPr>
          <a:xfrm>
            <a:off x="822960" y="3886200"/>
            <a:ext cx="594360" cy="594360"/>
          </a:xfrm>
          <a:prstGeom prst="ellipse">
            <a:avLst/>
          </a:prstGeom>
          <a:solidFill>
            <a:schemeClr val="accent1"/>
          </a:solidFill>
          <a:ln w="12700">
            <a:solidFill>
              <a:schemeClr val="accent1"/>
            </a:solidFill>
            <a:prstDash val="solid"/>
          </a:ln>
        </p:spPr>
      </p:sp>
      <p:pic>
        <p:nvPicPr>
          <p:cNvPr id="22" name="E5 3 icon" descr="E5 3">    </p:cNvPr>
          <p:cNvPicPr>
            <a:picLocks noChangeAspect="1"/>
          </p:cNvPicPr>
          <p:nvPr/>
        </p:nvPicPr>
        <p:blipFill>
          <a:blip r:embed="rId3"/>
          <a:stretch>
            <a:fillRect/>
          </a:stretch>
        </p:blipFill>
        <p:spPr>
          <a:xfrm>
            <a:off x="965606" y="4028846"/>
            <a:ext cx="309067" cy="309067"/>
          </a:xfrm>
          <a:prstGeom prst="rect">
            <a:avLst/>
          </a:prstGeom>
        </p:spPr>
      </p:pic>
      <p:sp>
        <p:nvSpPr>
          <p:cNvPr id="23" name="E5 3 metric"/>
          <p:cNvSpPr txBox="1"/>
          <p:nvPr/>
        </p:nvSpPr>
        <p:spPr>
          <a:xfrm>
            <a:off x="1600200" y="3886200"/>
            <a:ext cx="4114800" cy="365760"/>
          </a:xfrm>
          <a:prstGeom prst="rect">
            <a:avLst/>
          </a:prstGeom>
          <a:noFill/>
          <a:ln/>
        </p:spPr>
        <p:txBody>
          <a:bodyPr wrap="square" lIns="0" tIns="0" rIns="0" bIns="0" rtlCol="0" anchor="t"/>
          <a:lstStyle/>
          <a:p>
            <a:pPr indent="0" marL="0">
              <a:buNone/>
            </a:pPr>
            <a:r>
              <a:rPr lang="en-US" sz="1600" b="1" dirty="0">
                <a:solidFill>
                  <a:schemeClr val="tx1"/>
                </a:solidFill>
              </a:rPr>
              <a:t>Time headway</a:t>
            </a:r>
            <a:endParaRPr lang="en-US" sz="1600" dirty="0"/>
          </a:p>
        </p:txBody>
      </p:sp>
      <p:sp>
        <p:nvSpPr>
          <p:cNvPr id="24" name="E5 3 real"/>
          <p:cNvSpPr txBox="1"/>
          <p:nvPr/>
        </p:nvSpPr>
        <p:spPr>
          <a:xfrm>
            <a:off x="1600200" y="4343400"/>
            <a:ext cx="2011680" cy="502920"/>
          </a:xfrm>
          <a:prstGeom prst="rect">
            <a:avLst/>
          </a:prstGeom>
          <a:noFill/>
          <a:ln/>
        </p:spPr>
        <p:txBody>
          <a:bodyPr wrap="square" lIns="0" tIns="0" rIns="0" bIns="0" rtlCol="0" anchor="t"/>
          <a:lstStyle/>
          <a:p>
            <a:pPr indent="0" marL="0">
              <a:buNone/>
            </a:pPr>
            <a:r>
              <a:rPr lang="en-US" sz="2600" b="1" dirty="0">
                <a:solidFill>
                  <a:schemeClr val="tx1"/>
                </a:solidFill>
                <a:latin typeface="Cambria" pitchFamily="34" charset="0"/>
                <a:ea typeface="Cambria" pitchFamily="34" charset="-122"/>
                <a:cs typeface="Cambria" pitchFamily="34" charset="-120"/>
              </a:rPr>
              <a:t>1.58 s</a:t>
            </a:r>
            <a:endParaRPr lang="en-US" sz="2600" dirty="0"/>
          </a:p>
        </p:txBody>
      </p:sp>
      <p:sp>
        <p:nvSpPr>
          <p:cNvPr id="25" name="E5 3 real label"/>
          <p:cNvSpPr txBox="1"/>
          <p:nvPr/>
        </p:nvSpPr>
        <p:spPr>
          <a:xfrm>
            <a:off x="1600200" y="4828032"/>
            <a:ext cx="2011680" cy="274320"/>
          </a:xfrm>
          <a:prstGeom prst="rect">
            <a:avLst/>
          </a:prstGeom>
          <a:noFill/>
          <a:ln/>
        </p:spPr>
        <p:txBody>
          <a:bodyPr wrap="square" lIns="0" tIns="0" rIns="0" bIns="0" rtlCol="0" anchor="t"/>
          <a:lstStyle/>
          <a:p>
            <a:pPr indent="0" marL="0">
              <a:buNone/>
            </a:pPr>
            <a:r>
              <a:rPr lang="en-US" sz="1200" dirty="0">
                <a:solidFill>
                  <a:schemeClr val="accent6"/>
                </a:solidFill>
              </a:rPr>
              <a:t>real highway</a:t>
            </a:r>
            <a:endParaRPr lang="en-US" sz="1200" dirty="0"/>
          </a:p>
        </p:txBody>
      </p:sp>
      <p:sp>
        <p:nvSpPr>
          <p:cNvPr id="26" name="E5 3 carla"/>
          <p:cNvSpPr txBox="1"/>
          <p:nvPr/>
        </p:nvSpPr>
        <p:spPr>
          <a:xfrm>
            <a:off x="3703320" y="4343400"/>
            <a:ext cx="2011680" cy="502920"/>
          </a:xfrm>
          <a:prstGeom prst="rect">
            <a:avLst/>
          </a:prstGeom>
          <a:noFill/>
          <a:ln/>
        </p:spPr>
        <p:txBody>
          <a:bodyPr wrap="square" lIns="0" tIns="0" rIns="0" bIns="0" rtlCol="0" anchor="t"/>
          <a:lstStyle/>
          <a:p>
            <a:pPr indent="0" marL="0">
              <a:buNone/>
            </a:pPr>
            <a:r>
              <a:rPr lang="en-US" sz="2600" b="1" dirty="0">
                <a:solidFill>
                  <a:schemeClr val="tx1"/>
                </a:solidFill>
                <a:latin typeface="Cambria" pitchFamily="34" charset="0"/>
                <a:ea typeface="Cambria" pitchFamily="34" charset="-122"/>
                <a:cs typeface="Cambria" pitchFamily="34" charset="-120"/>
              </a:rPr>
              <a:t>2.15 s</a:t>
            </a:r>
            <a:endParaRPr lang="en-US" sz="2600" dirty="0"/>
          </a:p>
        </p:txBody>
      </p:sp>
      <p:sp>
        <p:nvSpPr>
          <p:cNvPr id="27" name="E5 3 carla label"/>
          <p:cNvSpPr txBox="1"/>
          <p:nvPr/>
        </p:nvSpPr>
        <p:spPr>
          <a:xfrm>
            <a:off x="3703320" y="4828032"/>
            <a:ext cx="2011680" cy="274320"/>
          </a:xfrm>
          <a:prstGeom prst="rect">
            <a:avLst/>
          </a:prstGeom>
          <a:noFill/>
          <a:ln/>
        </p:spPr>
        <p:txBody>
          <a:bodyPr wrap="square" lIns="0" tIns="0" rIns="0" bIns="0" rtlCol="0" anchor="t"/>
          <a:lstStyle/>
          <a:p>
            <a:pPr indent="0" marL="0">
              <a:buNone/>
            </a:pPr>
            <a:r>
              <a:rPr lang="en-US" sz="1200" dirty="0">
                <a:solidFill>
                  <a:schemeClr val="accent6"/>
                </a:solidFill>
              </a:rPr>
              <a:t>CARLA highway</a:t>
            </a:r>
            <a:endParaRPr lang="en-US" sz="1200" dirty="0"/>
          </a:p>
        </p:txBody>
      </p:sp>
      <p:sp>
        <p:nvSpPr>
          <p:cNvPr id="28" name="E5 card 4"/>
          <p:cNvSpPr/>
          <p:nvPr/>
        </p:nvSpPr>
        <p:spPr>
          <a:xfrm>
            <a:off x="6190488" y="3611880"/>
            <a:ext cx="5440680" cy="1645920"/>
          </a:xfrm>
          <a:prstGeom prst="roundRect">
            <a:avLst>
              <a:gd name="adj" fmla="val 4444"/>
            </a:avLst>
          </a:prstGeom>
          <a:solidFill>
            <a:schemeClr val="bg2"/>
          </a:solidFill>
          <a:ln w="12700">
            <a:solidFill>
              <a:schemeClr val="bg2"/>
            </a:solidFill>
            <a:prstDash val="solid"/>
          </a:ln>
        </p:spPr>
      </p:sp>
      <p:sp>
        <p:nvSpPr>
          <p:cNvPr id="29" name="E5 4 icon circle"/>
          <p:cNvSpPr/>
          <p:nvPr/>
        </p:nvSpPr>
        <p:spPr>
          <a:xfrm>
            <a:off x="6464808" y="3886200"/>
            <a:ext cx="594360" cy="594360"/>
          </a:xfrm>
          <a:prstGeom prst="ellipse">
            <a:avLst/>
          </a:prstGeom>
          <a:solidFill>
            <a:schemeClr val="accent1"/>
          </a:solidFill>
          <a:ln w="12700">
            <a:solidFill>
              <a:schemeClr val="accent1"/>
            </a:solidFill>
            <a:prstDash val="solid"/>
          </a:ln>
        </p:spPr>
      </p:sp>
      <p:pic>
        <p:nvPicPr>
          <p:cNvPr id="30" name="E5 4 icon" descr="E5 4">    </p:cNvPr>
          <p:cNvPicPr>
            <a:picLocks noChangeAspect="1"/>
          </p:cNvPicPr>
          <p:nvPr/>
        </p:nvPicPr>
        <p:blipFill>
          <a:blip r:embed="rId4"/>
          <a:stretch>
            <a:fillRect/>
          </a:stretch>
        </p:blipFill>
        <p:spPr>
          <a:xfrm>
            <a:off x="6607454" y="4028846"/>
            <a:ext cx="309067" cy="309067"/>
          </a:xfrm>
          <a:prstGeom prst="rect">
            <a:avLst/>
          </a:prstGeom>
        </p:spPr>
      </p:pic>
      <p:sp>
        <p:nvSpPr>
          <p:cNvPr id="31" name="E5 4 metric"/>
          <p:cNvSpPr txBox="1"/>
          <p:nvPr/>
        </p:nvSpPr>
        <p:spPr>
          <a:xfrm>
            <a:off x="7242048" y="3886200"/>
            <a:ext cx="4114800" cy="365760"/>
          </a:xfrm>
          <a:prstGeom prst="rect">
            <a:avLst/>
          </a:prstGeom>
          <a:noFill/>
          <a:ln/>
        </p:spPr>
        <p:txBody>
          <a:bodyPr wrap="square" lIns="0" tIns="0" rIns="0" bIns="0" rtlCol="0" anchor="t"/>
          <a:lstStyle/>
          <a:p>
            <a:pPr indent="0" marL="0">
              <a:buNone/>
            </a:pPr>
            <a:r>
              <a:rPr lang="en-US" sz="1600" b="1" dirty="0">
                <a:solidFill>
                  <a:schemeClr val="tx1"/>
                </a:solidFill>
              </a:rPr>
              <a:t>TTC when closing in</a:t>
            </a:r>
            <a:endParaRPr lang="en-US" sz="1600" dirty="0"/>
          </a:p>
        </p:txBody>
      </p:sp>
      <p:sp>
        <p:nvSpPr>
          <p:cNvPr id="32" name="E5 4 real"/>
          <p:cNvSpPr txBox="1"/>
          <p:nvPr/>
        </p:nvSpPr>
        <p:spPr>
          <a:xfrm>
            <a:off x="7242048" y="4343400"/>
            <a:ext cx="2011680" cy="502920"/>
          </a:xfrm>
          <a:prstGeom prst="rect">
            <a:avLst/>
          </a:prstGeom>
          <a:noFill/>
          <a:ln/>
        </p:spPr>
        <p:txBody>
          <a:bodyPr wrap="square" lIns="0" tIns="0" rIns="0" bIns="0" rtlCol="0" anchor="t"/>
          <a:lstStyle/>
          <a:p>
            <a:pPr indent="0" marL="0">
              <a:buNone/>
            </a:pPr>
            <a:r>
              <a:rPr lang="en-US" sz="2600" b="1" dirty="0">
                <a:solidFill>
                  <a:schemeClr val="tx1"/>
                </a:solidFill>
                <a:latin typeface="Cambria" pitchFamily="34" charset="0"/>
                <a:ea typeface="Cambria" pitchFamily="34" charset="-122"/>
                <a:cs typeface="Cambria" pitchFamily="34" charset="-120"/>
              </a:rPr>
              <a:t>2.1 s</a:t>
            </a:r>
            <a:endParaRPr lang="en-US" sz="2600" dirty="0"/>
          </a:p>
        </p:txBody>
      </p:sp>
      <p:sp>
        <p:nvSpPr>
          <p:cNvPr id="33" name="E5 4 real label"/>
          <p:cNvSpPr txBox="1"/>
          <p:nvPr/>
        </p:nvSpPr>
        <p:spPr>
          <a:xfrm>
            <a:off x="7242048" y="4828032"/>
            <a:ext cx="2011680" cy="274320"/>
          </a:xfrm>
          <a:prstGeom prst="rect">
            <a:avLst/>
          </a:prstGeom>
          <a:noFill/>
          <a:ln/>
        </p:spPr>
        <p:txBody>
          <a:bodyPr wrap="square" lIns="0" tIns="0" rIns="0" bIns="0" rtlCol="0" anchor="t"/>
          <a:lstStyle/>
          <a:p>
            <a:pPr indent="0" marL="0">
              <a:buNone/>
            </a:pPr>
            <a:r>
              <a:rPr lang="en-US" sz="1200" dirty="0">
                <a:solidFill>
                  <a:schemeClr val="accent6"/>
                </a:solidFill>
              </a:rPr>
              <a:t>real highway</a:t>
            </a:r>
            <a:endParaRPr lang="en-US" sz="1200" dirty="0"/>
          </a:p>
        </p:txBody>
      </p:sp>
      <p:sp>
        <p:nvSpPr>
          <p:cNvPr id="34" name="E5 4 carla"/>
          <p:cNvSpPr txBox="1"/>
          <p:nvPr/>
        </p:nvSpPr>
        <p:spPr>
          <a:xfrm>
            <a:off x="9345168" y="4343400"/>
            <a:ext cx="2011680" cy="502920"/>
          </a:xfrm>
          <a:prstGeom prst="rect">
            <a:avLst/>
          </a:prstGeom>
          <a:noFill/>
          <a:ln/>
        </p:spPr>
        <p:txBody>
          <a:bodyPr wrap="square" lIns="0" tIns="0" rIns="0" bIns="0" rtlCol="0" anchor="t"/>
          <a:lstStyle/>
          <a:p>
            <a:pPr indent="0" marL="0">
              <a:buNone/>
            </a:pPr>
            <a:r>
              <a:rPr lang="en-US" sz="2600" b="1" dirty="0">
                <a:solidFill>
                  <a:schemeClr val="tx1"/>
                </a:solidFill>
                <a:latin typeface="Cambria" pitchFamily="34" charset="0"/>
                <a:ea typeface="Cambria" pitchFamily="34" charset="-122"/>
                <a:cs typeface="Cambria" pitchFamily="34" charset="-120"/>
              </a:rPr>
              <a:t>6.2 s</a:t>
            </a:r>
            <a:endParaRPr lang="en-US" sz="2600" dirty="0"/>
          </a:p>
        </p:txBody>
      </p:sp>
      <p:sp>
        <p:nvSpPr>
          <p:cNvPr id="35" name="E5 4 carla label"/>
          <p:cNvSpPr txBox="1"/>
          <p:nvPr/>
        </p:nvSpPr>
        <p:spPr>
          <a:xfrm>
            <a:off x="9345168" y="4828032"/>
            <a:ext cx="2011680" cy="274320"/>
          </a:xfrm>
          <a:prstGeom prst="rect">
            <a:avLst/>
          </a:prstGeom>
          <a:noFill/>
          <a:ln/>
        </p:spPr>
        <p:txBody>
          <a:bodyPr wrap="square" lIns="0" tIns="0" rIns="0" bIns="0" rtlCol="0" anchor="t"/>
          <a:lstStyle/>
          <a:p>
            <a:pPr indent="0" marL="0">
              <a:buNone/>
            </a:pPr>
            <a:r>
              <a:rPr lang="en-US" sz="1200" dirty="0">
                <a:solidFill>
                  <a:schemeClr val="accent6"/>
                </a:solidFill>
              </a:rPr>
              <a:t>CARLA highway</a:t>
            </a:r>
            <a:endParaRPr lang="en-US" sz="1200" dirty="0"/>
          </a:p>
        </p:txBody>
      </p:sp>
      <p:sp>
        <p:nvSpPr>
          <p:cNvPr id="36" name="E5 note"/>
          <p:cNvSpPr txBox="1"/>
          <p:nvPr/>
        </p:nvSpPr>
        <p:spPr>
          <a:xfrm>
            <a:off x="548640" y="5486400"/>
            <a:ext cx="11094415" cy="594360"/>
          </a:xfrm>
          <a:prstGeom prst="rect">
            <a:avLst/>
          </a:prstGeom>
          <a:noFill/>
          <a:ln/>
        </p:spPr>
        <p:txBody>
          <a:bodyPr wrap="square" lIns="0" tIns="0" rIns="0" bIns="0" rtlCol="0" anchor="t"/>
          <a:lstStyle/>
          <a:p>
            <a:pPr indent="0" marL="0">
              <a:buNone/>
            </a:pPr>
            <a:r>
              <a:rPr lang="en-US" sz="1300" dirty="0">
                <a:solidFill>
                  <a:schemeClr val="accent6"/>
                </a:solidFill>
              </a:rPr>
              <a:t>10,454 real vs 437 CARLA samples at 1 Hz; speed, gap and headway differ at KS p &lt; 10⁻³⁰, TTC at p &lt; 10⁻⁸. The crash-level comparison was dropped: 0 of 3 automatic Accid3nD crash candidates were real crashes.</a:t>
            </a:r>
            <a:endParaRPr lang="en-US" sz="13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chemeClr val="accent6"/>
                </a:solidFill>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731520"/>
          </a:xfrm>
          <a:prstGeom prst="rect">
            <a:avLst/>
          </a:prstGeom>
          <a:noFill/>
          <a:ln/>
        </p:spPr>
        <p:txBody>
          <a:bodyPr wrap="square" lIns="0" tIns="0" rIns="0" bIns="0" rtlCol="0" anchor="b"/>
          <a:lstStyle/>
          <a:p>
            <a:pPr algn="l" indent="0" marL="0">
              <a:buNone/>
            </a:pPr>
            <a:r>
              <a:rPr lang="en-US" sz="3400" b="1" dirty="0">
                <a:solidFill>
                  <a:schemeClr val="tx1"/>
                </a:solidFill>
              </a:rPr>
              <a:t>Night and rain: no clear effect yet</a:t>
            </a:r>
            <a:endParaRPr lang="en-US" sz="3400" dirty="0"/>
          </a:p>
        </p:txBody>
      </p:sp>
      <p:sp>
        <p:nvSpPr>
          <p:cNvPr id="3" name="Text 0"/>
          <p:cNvSpPr/>
          <p:nvPr>
            <p:ph idx="101" type="body" hasCustomPrompt="1"/>
          </p:nvPr>
        </p:nvSpPr>
        <p:spPr>
          <a:xfrm>
            <a:off x="548640" y="1078992"/>
            <a:ext cx="11094415" cy="411480"/>
          </a:xfrm>
          <a:prstGeom prst="rect">
            <a:avLst/>
          </a:prstGeom>
          <a:noFill/>
          <a:ln/>
        </p:spPr>
        <p:txBody>
          <a:bodyPr wrap="square" lIns="0" tIns="0" rIns="0" bIns="0" rtlCol="0" anchor="t"/>
          <a:lstStyle/>
          <a:p>
            <a:pPr indent="0" marL="0">
              <a:buNone/>
            </a:pPr>
            <a:r>
              <a:rPr lang="en-US" sz="1600" dirty="0">
                <a:solidFill>
                  <a:schemeClr val="accent6"/>
                </a:solidFill>
              </a:rPr>
              <a:t>E6: video-level AP on Nexar public test by condition (CCD normal clips carry no condition labels)</a:t>
            </a:r>
            <a:endParaRPr lang="en-US" sz="1600" dirty="0"/>
          </a:p>
        </p:txBody>
      </p:sp>
      <p:graphicFrame>
        <p:nvGraphicFramePr>
          <p:cNvPr id="15" name="E6 table"/>
          <p:cNvGraphicFramePr>
            <a:graphicFrameLocks noGrp="1"/>
          </p:cNvGraphicFramePr>
          <p:nvPr>
            <p:extLst>
              <p:ext uri="{D42A27DB-BD31-4B8C-83A1-F6EECF244321}">
                <p14:modId xmlns:p14="http://schemas.microsoft.com/office/powerpoint/2010/main" val="1579011935"/>
              </p:ext>
            </p:extLst>
          </p:nvPr>
        </p:nvGraphicFramePr>
        <p:xfrm>
          <a:off x="548640" y="1783080"/>
          <a:ext cx="6766560" cy="914400"/>
        </p:xfrm>
        <a:graphic>
          <a:graphicData uri="http://schemas.openxmlformats.org/drawingml/2006/table">
            <a:tbl>
              <a:tblPr/>
              <a:tblGrid>
                <a:gridCol w="1737360"/>
                <a:gridCol w="1005840"/>
                <a:gridCol w="1325880"/>
                <a:gridCol w="1325880"/>
                <a:gridCol w="1371600"/>
              </a:tblGrid>
              <a:tr h="502920">
                <a:tc>
                  <a:txBody>
                    <a:bodyPr/>
                    <a:lstStyle/>
                    <a:p>
                      <a:pPr algn="l" indent="0" marL="0">
                        <a:buNone/>
                      </a:pPr>
                      <a:r>
                        <a:rPr lang="en-US" sz="1400" b="1" dirty="0">
                          <a:solidFill>
                            <a:schemeClr val="bg1"/>
                          </a:solidFill>
                        </a:rPr>
                        <a:t>Condition</a:t>
                      </a:r>
                      <a:endParaRPr lang="en-US" sz="1400" dirty="0"/>
                    </a:p>
                  </a:txBody>
                  <a:tcPr marL="109728" marR="109728" marT="45720" marB="45720" anchor="ctr">
                    <a:lnL w="9525" cap="flat" cmpd="sng" algn="ctr">
                      <a:solidFill>
                        <a:srgbClr val="D5DAE1"/>
                      </a:solidFill>
                      <a:prstDash val="solid"/>
                      <a:round/>
                      <a:headEnd type="none" w="med" len="med"/>
                      <a:tailEnd type="none" w="med" len="med"/>
                    </a:lnL>
                    <a:lnR w="9525" cap="flat" cmpd="sng" algn="ctr">
                      <a:solidFill>
                        <a:srgbClr val="D5DAE1"/>
                      </a:solidFill>
                      <a:prstDash val="solid"/>
                      <a:round/>
                      <a:headEnd type="none" w="med" len="med"/>
                      <a:tailEnd type="none" w="med" len="med"/>
                    </a:lnR>
                    <a:lnT w="9525" cap="flat" cmpd="sng" algn="ctr">
                      <a:solidFill>
                        <a:srgbClr val="D5DAE1"/>
                      </a:solidFill>
                      <a:prstDash val="solid"/>
                      <a:round/>
                      <a:headEnd type="none" w="med" len="med"/>
                      <a:tailEnd type="none" w="med" len="med"/>
                    </a:lnT>
                    <a:lnB w="9525" cap="flat" cmpd="sng" algn="ctr">
                      <a:solidFill>
                        <a:srgbClr val="D5DAE1"/>
                      </a:solidFill>
                      <a:prstDash val="solid"/>
                      <a:round/>
                      <a:headEnd type="none" w="med" len="med"/>
                      <a:tailEnd type="none" w="med" len="med"/>
                    </a:lnB>
                    <a:solidFill>
                      <a:schemeClr val="tx2"/>
                    </a:solidFill>
                  </a:tcPr>
                </a:tc>
                <a:tc>
                  <a:txBody>
                    <a:bodyPr/>
                    <a:lstStyle/>
                    <a:p>
                      <a:pPr algn="ctr" indent="0" marL="0">
                        <a:buNone/>
                      </a:pPr>
                      <a:r>
                        <a:rPr lang="en-US" sz="1400" b="1" dirty="0">
                          <a:solidFill>
                            <a:schemeClr val="bg1"/>
                          </a:solidFill>
                        </a:rPr>
                        <a:t>Videos</a:t>
                      </a:r>
                      <a:endParaRPr lang="en-US" sz="1400" dirty="0"/>
                    </a:p>
                  </a:txBody>
                  <a:tcPr marL="109728" marR="109728" marT="45720" marB="45720" anchor="ctr">
                    <a:lnL w="9525" cap="flat" cmpd="sng" algn="ctr">
                      <a:solidFill>
                        <a:srgbClr val="D5DAE1"/>
                      </a:solidFill>
                      <a:prstDash val="solid"/>
                      <a:round/>
                      <a:headEnd type="none" w="med" len="med"/>
                      <a:tailEnd type="none" w="med" len="med"/>
                    </a:lnL>
                    <a:lnR w="9525" cap="flat" cmpd="sng" algn="ctr">
                      <a:solidFill>
                        <a:srgbClr val="D5DAE1"/>
                      </a:solidFill>
                      <a:prstDash val="solid"/>
                      <a:round/>
                      <a:headEnd type="none" w="med" len="med"/>
                      <a:tailEnd type="none" w="med" len="med"/>
                    </a:lnR>
                    <a:lnT w="9525" cap="flat" cmpd="sng" algn="ctr">
                      <a:solidFill>
                        <a:srgbClr val="D5DAE1"/>
                      </a:solidFill>
                      <a:prstDash val="solid"/>
                      <a:round/>
                      <a:headEnd type="none" w="med" len="med"/>
                      <a:tailEnd type="none" w="med" len="med"/>
                    </a:lnT>
                    <a:lnB w="9525" cap="flat" cmpd="sng" algn="ctr">
                      <a:solidFill>
                        <a:srgbClr val="D5DAE1"/>
                      </a:solidFill>
                      <a:prstDash val="solid"/>
                      <a:round/>
                      <a:headEnd type="none" w="med" len="med"/>
                      <a:tailEnd type="none" w="med" len="med"/>
                    </a:lnB>
                    <a:solidFill>
                      <a:schemeClr val="tx2"/>
                    </a:solidFill>
                  </a:tcPr>
                </a:tc>
                <a:tc>
                  <a:txBody>
                    <a:bodyPr/>
                    <a:lstStyle/>
                    <a:p>
                      <a:pPr algn="ctr" indent="0" marL="0">
                        <a:buNone/>
                      </a:pPr>
                      <a:r>
                        <a:rPr lang="en-US" sz="1400" b="1" dirty="0">
                          <a:solidFill>
                            <a:schemeClr val="bg1"/>
                          </a:solidFill>
                        </a:rPr>
                        <a:t>CARLA only</a:t>
                      </a:r>
                      <a:endParaRPr lang="en-US" sz="1400" dirty="0"/>
                    </a:p>
                  </a:txBody>
                  <a:tcPr marL="109728" marR="109728" marT="45720" marB="45720" anchor="ctr">
                    <a:lnL w="9525" cap="flat" cmpd="sng" algn="ctr">
                      <a:solidFill>
                        <a:srgbClr val="D5DAE1"/>
                      </a:solidFill>
                      <a:prstDash val="solid"/>
                      <a:round/>
                      <a:headEnd type="none" w="med" len="med"/>
                      <a:tailEnd type="none" w="med" len="med"/>
                    </a:lnL>
                    <a:lnR w="9525" cap="flat" cmpd="sng" algn="ctr">
                      <a:solidFill>
                        <a:srgbClr val="D5DAE1"/>
                      </a:solidFill>
                      <a:prstDash val="solid"/>
                      <a:round/>
                      <a:headEnd type="none" w="med" len="med"/>
                      <a:tailEnd type="none" w="med" len="med"/>
                    </a:lnR>
                    <a:lnT w="9525" cap="flat" cmpd="sng" algn="ctr">
                      <a:solidFill>
                        <a:srgbClr val="D5DAE1"/>
                      </a:solidFill>
                      <a:prstDash val="solid"/>
                      <a:round/>
                      <a:headEnd type="none" w="med" len="med"/>
                      <a:tailEnd type="none" w="med" len="med"/>
                    </a:lnT>
                    <a:lnB w="9525" cap="flat" cmpd="sng" algn="ctr">
                      <a:solidFill>
                        <a:srgbClr val="D5DAE1"/>
                      </a:solidFill>
                      <a:prstDash val="solid"/>
                      <a:round/>
                      <a:headEnd type="none" w="med" len="med"/>
                      <a:tailEnd type="none" w="med" len="med"/>
                    </a:lnB>
                    <a:solidFill>
                      <a:schemeClr val="tx2"/>
                    </a:solidFill>
                  </a:tcPr>
                </a:tc>
                <a:tc>
                  <a:txBody>
                    <a:bodyPr/>
                    <a:lstStyle/>
                    <a:p>
                      <a:pPr algn="ctr" indent="0" marL="0">
                        <a:buNone/>
                      </a:pPr>
                      <a:r>
                        <a:rPr lang="en-US" sz="1400" b="1" dirty="0">
                          <a:solidFill>
                            <a:schemeClr val="bg1"/>
                          </a:solidFill>
                        </a:rPr>
                        <a:t>Real only</a:t>
                      </a:r>
                      <a:endParaRPr lang="en-US" sz="1400" dirty="0"/>
                    </a:p>
                  </a:txBody>
                  <a:tcPr marL="109728" marR="109728" marT="45720" marB="45720" anchor="ctr">
                    <a:lnL w="9525" cap="flat" cmpd="sng" algn="ctr">
                      <a:solidFill>
                        <a:srgbClr val="D5DAE1"/>
                      </a:solidFill>
                      <a:prstDash val="solid"/>
                      <a:round/>
                      <a:headEnd type="none" w="med" len="med"/>
                      <a:tailEnd type="none" w="med" len="med"/>
                    </a:lnL>
                    <a:lnR w="9525" cap="flat" cmpd="sng" algn="ctr">
                      <a:solidFill>
                        <a:srgbClr val="D5DAE1"/>
                      </a:solidFill>
                      <a:prstDash val="solid"/>
                      <a:round/>
                      <a:headEnd type="none" w="med" len="med"/>
                      <a:tailEnd type="none" w="med" len="med"/>
                    </a:lnR>
                    <a:lnT w="9525" cap="flat" cmpd="sng" algn="ctr">
                      <a:solidFill>
                        <a:srgbClr val="D5DAE1"/>
                      </a:solidFill>
                      <a:prstDash val="solid"/>
                      <a:round/>
                      <a:headEnd type="none" w="med" len="med"/>
                      <a:tailEnd type="none" w="med" len="med"/>
                    </a:lnT>
                    <a:lnB w="9525" cap="flat" cmpd="sng" algn="ctr">
                      <a:solidFill>
                        <a:srgbClr val="D5DAE1"/>
                      </a:solidFill>
                      <a:prstDash val="solid"/>
                      <a:round/>
                      <a:headEnd type="none" w="med" len="med"/>
                      <a:tailEnd type="none" w="med" len="med"/>
                    </a:lnB>
                    <a:solidFill>
                      <a:schemeClr val="tx2"/>
                    </a:solidFill>
                  </a:tcPr>
                </a:tc>
                <a:tc>
                  <a:txBody>
                    <a:bodyPr/>
                    <a:lstStyle/>
                    <a:p>
                      <a:pPr algn="ctr" indent="0" marL="0">
                        <a:buNone/>
                      </a:pPr>
                      <a:r>
                        <a:rPr lang="en-US" sz="1400" b="1" dirty="0">
                          <a:solidFill>
                            <a:schemeClr val="bg1"/>
                          </a:solidFill>
                        </a:rPr>
                        <a:t>CARLA + real</a:t>
                      </a:r>
                      <a:endParaRPr lang="en-US" sz="1400" dirty="0"/>
                    </a:p>
                  </a:txBody>
                  <a:tcPr marL="109728" marR="109728" marT="45720" marB="45720" anchor="ctr">
                    <a:lnL w="9525" cap="flat" cmpd="sng" algn="ctr">
                      <a:solidFill>
                        <a:srgbClr val="D5DAE1"/>
                      </a:solidFill>
                      <a:prstDash val="solid"/>
                      <a:round/>
                      <a:headEnd type="none" w="med" len="med"/>
                      <a:tailEnd type="none" w="med" len="med"/>
                    </a:lnL>
                    <a:lnR w="9525" cap="flat" cmpd="sng" algn="ctr">
                      <a:solidFill>
                        <a:srgbClr val="D5DAE1"/>
                      </a:solidFill>
                      <a:prstDash val="solid"/>
                      <a:round/>
                      <a:headEnd type="none" w="med" len="med"/>
                      <a:tailEnd type="none" w="med" len="med"/>
                    </a:lnR>
                    <a:lnT w="9525" cap="flat" cmpd="sng" algn="ctr">
                      <a:solidFill>
                        <a:srgbClr val="D5DAE1"/>
                      </a:solidFill>
                      <a:prstDash val="solid"/>
                      <a:round/>
                      <a:headEnd type="none" w="med" len="med"/>
                      <a:tailEnd type="none" w="med" len="med"/>
                    </a:lnT>
                    <a:lnB w="9525" cap="flat" cmpd="sng" algn="ctr">
                      <a:solidFill>
                        <a:srgbClr val="D5DAE1"/>
                      </a:solidFill>
                      <a:prstDash val="solid"/>
                      <a:round/>
                      <a:headEnd type="none" w="med" len="med"/>
                      <a:tailEnd type="none" w="med" len="med"/>
                    </a:lnB>
                    <a:solidFill>
                      <a:schemeClr val="tx2"/>
                    </a:solidFill>
                  </a:tcPr>
                </a:tc>
              </a:tr>
              <a:tr h="502920">
                <a:tc>
                  <a:txBody>
                    <a:bodyPr/>
                    <a:lstStyle/>
                    <a:p>
                      <a:pPr indent="0" marL="0">
                        <a:buNone/>
                      </a:pPr>
                      <a:r>
                        <a:rPr lang="en-US" sz="1400" b="1" dirty="0">
                          <a:solidFill>
                            <a:schemeClr val="tx1"/>
                          </a:solidFill>
                        </a:rPr>
                        <a:t>Normal light</a:t>
                      </a:r>
                      <a:endParaRPr lang="en-US" sz="1400" dirty="0"/>
                    </a:p>
                  </a:txBody>
                  <a:tcPr marL="109728" marR="109728" marT="45720" marB="45720" anchor="ctr">
                    <a:lnL w="9525" cap="flat" cmpd="sng" algn="ctr">
                      <a:solidFill>
                        <a:srgbClr val="D5DAE1"/>
                      </a:solidFill>
                      <a:prstDash val="solid"/>
                      <a:round/>
                      <a:headEnd type="none" w="med" len="med"/>
                      <a:tailEnd type="none" w="med" len="med"/>
                    </a:lnL>
                    <a:lnR w="9525" cap="flat" cmpd="sng" algn="ctr">
                      <a:solidFill>
                        <a:srgbClr val="D5DAE1"/>
                      </a:solidFill>
                      <a:prstDash val="solid"/>
                      <a:round/>
                      <a:headEnd type="none" w="med" len="med"/>
                      <a:tailEnd type="none" w="med" len="med"/>
                    </a:lnR>
                    <a:lnT w="9525" cap="flat" cmpd="sng" algn="ctr">
                      <a:solidFill>
                        <a:srgbClr val="D5DAE1"/>
                      </a:solidFill>
                      <a:prstDash val="solid"/>
                      <a:round/>
                      <a:headEnd type="none" w="med" len="med"/>
                      <a:tailEnd type="none" w="med" len="med"/>
                    </a:lnT>
                    <a:lnB w="9525" cap="flat" cmpd="sng" algn="ctr">
                      <a:solidFill>
                        <a:srgbClr val="D5DAE1"/>
                      </a:solidFill>
                      <a:prstDash val="solid"/>
                      <a:round/>
                      <a:headEnd type="none" w="med" len="med"/>
                      <a:tailEnd type="none" w="med" len="med"/>
                    </a:lnB>
                  </a:tcPr>
                </a:tc>
                <a:tc>
                  <a:txBody>
                    <a:bodyPr/>
                    <a:lstStyle/>
                    <a:p>
                      <a:pPr algn="ctr" indent="0" marL="0">
                        <a:buNone/>
                      </a:pPr>
                      <a:r>
                        <a:rPr lang="en-US" sz="1400" dirty="0">
                          <a:solidFill>
                            <a:schemeClr val="tx1"/>
                          </a:solidFill>
                        </a:rPr>
                        <a:t>608</a:t>
                      </a:r>
                      <a:endParaRPr lang="en-US" sz="1400" dirty="0"/>
                    </a:p>
                  </a:txBody>
                  <a:tcPr marL="109728" marR="109728" marT="45720" marB="45720" anchor="ctr">
                    <a:lnL w="9525" cap="flat" cmpd="sng" algn="ctr">
                      <a:solidFill>
                        <a:srgbClr val="D5DAE1"/>
                      </a:solidFill>
                      <a:prstDash val="solid"/>
                      <a:round/>
                      <a:headEnd type="none" w="med" len="med"/>
                      <a:tailEnd type="none" w="med" len="med"/>
                    </a:lnL>
                    <a:lnR w="9525" cap="flat" cmpd="sng" algn="ctr">
                      <a:solidFill>
                        <a:srgbClr val="D5DAE1"/>
                      </a:solidFill>
                      <a:prstDash val="solid"/>
                      <a:round/>
                      <a:headEnd type="none" w="med" len="med"/>
                      <a:tailEnd type="none" w="med" len="med"/>
                    </a:lnR>
                    <a:lnT w="9525" cap="flat" cmpd="sng" algn="ctr">
                      <a:solidFill>
                        <a:srgbClr val="D5DAE1"/>
                      </a:solidFill>
                      <a:prstDash val="solid"/>
                      <a:round/>
                      <a:headEnd type="none" w="med" len="med"/>
                      <a:tailEnd type="none" w="med" len="med"/>
                    </a:lnT>
                    <a:lnB w="9525" cap="flat" cmpd="sng" algn="ctr">
                      <a:solidFill>
                        <a:srgbClr val="D5DAE1"/>
                      </a:solidFill>
                      <a:prstDash val="solid"/>
                      <a:round/>
                      <a:headEnd type="none" w="med" len="med"/>
                      <a:tailEnd type="none" w="med" len="med"/>
                    </a:lnB>
                  </a:tcPr>
                </a:tc>
                <a:tc>
                  <a:txBody>
                    <a:bodyPr/>
                    <a:lstStyle/>
                    <a:p>
                      <a:pPr algn="ctr" indent="0" marL="0">
                        <a:buNone/>
                      </a:pPr>
                      <a:r>
                        <a:rPr lang="en-US" sz="1400" dirty="0">
                          <a:solidFill>
                            <a:schemeClr val="tx1"/>
                          </a:solidFill>
                        </a:rPr>
                        <a:t>0.61</a:t>
                      </a:r>
                      <a:endParaRPr lang="en-US" sz="1400" dirty="0"/>
                    </a:p>
                  </a:txBody>
                  <a:tcPr marL="109728" marR="109728" marT="45720" marB="45720" anchor="ctr">
                    <a:lnL w="9525" cap="flat" cmpd="sng" algn="ctr">
                      <a:solidFill>
                        <a:srgbClr val="D5DAE1"/>
                      </a:solidFill>
                      <a:prstDash val="solid"/>
                      <a:round/>
                      <a:headEnd type="none" w="med" len="med"/>
                      <a:tailEnd type="none" w="med" len="med"/>
                    </a:lnL>
                    <a:lnR w="9525" cap="flat" cmpd="sng" algn="ctr">
                      <a:solidFill>
                        <a:srgbClr val="D5DAE1"/>
                      </a:solidFill>
                      <a:prstDash val="solid"/>
                      <a:round/>
                      <a:headEnd type="none" w="med" len="med"/>
                      <a:tailEnd type="none" w="med" len="med"/>
                    </a:lnR>
                    <a:lnT w="9525" cap="flat" cmpd="sng" algn="ctr">
                      <a:solidFill>
                        <a:srgbClr val="D5DAE1"/>
                      </a:solidFill>
                      <a:prstDash val="solid"/>
                      <a:round/>
                      <a:headEnd type="none" w="med" len="med"/>
                      <a:tailEnd type="none" w="med" len="med"/>
                    </a:lnT>
                    <a:lnB w="9525" cap="flat" cmpd="sng" algn="ctr">
                      <a:solidFill>
                        <a:srgbClr val="D5DAE1"/>
                      </a:solidFill>
                      <a:prstDash val="solid"/>
                      <a:round/>
                      <a:headEnd type="none" w="med" len="med"/>
                      <a:tailEnd type="none" w="med" len="med"/>
                    </a:lnB>
                    <a:solidFill>
                      <a:srgbClr val="FFFFFF"/>
                    </a:solidFill>
                  </a:tcPr>
                </a:tc>
                <a:tc>
                  <a:txBody>
                    <a:bodyPr/>
                    <a:lstStyle/>
                    <a:p>
                      <a:pPr algn="ctr" indent="0" marL="0">
                        <a:buNone/>
                      </a:pPr>
                      <a:r>
                        <a:rPr lang="en-US" sz="1400" dirty="0">
                          <a:solidFill>
                            <a:schemeClr val="tx1"/>
                          </a:solidFill>
                        </a:rPr>
                        <a:t>0.63</a:t>
                      </a:r>
                      <a:endParaRPr lang="en-US" sz="1400" dirty="0"/>
                    </a:p>
                  </a:txBody>
                  <a:tcPr marL="109728" marR="109728" marT="45720" marB="45720" anchor="ctr">
                    <a:lnL w="9525" cap="flat" cmpd="sng" algn="ctr">
                      <a:solidFill>
                        <a:srgbClr val="D5DAE1"/>
                      </a:solidFill>
                      <a:prstDash val="solid"/>
                      <a:round/>
                      <a:headEnd type="none" w="med" len="med"/>
                      <a:tailEnd type="none" w="med" len="med"/>
                    </a:lnL>
                    <a:lnR w="9525" cap="flat" cmpd="sng" algn="ctr">
                      <a:solidFill>
                        <a:srgbClr val="D5DAE1"/>
                      </a:solidFill>
                      <a:prstDash val="solid"/>
                      <a:round/>
                      <a:headEnd type="none" w="med" len="med"/>
                      <a:tailEnd type="none" w="med" len="med"/>
                    </a:lnR>
                    <a:lnT w="9525" cap="flat" cmpd="sng" algn="ctr">
                      <a:solidFill>
                        <a:srgbClr val="D5DAE1"/>
                      </a:solidFill>
                      <a:prstDash val="solid"/>
                      <a:round/>
                      <a:headEnd type="none" w="med" len="med"/>
                      <a:tailEnd type="none" w="med" len="med"/>
                    </a:lnT>
                    <a:lnB w="9525" cap="flat" cmpd="sng" algn="ctr">
                      <a:solidFill>
                        <a:srgbClr val="D5DAE1"/>
                      </a:solidFill>
                      <a:prstDash val="solid"/>
                      <a:round/>
                      <a:headEnd type="none" w="med" len="med"/>
                      <a:tailEnd type="none" w="med" len="med"/>
                    </a:lnB>
                    <a:solidFill>
                      <a:srgbClr val="FFFFFF"/>
                    </a:solidFill>
                  </a:tcPr>
                </a:tc>
                <a:tc>
                  <a:txBody>
                    <a:bodyPr/>
                    <a:lstStyle/>
                    <a:p>
                      <a:pPr algn="ctr" indent="0" marL="0">
                        <a:buNone/>
                      </a:pPr>
                      <a:r>
                        <a:rPr lang="en-US" sz="1400" dirty="0">
                          <a:solidFill>
                            <a:schemeClr val="tx1"/>
                          </a:solidFill>
                        </a:rPr>
                        <a:t>0.64</a:t>
                      </a:r>
                      <a:endParaRPr lang="en-US" sz="1400" dirty="0"/>
                    </a:p>
                  </a:txBody>
                  <a:tcPr marL="109728" marR="109728" marT="45720" marB="45720" anchor="ctr">
                    <a:lnL w="9525" cap="flat" cmpd="sng" algn="ctr">
                      <a:solidFill>
                        <a:srgbClr val="D5DAE1"/>
                      </a:solidFill>
                      <a:prstDash val="solid"/>
                      <a:round/>
                      <a:headEnd type="none" w="med" len="med"/>
                      <a:tailEnd type="none" w="med" len="med"/>
                    </a:lnL>
                    <a:lnR w="9525" cap="flat" cmpd="sng" algn="ctr">
                      <a:solidFill>
                        <a:srgbClr val="D5DAE1"/>
                      </a:solidFill>
                      <a:prstDash val="solid"/>
                      <a:round/>
                      <a:headEnd type="none" w="med" len="med"/>
                      <a:tailEnd type="none" w="med" len="med"/>
                    </a:lnR>
                    <a:lnT w="9525" cap="flat" cmpd="sng" algn="ctr">
                      <a:solidFill>
                        <a:srgbClr val="D5DAE1"/>
                      </a:solidFill>
                      <a:prstDash val="solid"/>
                      <a:round/>
                      <a:headEnd type="none" w="med" len="med"/>
                      <a:tailEnd type="none" w="med" len="med"/>
                    </a:lnT>
                    <a:lnB w="9525" cap="flat" cmpd="sng" algn="ctr">
                      <a:solidFill>
                        <a:srgbClr val="D5DAE1"/>
                      </a:solidFill>
                      <a:prstDash val="solid"/>
                      <a:round/>
                      <a:headEnd type="none" w="med" len="med"/>
                      <a:tailEnd type="none" w="med" len="med"/>
                    </a:lnB>
                    <a:solidFill>
                      <a:srgbClr val="FFFFFF"/>
                    </a:solidFill>
                  </a:tcPr>
                </a:tc>
              </a:tr>
              <a:tr h="502920">
                <a:tc>
                  <a:txBody>
                    <a:bodyPr/>
                    <a:lstStyle/>
                    <a:p>
                      <a:pPr indent="0" marL="0">
                        <a:buNone/>
                      </a:pPr>
                      <a:r>
                        <a:rPr lang="en-US" sz="1400" b="1" dirty="0">
                          <a:solidFill>
                            <a:schemeClr val="tx1"/>
                          </a:solidFill>
                        </a:rPr>
                        <a:t>Dark</a:t>
                      </a:r>
                      <a:endParaRPr lang="en-US" sz="1400" dirty="0"/>
                    </a:p>
                  </a:txBody>
                  <a:tcPr marL="109728" marR="109728" marT="45720" marB="45720" anchor="ctr">
                    <a:lnL w="9525" cap="flat" cmpd="sng" algn="ctr">
                      <a:solidFill>
                        <a:srgbClr val="D5DAE1"/>
                      </a:solidFill>
                      <a:prstDash val="solid"/>
                      <a:round/>
                      <a:headEnd type="none" w="med" len="med"/>
                      <a:tailEnd type="none" w="med" len="med"/>
                    </a:lnL>
                    <a:lnR w="9525" cap="flat" cmpd="sng" algn="ctr">
                      <a:solidFill>
                        <a:srgbClr val="D5DAE1"/>
                      </a:solidFill>
                      <a:prstDash val="solid"/>
                      <a:round/>
                      <a:headEnd type="none" w="med" len="med"/>
                      <a:tailEnd type="none" w="med" len="med"/>
                    </a:lnR>
                    <a:lnT w="9525" cap="flat" cmpd="sng" algn="ctr">
                      <a:solidFill>
                        <a:srgbClr val="D5DAE1"/>
                      </a:solidFill>
                      <a:prstDash val="solid"/>
                      <a:round/>
                      <a:headEnd type="none" w="med" len="med"/>
                      <a:tailEnd type="none" w="med" len="med"/>
                    </a:lnT>
                    <a:lnB w="9525" cap="flat" cmpd="sng" algn="ctr">
                      <a:solidFill>
                        <a:srgbClr val="D5DAE1"/>
                      </a:solidFill>
                      <a:prstDash val="solid"/>
                      <a:round/>
                      <a:headEnd type="none" w="med" len="med"/>
                      <a:tailEnd type="none" w="med" len="med"/>
                    </a:lnB>
                  </a:tcPr>
                </a:tc>
                <a:tc>
                  <a:txBody>
                    <a:bodyPr/>
                    <a:lstStyle/>
                    <a:p>
                      <a:pPr algn="ctr" indent="0" marL="0">
                        <a:buNone/>
                      </a:pPr>
                      <a:r>
                        <a:rPr lang="en-US" sz="1400" dirty="0">
                          <a:solidFill>
                            <a:schemeClr val="tx1"/>
                          </a:solidFill>
                        </a:rPr>
                        <a:t>21</a:t>
                      </a:r>
                      <a:endParaRPr lang="en-US" sz="1400" dirty="0"/>
                    </a:p>
                  </a:txBody>
                  <a:tcPr marL="109728" marR="109728" marT="45720" marB="45720" anchor="ctr">
                    <a:lnL w="9525" cap="flat" cmpd="sng" algn="ctr">
                      <a:solidFill>
                        <a:srgbClr val="D5DAE1"/>
                      </a:solidFill>
                      <a:prstDash val="solid"/>
                      <a:round/>
                      <a:headEnd type="none" w="med" len="med"/>
                      <a:tailEnd type="none" w="med" len="med"/>
                    </a:lnL>
                    <a:lnR w="9525" cap="flat" cmpd="sng" algn="ctr">
                      <a:solidFill>
                        <a:srgbClr val="D5DAE1"/>
                      </a:solidFill>
                      <a:prstDash val="solid"/>
                      <a:round/>
                      <a:headEnd type="none" w="med" len="med"/>
                      <a:tailEnd type="none" w="med" len="med"/>
                    </a:lnR>
                    <a:lnT w="9525" cap="flat" cmpd="sng" algn="ctr">
                      <a:solidFill>
                        <a:srgbClr val="D5DAE1"/>
                      </a:solidFill>
                      <a:prstDash val="solid"/>
                      <a:round/>
                      <a:headEnd type="none" w="med" len="med"/>
                      <a:tailEnd type="none" w="med" len="med"/>
                    </a:lnT>
                    <a:lnB w="9525" cap="flat" cmpd="sng" algn="ctr">
                      <a:solidFill>
                        <a:srgbClr val="D5DAE1"/>
                      </a:solidFill>
                      <a:prstDash val="solid"/>
                      <a:round/>
                      <a:headEnd type="none" w="med" len="med"/>
                      <a:tailEnd type="none" w="med" len="med"/>
                    </a:lnB>
                  </a:tcPr>
                </a:tc>
                <a:tc>
                  <a:txBody>
                    <a:bodyPr/>
                    <a:lstStyle/>
                    <a:p>
                      <a:pPr algn="ctr" indent="0" marL="0">
                        <a:buNone/>
                      </a:pPr>
                      <a:r>
                        <a:rPr lang="en-US" sz="1400" dirty="0">
                          <a:solidFill>
                            <a:schemeClr val="tx1"/>
                          </a:solidFill>
                        </a:rPr>
                        <a:t>0.37</a:t>
                      </a:r>
                      <a:endParaRPr lang="en-US" sz="1400" dirty="0"/>
                    </a:p>
                  </a:txBody>
                  <a:tcPr marL="109728" marR="109728" marT="45720" marB="45720" anchor="ctr">
                    <a:lnL w="9525" cap="flat" cmpd="sng" algn="ctr">
                      <a:solidFill>
                        <a:srgbClr val="D5DAE1"/>
                      </a:solidFill>
                      <a:prstDash val="solid"/>
                      <a:round/>
                      <a:headEnd type="none" w="med" len="med"/>
                      <a:tailEnd type="none" w="med" len="med"/>
                    </a:lnL>
                    <a:lnR w="9525" cap="flat" cmpd="sng" algn="ctr">
                      <a:solidFill>
                        <a:srgbClr val="D5DAE1"/>
                      </a:solidFill>
                      <a:prstDash val="solid"/>
                      <a:round/>
                      <a:headEnd type="none" w="med" len="med"/>
                      <a:tailEnd type="none" w="med" len="med"/>
                    </a:lnR>
                    <a:lnT w="9525" cap="flat" cmpd="sng" algn="ctr">
                      <a:solidFill>
                        <a:srgbClr val="D5DAE1"/>
                      </a:solidFill>
                      <a:prstDash val="solid"/>
                      <a:round/>
                      <a:headEnd type="none" w="med" len="med"/>
                      <a:tailEnd type="none" w="med" len="med"/>
                    </a:lnT>
                    <a:lnB w="9525" cap="flat" cmpd="sng" algn="ctr">
                      <a:solidFill>
                        <a:srgbClr val="D5DAE1"/>
                      </a:solidFill>
                      <a:prstDash val="solid"/>
                      <a:round/>
                      <a:headEnd type="none" w="med" len="med"/>
                      <a:tailEnd type="none" w="med" len="med"/>
                    </a:lnB>
                    <a:solidFill>
                      <a:srgbClr val="FFFFFF"/>
                    </a:solidFill>
                  </a:tcPr>
                </a:tc>
                <a:tc>
                  <a:txBody>
                    <a:bodyPr/>
                    <a:lstStyle/>
                    <a:p>
                      <a:pPr algn="ctr" indent="0" marL="0">
                        <a:buNone/>
                      </a:pPr>
                      <a:r>
                        <a:rPr lang="en-US" sz="1400" dirty="0">
                          <a:solidFill>
                            <a:schemeClr val="tx1"/>
                          </a:solidFill>
                        </a:rPr>
                        <a:t>0.59</a:t>
                      </a:r>
                      <a:endParaRPr lang="en-US" sz="1400" dirty="0"/>
                    </a:p>
                  </a:txBody>
                  <a:tcPr marL="109728" marR="109728" marT="45720" marB="45720" anchor="ctr">
                    <a:lnL w="9525" cap="flat" cmpd="sng" algn="ctr">
                      <a:solidFill>
                        <a:srgbClr val="D5DAE1"/>
                      </a:solidFill>
                      <a:prstDash val="solid"/>
                      <a:round/>
                      <a:headEnd type="none" w="med" len="med"/>
                      <a:tailEnd type="none" w="med" len="med"/>
                    </a:lnL>
                    <a:lnR w="9525" cap="flat" cmpd="sng" algn="ctr">
                      <a:solidFill>
                        <a:srgbClr val="D5DAE1"/>
                      </a:solidFill>
                      <a:prstDash val="solid"/>
                      <a:round/>
                      <a:headEnd type="none" w="med" len="med"/>
                      <a:tailEnd type="none" w="med" len="med"/>
                    </a:lnR>
                    <a:lnT w="9525" cap="flat" cmpd="sng" algn="ctr">
                      <a:solidFill>
                        <a:srgbClr val="D5DAE1"/>
                      </a:solidFill>
                      <a:prstDash val="solid"/>
                      <a:round/>
                      <a:headEnd type="none" w="med" len="med"/>
                      <a:tailEnd type="none" w="med" len="med"/>
                    </a:lnT>
                    <a:lnB w="9525" cap="flat" cmpd="sng" algn="ctr">
                      <a:solidFill>
                        <a:srgbClr val="D5DAE1"/>
                      </a:solidFill>
                      <a:prstDash val="solid"/>
                      <a:round/>
                      <a:headEnd type="none" w="med" len="med"/>
                      <a:tailEnd type="none" w="med" len="med"/>
                    </a:lnB>
                    <a:solidFill>
                      <a:srgbClr val="FFFFFF"/>
                    </a:solidFill>
                  </a:tcPr>
                </a:tc>
                <a:tc>
                  <a:txBody>
                    <a:bodyPr/>
                    <a:lstStyle/>
                    <a:p>
                      <a:pPr algn="ctr" indent="0" marL="0">
                        <a:buNone/>
                      </a:pPr>
                      <a:r>
                        <a:rPr lang="en-US" sz="1400" dirty="0">
                          <a:solidFill>
                            <a:schemeClr val="tx1"/>
                          </a:solidFill>
                        </a:rPr>
                        <a:t>0.54</a:t>
                      </a:r>
                      <a:endParaRPr lang="en-US" sz="1400" dirty="0"/>
                    </a:p>
                  </a:txBody>
                  <a:tcPr marL="109728" marR="109728" marT="45720" marB="45720" anchor="ctr">
                    <a:lnL w="9525" cap="flat" cmpd="sng" algn="ctr">
                      <a:solidFill>
                        <a:srgbClr val="D5DAE1"/>
                      </a:solidFill>
                      <a:prstDash val="solid"/>
                      <a:round/>
                      <a:headEnd type="none" w="med" len="med"/>
                      <a:tailEnd type="none" w="med" len="med"/>
                    </a:lnL>
                    <a:lnR w="9525" cap="flat" cmpd="sng" algn="ctr">
                      <a:solidFill>
                        <a:srgbClr val="D5DAE1"/>
                      </a:solidFill>
                      <a:prstDash val="solid"/>
                      <a:round/>
                      <a:headEnd type="none" w="med" len="med"/>
                      <a:tailEnd type="none" w="med" len="med"/>
                    </a:lnR>
                    <a:lnT w="9525" cap="flat" cmpd="sng" algn="ctr">
                      <a:solidFill>
                        <a:srgbClr val="D5DAE1"/>
                      </a:solidFill>
                      <a:prstDash val="solid"/>
                      <a:round/>
                      <a:headEnd type="none" w="med" len="med"/>
                      <a:tailEnd type="none" w="med" len="med"/>
                    </a:lnT>
                    <a:lnB w="9525" cap="flat" cmpd="sng" algn="ctr">
                      <a:solidFill>
                        <a:srgbClr val="D5DAE1"/>
                      </a:solidFill>
                      <a:prstDash val="solid"/>
                      <a:round/>
                      <a:headEnd type="none" w="med" len="med"/>
                      <a:tailEnd type="none" w="med" len="med"/>
                    </a:lnB>
                    <a:solidFill>
                      <a:srgbClr val="FFFFFF"/>
                    </a:solidFill>
                  </a:tcPr>
                </a:tc>
              </a:tr>
              <a:tr h="502920">
                <a:tc>
                  <a:txBody>
                    <a:bodyPr/>
                    <a:lstStyle/>
                    <a:p>
                      <a:pPr indent="0" marL="0">
                        <a:buNone/>
                      </a:pPr>
                      <a:r>
                        <a:rPr lang="en-US" sz="1400" b="1" dirty="0">
                          <a:solidFill>
                            <a:schemeClr val="tx1"/>
                          </a:solidFill>
                        </a:rPr>
                        <a:t>Clear</a:t>
                      </a:r>
                      <a:endParaRPr lang="en-US" sz="1400" dirty="0"/>
                    </a:p>
                  </a:txBody>
                  <a:tcPr marL="109728" marR="109728" marT="45720" marB="45720" anchor="ctr">
                    <a:lnL w="9525" cap="flat" cmpd="sng" algn="ctr">
                      <a:solidFill>
                        <a:srgbClr val="D5DAE1"/>
                      </a:solidFill>
                      <a:prstDash val="solid"/>
                      <a:round/>
                      <a:headEnd type="none" w="med" len="med"/>
                      <a:tailEnd type="none" w="med" len="med"/>
                    </a:lnL>
                    <a:lnR w="9525" cap="flat" cmpd="sng" algn="ctr">
                      <a:solidFill>
                        <a:srgbClr val="D5DAE1"/>
                      </a:solidFill>
                      <a:prstDash val="solid"/>
                      <a:round/>
                      <a:headEnd type="none" w="med" len="med"/>
                      <a:tailEnd type="none" w="med" len="med"/>
                    </a:lnR>
                    <a:lnT w="9525" cap="flat" cmpd="sng" algn="ctr">
                      <a:solidFill>
                        <a:srgbClr val="D5DAE1"/>
                      </a:solidFill>
                      <a:prstDash val="solid"/>
                      <a:round/>
                      <a:headEnd type="none" w="med" len="med"/>
                      <a:tailEnd type="none" w="med" len="med"/>
                    </a:lnT>
                    <a:lnB w="9525" cap="flat" cmpd="sng" algn="ctr">
                      <a:solidFill>
                        <a:srgbClr val="D5DAE1"/>
                      </a:solidFill>
                      <a:prstDash val="solid"/>
                      <a:round/>
                      <a:headEnd type="none" w="med" len="med"/>
                      <a:tailEnd type="none" w="med" len="med"/>
                    </a:lnB>
                  </a:tcPr>
                </a:tc>
                <a:tc>
                  <a:txBody>
                    <a:bodyPr/>
                    <a:lstStyle/>
                    <a:p>
                      <a:pPr algn="ctr" indent="0" marL="0">
                        <a:buNone/>
                      </a:pPr>
                      <a:r>
                        <a:rPr lang="en-US" sz="1400" dirty="0">
                          <a:solidFill>
                            <a:schemeClr val="tx1"/>
                          </a:solidFill>
                        </a:rPr>
                        <a:t>458</a:t>
                      </a:r>
                      <a:endParaRPr lang="en-US" sz="1400" dirty="0"/>
                    </a:p>
                  </a:txBody>
                  <a:tcPr marL="109728" marR="109728" marT="45720" marB="45720" anchor="ctr">
                    <a:lnL w="9525" cap="flat" cmpd="sng" algn="ctr">
                      <a:solidFill>
                        <a:srgbClr val="D5DAE1"/>
                      </a:solidFill>
                      <a:prstDash val="solid"/>
                      <a:round/>
                      <a:headEnd type="none" w="med" len="med"/>
                      <a:tailEnd type="none" w="med" len="med"/>
                    </a:lnL>
                    <a:lnR w="9525" cap="flat" cmpd="sng" algn="ctr">
                      <a:solidFill>
                        <a:srgbClr val="D5DAE1"/>
                      </a:solidFill>
                      <a:prstDash val="solid"/>
                      <a:round/>
                      <a:headEnd type="none" w="med" len="med"/>
                      <a:tailEnd type="none" w="med" len="med"/>
                    </a:lnR>
                    <a:lnT w="9525" cap="flat" cmpd="sng" algn="ctr">
                      <a:solidFill>
                        <a:srgbClr val="D5DAE1"/>
                      </a:solidFill>
                      <a:prstDash val="solid"/>
                      <a:round/>
                      <a:headEnd type="none" w="med" len="med"/>
                      <a:tailEnd type="none" w="med" len="med"/>
                    </a:lnT>
                    <a:lnB w="9525" cap="flat" cmpd="sng" algn="ctr">
                      <a:solidFill>
                        <a:srgbClr val="D5DAE1"/>
                      </a:solidFill>
                      <a:prstDash val="solid"/>
                      <a:round/>
                      <a:headEnd type="none" w="med" len="med"/>
                      <a:tailEnd type="none" w="med" len="med"/>
                    </a:lnB>
                  </a:tcPr>
                </a:tc>
                <a:tc>
                  <a:txBody>
                    <a:bodyPr/>
                    <a:lstStyle/>
                    <a:p>
                      <a:pPr algn="ctr" indent="0" marL="0">
                        <a:buNone/>
                      </a:pPr>
                      <a:r>
                        <a:rPr lang="en-US" sz="1400" dirty="0">
                          <a:solidFill>
                            <a:schemeClr val="tx1"/>
                          </a:solidFill>
                        </a:rPr>
                        <a:t>0.66</a:t>
                      </a:r>
                      <a:endParaRPr lang="en-US" sz="1400" dirty="0"/>
                    </a:p>
                  </a:txBody>
                  <a:tcPr marL="109728" marR="109728" marT="45720" marB="45720" anchor="ctr">
                    <a:lnL w="9525" cap="flat" cmpd="sng" algn="ctr">
                      <a:solidFill>
                        <a:srgbClr val="D5DAE1"/>
                      </a:solidFill>
                      <a:prstDash val="solid"/>
                      <a:round/>
                      <a:headEnd type="none" w="med" len="med"/>
                      <a:tailEnd type="none" w="med" len="med"/>
                    </a:lnL>
                    <a:lnR w="9525" cap="flat" cmpd="sng" algn="ctr">
                      <a:solidFill>
                        <a:srgbClr val="D5DAE1"/>
                      </a:solidFill>
                      <a:prstDash val="solid"/>
                      <a:round/>
                      <a:headEnd type="none" w="med" len="med"/>
                      <a:tailEnd type="none" w="med" len="med"/>
                    </a:lnR>
                    <a:lnT w="9525" cap="flat" cmpd="sng" algn="ctr">
                      <a:solidFill>
                        <a:srgbClr val="D5DAE1"/>
                      </a:solidFill>
                      <a:prstDash val="solid"/>
                      <a:round/>
                      <a:headEnd type="none" w="med" len="med"/>
                      <a:tailEnd type="none" w="med" len="med"/>
                    </a:lnT>
                    <a:lnB w="9525" cap="flat" cmpd="sng" algn="ctr">
                      <a:solidFill>
                        <a:srgbClr val="D5DAE1"/>
                      </a:solidFill>
                      <a:prstDash val="solid"/>
                      <a:round/>
                      <a:headEnd type="none" w="med" len="med"/>
                      <a:tailEnd type="none" w="med" len="med"/>
                    </a:lnB>
                    <a:solidFill>
                      <a:srgbClr val="FFFFFF"/>
                    </a:solidFill>
                  </a:tcPr>
                </a:tc>
                <a:tc>
                  <a:txBody>
                    <a:bodyPr/>
                    <a:lstStyle/>
                    <a:p>
                      <a:pPr algn="ctr" indent="0" marL="0">
                        <a:buNone/>
                      </a:pPr>
                      <a:r>
                        <a:rPr lang="en-US" sz="1400" dirty="0">
                          <a:solidFill>
                            <a:schemeClr val="tx1"/>
                          </a:solidFill>
                        </a:rPr>
                        <a:t>0.68</a:t>
                      </a:r>
                      <a:endParaRPr lang="en-US" sz="1400" dirty="0"/>
                    </a:p>
                  </a:txBody>
                  <a:tcPr marL="109728" marR="109728" marT="45720" marB="45720" anchor="ctr">
                    <a:lnL w="9525" cap="flat" cmpd="sng" algn="ctr">
                      <a:solidFill>
                        <a:srgbClr val="D5DAE1"/>
                      </a:solidFill>
                      <a:prstDash val="solid"/>
                      <a:round/>
                      <a:headEnd type="none" w="med" len="med"/>
                      <a:tailEnd type="none" w="med" len="med"/>
                    </a:lnL>
                    <a:lnR w="9525" cap="flat" cmpd="sng" algn="ctr">
                      <a:solidFill>
                        <a:srgbClr val="D5DAE1"/>
                      </a:solidFill>
                      <a:prstDash val="solid"/>
                      <a:round/>
                      <a:headEnd type="none" w="med" len="med"/>
                      <a:tailEnd type="none" w="med" len="med"/>
                    </a:lnR>
                    <a:lnT w="9525" cap="flat" cmpd="sng" algn="ctr">
                      <a:solidFill>
                        <a:srgbClr val="D5DAE1"/>
                      </a:solidFill>
                      <a:prstDash val="solid"/>
                      <a:round/>
                      <a:headEnd type="none" w="med" len="med"/>
                      <a:tailEnd type="none" w="med" len="med"/>
                    </a:lnT>
                    <a:lnB w="9525" cap="flat" cmpd="sng" algn="ctr">
                      <a:solidFill>
                        <a:srgbClr val="D5DAE1"/>
                      </a:solidFill>
                      <a:prstDash val="solid"/>
                      <a:round/>
                      <a:headEnd type="none" w="med" len="med"/>
                      <a:tailEnd type="none" w="med" len="med"/>
                    </a:lnB>
                    <a:solidFill>
                      <a:srgbClr val="FFFFFF"/>
                    </a:solidFill>
                  </a:tcPr>
                </a:tc>
                <a:tc>
                  <a:txBody>
                    <a:bodyPr/>
                    <a:lstStyle/>
                    <a:p>
                      <a:pPr algn="ctr" indent="0" marL="0">
                        <a:buNone/>
                      </a:pPr>
                      <a:r>
                        <a:rPr lang="en-US" sz="1400" dirty="0">
                          <a:solidFill>
                            <a:schemeClr val="tx1"/>
                          </a:solidFill>
                        </a:rPr>
                        <a:t>0.68</a:t>
                      </a:r>
                      <a:endParaRPr lang="en-US" sz="1400" dirty="0"/>
                    </a:p>
                  </a:txBody>
                  <a:tcPr marL="109728" marR="109728" marT="45720" marB="45720" anchor="ctr">
                    <a:lnL w="9525" cap="flat" cmpd="sng" algn="ctr">
                      <a:solidFill>
                        <a:srgbClr val="D5DAE1"/>
                      </a:solidFill>
                      <a:prstDash val="solid"/>
                      <a:round/>
                      <a:headEnd type="none" w="med" len="med"/>
                      <a:tailEnd type="none" w="med" len="med"/>
                    </a:lnL>
                    <a:lnR w="9525" cap="flat" cmpd="sng" algn="ctr">
                      <a:solidFill>
                        <a:srgbClr val="D5DAE1"/>
                      </a:solidFill>
                      <a:prstDash val="solid"/>
                      <a:round/>
                      <a:headEnd type="none" w="med" len="med"/>
                      <a:tailEnd type="none" w="med" len="med"/>
                    </a:lnR>
                    <a:lnT w="9525" cap="flat" cmpd="sng" algn="ctr">
                      <a:solidFill>
                        <a:srgbClr val="D5DAE1"/>
                      </a:solidFill>
                      <a:prstDash val="solid"/>
                      <a:round/>
                      <a:headEnd type="none" w="med" len="med"/>
                      <a:tailEnd type="none" w="med" len="med"/>
                    </a:lnT>
                    <a:lnB w="9525" cap="flat" cmpd="sng" algn="ctr">
                      <a:solidFill>
                        <a:srgbClr val="D5DAE1"/>
                      </a:solidFill>
                      <a:prstDash val="solid"/>
                      <a:round/>
                      <a:headEnd type="none" w="med" len="med"/>
                      <a:tailEnd type="none" w="med" len="med"/>
                    </a:lnB>
                    <a:solidFill>
                      <a:srgbClr val="FFFFFF"/>
                    </a:solidFill>
                  </a:tcPr>
                </a:tc>
              </a:tr>
              <a:tr h="502920">
                <a:tc>
                  <a:txBody>
                    <a:bodyPr/>
                    <a:lstStyle/>
                    <a:p>
                      <a:pPr indent="0" marL="0">
                        <a:buNone/>
                      </a:pPr>
                      <a:r>
                        <a:rPr lang="en-US" sz="1400" b="1" dirty="0">
                          <a:solidFill>
                            <a:schemeClr val="tx1"/>
                          </a:solidFill>
                        </a:rPr>
                        <a:t>Rain</a:t>
                      </a:r>
                      <a:endParaRPr lang="en-US" sz="1400" dirty="0"/>
                    </a:p>
                  </a:txBody>
                  <a:tcPr marL="109728" marR="109728" marT="45720" marB="45720" anchor="ctr">
                    <a:lnL w="9525" cap="flat" cmpd="sng" algn="ctr">
                      <a:solidFill>
                        <a:srgbClr val="D5DAE1"/>
                      </a:solidFill>
                      <a:prstDash val="solid"/>
                      <a:round/>
                      <a:headEnd type="none" w="med" len="med"/>
                      <a:tailEnd type="none" w="med" len="med"/>
                    </a:lnL>
                    <a:lnR w="9525" cap="flat" cmpd="sng" algn="ctr">
                      <a:solidFill>
                        <a:srgbClr val="D5DAE1"/>
                      </a:solidFill>
                      <a:prstDash val="solid"/>
                      <a:round/>
                      <a:headEnd type="none" w="med" len="med"/>
                      <a:tailEnd type="none" w="med" len="med"/>
                    </a:lnR>
                    <a:lnT w="9525" cap="flat" cmpd="sng" algn="ctr">
                      <a:solidFill>
                        <a:srgbClr val="D5DAE1"/>
                      </a:solidFill>
                      <a:prstDash val="solid"/>
                      <a:round/>
                      <a:headEnd type="none" w="med" len="med"/>
                      <a:tailEnd type="none" w="med" len="med"/>
                    </a:lnT>
                    <a:lnB w="9525" cap="flat" cmpd="sng" algn="ctr">
                      <a:solidFill>
                        <a:srgbClr val="D5DAE1"/>
                      </a:solidFill>
                      <a:prstDash val="solid"/>
                      <a:round/>
                      <a:headEnd type="none" w="med" len="med"/>
                      <a:tailEnd type="none" w="med" len="med"/>
                    </a:lnB>
                  </a:tcPr>
                </a:tc>
                <a:tc>
                  <a:txBody>
                    <a:bodyPr/>
                    <a:lstStyle/>
                    <a:p>
                      <a:pPr algn="ctr" indent="0" marL="0">
                        <a:buNone/>
                      </a:pPr>
                      <a:r>
                        <a:rPr lang="en-US" sz="1400" dirty="0">
                          <a:solidFill>
                            <a:schemeClr val="tx1"/>
                          </a:solidFill>
                        </a:rPr>
                        <a:t>32</a:t>
                      </a:r>
                      <a:endParaRPr lang="en-US" sz="1400" dirty="0"/>
                    </a:p>
                  </a:txBody>
                  <a:tcPr marL="109728" marR="109728" marT="45720" marB="45720" anchor="ctr">
                    <a:lnL w="9525" cap="flat" cmpd="sng" algn="ctr">
                      <a:solidFill>
                        <a:srgbClr val="D5DAE1"/>
                      </a:solidFill>
                      <a:prstDash val="solid"/>
                      <a:round/>
                      <a:headEnd type="none" w="med" len="med"/>
                      <a:tailEnd type="none" w="med" len="med"/>
                    </a:lnL>
                    <a:lnR w="9525" cap="flat" cmpd="sng" algn="ctr">
                      <a:solidFill>
                        <a:srgbClr val="D5DAE1"/>
                      </a:solidFill>
                      <a:prstDash val="solid"/>
                      <a:round/>
                      <a:headEnd type="none" w="med" len="med"/>
                      <a:tailEnd type="none" w="med" len="med"/>
                    </a:lnR>
                    <a:lnT w="9525" cap="flat" cmpd="sng" algn="ctr">
                      <a:solidFill>
                        <a:srgbClr val="D5DAE1"/>
                      </a:solidFill>
                      <a:prstDash val="solid"/>
                      <a:round/>
                      <a:headEnd type="none" w="med" len="med"/>
                      <a:tailEnd type="none" w="med" len="med"/>
                    </a:lnT>
                    <a:lnB w="9525" cap="flat" cmpd="sng" algn="ctr">
                      <a:solidFill>
                        <a:srgbClr val="D5DAE1"/>
                      </a:solidFill>
                      <a:prstDash val="solid"/>
                      <a:round/>
                      <a:headEnd type="none" w="med" len="med"/>
                      <a:tailEnd type="none" w="med" len="med"/>
                    </a:lnB>
                  </a:tcPr>
                </a:tc>
                <a:tc>
                  <a:txBody>
                    <a:bodyPr/>
                    <a:lstStyle/>
                    <a:p>
                      <a:pPr algn="ctr" indent="0" marL="0">
                        <a:buNone/>
                      </a:pPr>
                      <a:r>
                        <a:rPr lang="en-US" sz="1400" dirty="0">
                          <a:solidFill>
                            <a:schemeClr val="tx1"/>
                          </a:solidFill>
                        </a:rPr>
                        <a:t>0.51</a:t>
                      </a:r>
                      <a:endParaRPr lang="en-US" sz="1400" dirty="0"/>
                    </a:p>
                  </a:txBody>
                  <a:tcPr marL="109728" marR="109728" marT="45720" marB="45720" anchor="ctr">
                    <a:lnL w="9525" cap="flat" cmpd="sng" algn="ctr">
                      <a:solidFill>
                        <a:srgbClr val="D5DAE1"/>
                      </a:solidFill>
                      <a:prstDash val="solid"/>
                      <a:round/>
                      <a:headEnd type="none" w="med" len="med"/>
                      <a:tailEnd type="none" w="med" len="med"/>
                    </a:lnL>
                    <a:lnR w="9525" cap="flat" cmpd="sng" algn="ctr">
                      <a:solidFill>
                        <a:srgbClr val="D5DAE1"/>
                      </a:solidFill>
                      <a:prstDash val="solid"/>
                      <a:round/>
                      <a:headEnd type="none" w="med" len="med"/>
                      <a:tailEnd type="none" w="med" len="med"/>
                    </a:lnR>
                    <a:lnT w="9525" cap="flat" cmpd="sng" algn="ctr">
                      <a:solidFill>
                        <a:srgbClr val="D5DAE1"/>
                      </a:solidFill>
                      <a:prstDash val="solid"/>
                      <a:round/>
                      <a:headEnd type="none" w="med" len="med"/>
                      <a:tailEnd type="none" w="med" len="med"/>
                    </a:lnT>
                    <a:lnB w="9525" cap="flat" cmpd="sng" algn="ctr">
                      <a:solidFill>
                        <a:srgbClr val="D5DAE1"/>
                      </a:solidFill>
                      <a:prstDash val="solid"/>
                      <a:round/>
                      <a:headEnd type="none" w="med" len="med"/>
                      <a:tailEnd type="none" w="med" len="med"/>
                    </a:lnB>
                    <a:solidFill>
                      <a:srgbClr val="FFFFFF"/>
                    </a:solidFill>
                  </a:tcPr>
                </a:tc>
                <a:tc>
                  <a:txBody>
                    <a:bodyPr/>
                    <a:lstStyle/>
                    <a:p>
                      <a:pPr algn="ctr" indent="0" marL="0">
                        <a:buNone/>
                      </a:pPr>
                      <a:r>
                        <a:rPr lang="en-US" sz="1400" dirty="0">
                          <a:solidFill>
                            <a:schemeClr val="tx1"/>
                          </a:solidFill>
                        </a:rPr>
                        <a:t>0.56</a:t>
                      </a:r>
                      <a:endParaRPr lang="en-US" sz="1400" dirty="0"/>
                    </a:p>
                  </a:txBody>
                  <a:tcPr marL="109728" marR="109728" marT="45720" marB="45720" anchor="ctr">
                    <a:lnL w="9525" cap="flat" cmpd="sng" algn="ctr">
                      <a:solidFill>
                        <a:srgbClr val="D5DAE1"/>
                      </a:solidFill>
                      <a:prstDash val="solid"/>
                      <a:round/>
                      <a:headEnd type="none" w="med" len="med"/>
                      <a:tailEnd type="none" w="med" len="med"/>
                    </a:lnL>
                    <a:lnR w="9525" cap="flat" cmpd="sng" algn="ctr">
                      <a:solidFill>
                        <a:srgbClr val="D5DAE1"/>
                      </a:solidFill>
                      <a:prstDash val="solid"/>
                      <a:round/>
                      <a:headEnd type="none" w="med" len="med"/>
                      <a:tailEnd type="none" w="med" len="med"/>
                    </a:lnR>
                    <a:lnT w="9525" cap="flat" cmpd="sng" algn="ctr">
                      <a:solidFill>
                        <a:srgbClr val="D5DAE1"/>
                      </a:solidFill>
                      <a:prstDash val="solid"/>
                      <a:round/>
                      <a:headEnd type="none" w="med" len="med"/>
                      <a:tailEnd type="none" w="med" len="med"/>
                    </a:lnT>
                    <a:lnB w="9525" cap="flat" cmpd="sng" algn="ctr">
                      <a:solidFill>
                        <a:srgbClr val="D5DAE1"/>
                      </a:solidFill>
                      <a:prstDash val="solid"/>
                      <a:round/>
                      <a:headEnd type="none" w="med" len="med"/>
                      <a:tailEnd type="none" w="med" len="med"/>
                    </a:lnB>
                    <a:solidFill>
                      <a:srgbClr val="FFFFFF"/>
                    </a:solidFill>
                  </a:tcPr>
                </a:tc>
                <a:tc>
                  <a:txBody>
                    <a:bodyPr/>
                    <a:lstStyle/>
                    <a:p>
                      <a:pPr algn="ctr" indent="0" marL="0">
                        <a:buNone/>
                      </a:pPr>
                      <a:r>
                        <a:rPr lang="en-US" sz="1400" dirty="0">
                          <a:solidFill>
                            <a:schemeClr val="tx1"/>
                          </a:solidFill>
                        </a:rPr>
                        <a:t>0.53</a:t>
                      </a:r>
                      <a:endParaRPr lang="en-US" sz="1400" dirty="0"/>
                    </a:p>
                  </a:txBody>
                  <a:tcPr marL="109728" marR="109728" marT="45720" marB="45720" anchor="ctr">
                    <a:lnL w="9525" cap="flat" cmpd="sng" algn="ctr">
                      <a:solidFill>
                        <a:srgbClr val="D5DAE1"/>
                      </a:solidFill>
                      <a:prstDash val="solid"/>
                      <a:round/>
                      <a:headEnd type="none" w="med" len="med"/>
                      <a:tailEnd type="none" w="med" len="med"/>
                    </a:lnL>
                    <a:lnR w="9525" cap="flat" cmpd="sng" algn="ctr">
                      <a:solidFill>
                        <a:srgbClr val="D5DAE1"/>
                      </a:solidFill>
                      <a:prstDash val="solid"/>
                      <a:round/>
                      <a:headEnd type="none" w="med" len="med"/>
                      <a:tailEnd type="none" w="med" len="med"/>
                    </a:lnR>
                    <a:lnT w="9525" cap="flat" cmpd="sng" algn="ctr">
                      <a:solidFill>
                        <a:srgbClr val="D5DAE1"/>
                      </a:solidFill>
                      <a:prstDash val="solid"/>
                      <a:round/>
                      <a:headEnd type="none" w="med" len="med"/>
                      <a:tailEnd type="none" w="med" len="med"/>
                    </a:lnT>
                    <a:lnB w="9525" cap="flat" cmpd="sng" algn="ctr">
                      <a:solidFill>
                        <a:srgbClr val="D5DAE1"/>
                      </a:solidFill>
                      <a:prstDash val="solid"/>
                      <a:round/>
                      <a:headEnd type="none" w="med" len="med"/>
                      <a:tailEnd type="none" w="med" len="med"/>
                    </a:lnB>
                    <a:solidFill>
                      <a:srgbClr val="FFFFFF"/>
                    </a:solidFill>
                  </a:tcPr>
                </a:tc>
              </a:tr>
              <a:tr h="502920">
                <a:tc>
                  <a:txBody>
                    <a:bodyPr/>
                    <a:lstStyle/>
                    <a:p>
                      <a:pPr indent="0" marL="0">
                        <a:buNone/>
                      </a:pPr>
                      <a:r>
                        <a:rPr lang="en-US" sz="1400" b="1" dirty="0">
                          <a:solidFill>
                            <a:schemeClr val="tx1"/>
                          </a:solidFill>
                        </a:rPr>
                        <a:t>Urban</a:t>
                      </a:r>
                      <a:endParaRPr lang="en-US" sz="1400" dirty="0"/>
                    </a:p>
                  </a:txBody>
                  <a:tcPr marL="109728" marR="109728" marT="45720" marB="45720" anchor="ctr">
                    <a:lnL w="9525" cap="flat" cmpd="sng" algn="ctr">
                      <a:solidFill>
                        <a:srgbClr val="D5DAE1"/>
                      </a:solidFill>
                      <a:prstDash val="solid"/>
                      <a:round/>
                      <a:headEnd type="none" w="med" len="med"/>
                      <a:tailEnd type="none" w="med" len="med"/>
                    </a:lnL>
                    <a:lnR w="9525" cap="flat" cmpd="sng" algn="ctr">
                      <a:solidFill>
                        <a:srgbClr val="D5DAE1"/>
                      </a:solidFill>
                      <a:prstDash val="solid"/>
                      <a:round/>
                      <a:headEnd type="none" w="med" len="med"/>
                      <a:tailEnd type="none" w="med" len="med"/>
                    </a:lnR>
                    <a:lnT w="9525" cap="flat" cmpd="sng" algn="ctr">
                      <a:solidFill>
                        <a:srgbClr val="D5DAE1"/>
                      </a:solidFill>
                      <a:prstDash val="solid"/>
                      <a:round/>
                      <a:headEnd type="none" w="med" len="med"/>
                      <a:tailEnd type="none" w="med" len="med"/>
                    </a:lnT>
                    <a:lnB w="9525" cap="flat" cmpd="sng" algn="ctr">
                      <a:solidFill>
                        <a:srgbClr val="D5DAE1"/>
                      </a:solidFill>
                      <a:prstDash val="solid"/>
                      <a:round/>
                      <a:headEnd type="none" w="med" len="med"/>
                      <a:tailEnd type="none" w="med" len="med"/>
                    </a:lnB>
                  </a:tcPr>
                </a:tc>
                <a:tc>
                  <a:txBody>
                    <a:bodyPr/>
                    <a:lstStyle/>
                    <a:p>
                      <a:pPr algn="ctr" indent="0" marL="0">
                        <a:buNone/>
                      </a:pPr>
                      <a:r>
                        <a:rPr lang="en-US" sz="1400" dirty="0">
                          <a:solidFill>
                            <a:schemeClr val="tx1"/>
                          </a:solidFill>
                        </a:rPr>
                        <a:t>315</a:t>
                      </a:r>
                      <a:endParaRPr lang="en-US" sz="1400" dirty="0"/>
                    </a:p>
                  </a:txBody>
                  <a:tcPr marL="109728" marR="109728" marT="45720" marB="45720" anchor="ctr">
                    <a:lnL w="9525" cap="flat" cmpd="sng" algn="ctr">
                      <a:solidFill>
                        <a:srgbClr val="D5DAE1"/>
                      </a:solidFill>
                      <a:prstDash val="solid"/>
                      <a:round/>
                      <a:headEnd type="none" w="med" len="med"/>
                      <a:tailEnd type="none" w="med" len="med"/>
                    </a:lnL>
                    <a:lnR w="9525" cap="flat" cmpd="sng" algn="ctr">
                      <a:solidFill>
                        <a:srgbClr val="D5DAE1"/>
                      </a:solidFill>
                      <a:prstDash val="solid"/>
                      <a:round/>
                      <a:headEnd type="none" w="med" len="med"/>
                      <a:tailEnd type="none" w="med" len="med"/>
                    </a:lnR>
                    <a:lnT w="9525" cap="flat" cmpd="sng" algn="ctr">
                      <a:solidFill>
                        <a:srgbClr val="D5DAE1"/>
                      </a:solidFill>
                      <a:prstDash val="solid"/>
                      <a:round/>
                      <a:headEnd type="none" w="med" len="med"/>
                      <a:tailEnd type="none" w="med" len="med"/>
                    </a:lnT>
                    <a:lnB w="9525" cap="flat" cmpd="sng" algn="ctr">
                      <a:solidFill>
                        <a:srgbClr val="D5DAE1"/>
                      </a:solidFill>
                      <a:prstDash val="solid"/>
                      <a:round/>
                      <a:headEnd type="none" w="med" len="med"/>
                      <a:tailEnd type="none" w="med" len="med"/>
                    </a:lnB>
                  </a:tcPr>
                </a:tc>
                <a:tc>
                  <a:txBody>
                    <a:bodyPr/>
                    <a:lstStyle/>
                    <a:p>
                      <a:pPr algn="ctr" indent="0" marL="0">
                        <a:buNone/>
                      </a:pPr>
                      <a:r>
                        <a:rPr lang="en-US" sz="1400" dirty="0">
                          <a:solidFill>
                            <a:schemeClr val="tx1"/>
                          </a:solidFill>
                        </a:rPr>
                        <a:t>0.63</a:t>
                      </a:r>
                      <a:endParaRPr lang="en-US" sz="1400" dirty="0"/>
                    </a:p>
                  </a:txBody>
                  <a:tcPr marL="109728" marR="109728" marT="45720" marB="45720" anchor="ctr">
                    <a:lnL w="9525" cap="flat" cmpd="sng" algn="ctr">
                      <a:solidFill>
                        <a:srgbClr val="D5DAE1"/>
                      </a:solidFill>
                      <a:prstDash val="solid"/>
                      <a:round/>
                      <a:headEnd type="none" w="med" len="med"/>
                      <a:tailEnd type="none" w="med" len="med"/>
                    </a:lnL>
                    <a:lnR w="9525" cap="flat" cmpd="sng" algn="ctr">
                      <a:solidFill>
                        <a:srgbClr val="D5DAE1"/>
                      </a:solidFill>
                      <a:prstDash val="solid"/>
                      <a:round/>
                      <a:headEnd type="none" w="med" len="med"/>
                      <a:tailEnd type="none" w="med" len="med"/>
                    </a:lnR>
                    <a:lnT w="9525" cap="flat" cmpd="sng" algn="ctr">
                      <a:solidFill>
                        <a:srgbClr val="D5DAE1"/>
                      </a:solidFill>
                      <a:prstDash val="solid"/>
                      <a:round/>
                      <a:headEnd type="none" w="med" len="med"/>
                      <a:tailEnd type="none" w="med" len="med"/>
                    </a:lnT>
                    <a:lnB w="9525" cap="flat" cmpd="sng" algn="ctr">
                      <a:solidFill>
                        <a:srgbClr val="D5DAE1"/>
                      </a:solidFill>
                      <a:prstDash val="solid"/>
                      <a:round/>
                      <a:headEnd type="none" w="med" len="med"/>
                      <a:tailEnd type="none" w="med" len="med"/>
                    </a:lnB>
                    <a:solidFill>
                      <a:srgbClr val="FFFFFF"/>
                    </a:solidFill>
                  </a:tcPr>
                </a:tc>
                <a:tc>
                  <a:txBody>
                    <a:bodyPr/>
                    <a:lstStyle/>
                    <a:p>
                      <a:pPr algn="ctr" indent="0" marL="0">
                        <a:buNone/>
                      </a:pPr>
                      <a:r>
                        <a:rPr lang="en-US" sz="1400" dirty="0">
                          <a:solidFill>
                            <a:schemeClr val="tx1"/>
                          </a:solidFill>
                        </a:rPr>
                        <a:t>0.65</a:t>
                      </a:r>
                      <a:endParaRPr lang="en-US" sz="1400" dirty="0"/>
                    </a:p>
                  </a:txBody>
                  <a:tcPr marL="109728" marR="109728" marT="45720" marB="45720" anchor="ctr">
                    <a:lnL w="9525" cap="flat" cmpd="sng" algn="ctr">
                      <a:solidFill>
                        <a:srgbClr val="D5DAE1"/>
                      </a:solidFill>
                      <a:prstDash val="solid"/>
                      <a:round/>
                      <a:headEnd type="none" w="med" len="med"/>
                      <a:tailEnd type="none" w="med" len="med"/>
                    </a:lnL>
                    <a:lnR w="9525" cap="flat" cmpd="sng" algn="ctr">
                      <a:solidFill>
                        <a:srgbClr val="D5DAE1"/>
                      </a:solidFill>
                      <a:prstDash val="solid"/>
                      <a:round/>
                      <a:headEnd type="none" w="med" len="med"/>
                      <a:tailEnd type="none" w="med" len="med"/>
                    </a:lnR>
                    <a:lnT w="9525" cap="flat" cmpd="sng" algn="ctr">
                      <a:solidFill>
                        <a:srgbClr val="D5DAE1"/>
                      </a:solidFill>
                      <a:prstDash val="solid"/>
                      <a:round/>
                      <a:headEnd type="none" w="med" len="med"/>
                      <a:tailEnd type="none" w="med" len="med"/>
                    </a:lnT>
                    <a:lnB w="9525" cap="flat" cmpd="sng" algn="ctr">
                      <a:solidFill>
                        <a:srgbClr val="D5DAE1"/>
                      </a:solidFill>
                      <a:prstDash val="solid"/>
                      <a:round/>
                      <a:headEnd type="none" w="med" len="med"/>
                      <a:tailEnd type="none" w="med" len="med"/>
                    </a:lnB>
                    <a:solidFill>
                      <a:srgbClr val="FFFFFF"/>
                    </a:solidFill>
                  </a:tcPr>
                </a:tc>
                <a:tc>
                  <a:txBody>
                    <a:bodyPr/>
                    <a:lstStyle/>
                    <a:p>
                      <a:pPr algn="ctr" indent="0" marL="0">
                        <a:buNone/>
                      </a:pPr>
                      <a:r>
                        <a:rPr lang="en-US" sz="1400" dirty="0">
                          <a:solidFill>
                            <a:schemeClr val="tx1"/>
                          </a:solidFill>
                        </a:rPr>
                        <a:t>0.63</a:t>
                      </a:r>
                      <a:endParaRPr lang="en-US" sz="1400" dirty="0"/>
                    </a:p>
                  </a:txBody>
                  <a:tcPr marL="109728" marR="109728" marT="45720" marB="45720" anchor="ctr">
                    <a:lnL w="9525" cap="flat" cmpd="sng" algn="ctr">
                      <a:solidFill>
                        <a:srgbClr val="D5DAE1"/>
                      </a:solidFill>
                      <a:prstDash val="solid"/>
                      <a:round/>
                      <a:headEnd type="none" w="med" len="med"/>
                      <a:tailEnd type="none" w="med" len="med"/>
                    </a:lnL>
                    <a:lnR w="9525" cap="flat" cmpd="sng" algn="ctr">
                      <a:solidFill>
                        <a:srgbClr val="D5DAE1"/>
                      </a:solidFill>
                      <a:prstDash val="solid"/>
                      <a:round/>
                      <a:headEnd type="none" w="med" len="med"/>
                      <a:tailEnd type="none" w="med" len="med"/>
                    </a:lnR>
                    <a:lnT w="9525" cap="flat" cmpd="sng" algn="ctr">
                      <a:solidFill>
                        <a:srgbClr val="D5DAE1"/>
                      </a:solidFill>
                      <a:prstDash val="solid"/>
                      <a:round/>
                      <a:headEnd type="none" w="med" len="med"/>
                      <a:tailEnd type="none" w="med" len="med"/>
                    </a:lnT>
                    <a:lnB w="9525" cap="flat" cmpd="sng" algn="ctr">
                      <a:solidFill>
                        <a:srgbClr val="D5DAE1"/>
                      </a:solidFill>
                      <a:prstDash val="solid"/>
                      <a:round/>
                      <a:headEnd type="none" w="med" len="med"/>
                      <a:tailEnd type="none" w="med" len="med"/>
                    </a:lnB>
                    <a:solidFill>
                      <a:srgbClr val="FFFFFF"/>
                    </a:solidFill>
                  </a:tcPr>
                </a:tc>
              </a:tr>
              <a:tr h="502920">
                <a:tc>
                  <a:txBody>
                    <a:bodyPr/>
                    <a:lstStyle/>
                    <a:p>
                      <a:pPr indent="0" marL="0">
                        <a:buNone/>
                      </a:pPr>
                      <a:r>
                        <a:rPr lang="en-US" sz="1400" b="1" dirty="0">
                          <a:solidFill>
                            <a:schemeClr val="tx1"/>
                          </a:solidFill>
                        </a:rPr>
                        <a:t>Highway</a:t>
                      </a:r>
                      <a:endParaRPr lang="en-US" sz="1400" dirty="0"/>
                    </a:p>
                  </a:txBody>
                  <a:tcPr marL="109728" marR="109728" marT="45720" marB="45720" anchor="ctr">
                    <a:lnL w="9525" cap="flat" cmpd="sng" algn="ctr">
                      <a:solidFill>
                        <a:srgbClr val="D5DAE1"/>
                      </a:solidFill>
                      <a:prstDash val="solid"/>
                      <a:round/>
                      <a:headEnd type="none" w="med" len="med"/>
                      <a:tailEnd type="none" w="med" len="med"/>
                    </a:lnL>
                    <a:lnR w="9525" cap="flat" cmpd="sng" algn="ctr">
                      <a:solidFill>
                        <a:srgbClr val="D5DAE1"/>
                      </a:solidFill>
                      <a:prstDash val="solid"/>
                      <a:round/>
                      <a:headEnd type="none" w="med" len="med"/>
                      <a:tailEnd type="none" w="med" len="med"/>
                    </a:lnR>
                    <a:lnT w="9525" cap="flat" cmpd="sng" algn="ctr">
                      <a:solidFill>
                        <a:srgbClr val="D5DAE1"/>
                      </a:solidFill>
                      <a:prstDash val="solid"/>
                      <a:round/>
                      <a:headEnd type="none" w="med" len="med"/>
                      <a:tailEnd type="none" w="med" len="med"/>
                    </a:lnT>
                    <a:lnB w="9525" cap="flat" cmpd="sng" algn="ctr">
                      <a:solidFill>
                        <a:srgbClr val="D5DAE1"/>
                      </a:solidFill>
                      <a:prstDash val="solid"/>
                      <a:round/>
                      <a:headEnd type="none" w="med" len="med"/>
                      <a:tailEnd type="none" w="med" len="med"/>
                    </a:lnB>
                  </a:tcPr>
                </a:tc>
                <a:tc>
                  <a:txBody>
                    <a:bodyPr/>
                    <a:lstStyle/>
                    <a:p>
                      <a:pPr algn="ctr" indent="0" marL="0">
                        <a:buNone/>
                      </a:pPr>
                      <a:r>
                        <a:rPr lang="en-US" sz="1400" dirty="0">
                          <a:solidFill>
                            <a:schemeClr val="tx1"/>
                          </a:solidFill>
                        </a:rPr>
                        <a:t>183</a:t>
                      </a:r>
                      <a:endParaRPr lang="en-US" sz="1400" dirty="0"/>
                    </a:p>
                  </a:txBody>
                  <a:tcPr marL="109728" marR="109728" marT="45720" marB="45720" anchor="ctr">
                    <a:lnL w="9525" cap="flat" cmpd="sng" algn="ctr">
                      <a:solidFill>
                        <a:srgbClr val="D5DAE1"/>
                      </a:solidFill>
                      <a:prstDash val="solid"/>
                      <a:round/>
                      <a:headEnd type="none" w="med" len="med"/>
                      <a:tailEnd type="none" w="med" len="med"/>
                    </a:lnL>
                    <a:lnR w="9525" cap="flat" cmpd="sng" algn="ctr">
                      <a:solidFill>
                        <a:srgbClr val="D5DAE1"/>
                      </a:solidFill>
                      <a:prstDash val="solid"/>
                      <a:round/>
                      <a:headEnd type="none" w="med" len="med"/>
                      <a:tailEnd type="none" w="med" len="med"/>
                    </a:lnR>
                    <a:lnT w="9525" cap="flat" cmpd="sng" algn="ctr">
                      <a:solidFill>
                        <a:srgbClr val="D5DAE1"/>
                      </a:solidFill>
                      <a:prstDash val="solid"/>
                      <a:round/>
                      <a:headEnd type="none" w="med" len="med"/>
                      <a:tailEnd type="none" w="med" len="med"/>
                    </a:lnT>
                    <a:lnB w="9525" cap="flat" cmpd="sng" algn="ctr">
                      <a:solidFill>
                        <a:srgbClr val="D5DAE1"/>
                      </a:solidFill>
                      <a:prstDash val="solid"/>
                      <a:round/>
                      <a:headEnd type="none" w="med" len="med"/>
                      <a:tailEnd type="none" w="med" len="med"/>
                    </a:lnB>
                  </a:tcPr>
                </a:tc>
                <a:tc>
                  <a:txBody>
                    <a:bodyPr/>
                    <a:lstStyle/>
                    <a:p>
                      <a:pPr algn="ctr" indent="0" marL="0">
                        <a:buNone/>
                      </a:pPr>
                      <a:r>
                        <a:rPr lang="en-US" sz="1400" b="1" dirty="0">
                          <a:solidFill>
                            <a:schemeClr val="tx1"/>
                          </a:solidFill>
                        </a:rPr>
                        <a:t>0.86</a:t>
                      </a:r>
                      <a:endParaRPr lang="en-US" sz="1400" dirty="0"/>
                    </a:p>
                  </a:txBody>
                  <a:tcPr marL="109728" marR="109728" marT="45720" marB="45720" anchor="ctr">
                    <a:lnL w="9525" cap="flat" cmpd="sng" algn="ctr">
                      <a:solidFill>
                        <a:srgbClr val="D5DAE1"/>
                      </a:solidFill>
                      <a:prstDash val="solid"/>
                      <a:round/>
                      <a:headEnd type="none" w="med" len="med"/>
                      <a:tailEnd type="none" w="med" len="med"/>
                    </a:lnL>
                    <a:lnR w="9525" cap="flat" cmpd="sng" algn="ctr">
                      <a:solidFill>
                        <a:srgbClr val="D5DAE1"/>
                      </a:solidFill>
                      <a:prstDash val="solid"/>
                      <a:round/>
                      <a:headEnd type="none" w="med" len="med"/>
                      <a:tailEnd type="none" w="med" len="med"/>
                    </a:lnR>
                    <a:lnT w="9525" cap="flat" cmpd="sng" algn="ctr">
                      <a:solidFill>
                        <a:srgbClr val="D5DAE1"/>
                      </a:solidFill>
                      <a:prstDash val="solid"/>
                      <a:round/>
                      <a:headEnd type="none" w="med" len="med"/>
                      <a:tailEnd type="none" w="med" len="med"/>
                    </a:lnT>
                    <a:lnB w="9525" cap="flat" cmpd="sng" algn="ctr">
                      <a:solidFill>
                        <a:srgbClr val="D5DAE1"/>
                      </a:solidFill>
                      <a:prstDash val="solid"/>
                      <a:round/>
                      <a:headEnd type="none" w="med" len="med"/>
                      <a:tailEnd type="none" w="med" len="med"/>
                    </a:lnB>
                    <a:solidFill>
                      <a:srgbClr val="FCE9B0"/>
                    </a:solidFill>
                  </a:tcPr>
                </a:tc>
                <a:tc>
                  <a:txBody>
                    <a:bodyPr/>
                    <a:lstStyle/>
                    <a:p>
                      <a:pPr algn="ctr" indent="0" marL="0">
                        <a:buNone/>
                      </a:pPr>
                      <a:r>
                        <a:rPr lang="en-US" sz="1400" dirty="0">
                          <a:solidFill>
                            <a:schemeClr val="tx1"/>
                          </a:solidFill>
                        </a:rPr>
                        <a:t>0.69</a:t>
                      </a:r>
                      <a:endParaRPr lang="en-US" sz="1400" dirty="0"/>
                    </a:p>
                  </a:txBody>
                  <a:tcPr marL="109728" marR="109728" marT="45720" marB="45720" anchor="ctr">
                    <a:lnL w="9525" cap="flat" cmpd="sng" algn="ctr">
                      <a:solidFill>
                        <a:srgbClr val="D5DAE1"/>
                      </a:solidFill>
                      <a:prstDash val="solid"/>
                      <a:round/>
                      <a:headEnd type="none" w="med" len="med"/>
                      <a:tailEnd type="none" w="med" len="med"/>
                    </a:lnL>
                    <a:lnR w="9525" cap="flat" cmpd="sng" algn="ctr">
                      <a:solidFill>
                        <a:srgbClr val="D5DAE1"/>
                      </a:solidFill>
                      <a:prstDash val="solid"/>
                      <a:round/>
                      <a:headEnd type="none" w="med" len="med"/>
                      <a:tailEnd type="none" w="med" len="med"/>
                    </a:lnR>
                    <a:lnT w="9525" cap="flat" cmpd="sng" algn="ctr">
                      <a:solidFill>
                        <a:srgbClr val="D5DAE1"/>
                      </a:solidFill>
                      <a:prstDash val="solid"/>
                      <a:round/>
                      <a:headEnd type="none" w="med" len="med"/>
                      <a:tailEnd type="none" w="med" len="med"/>
                    </a:lnT>
                    <a:lnB w="9525" cap="flat" cmpd="sng" algn="ctr">
                      <a:solidFill>
                        <a:srgbClr val="D5DAE1"/>
                      </a:solidFill>
                      <a:prstDash val="solid"/>
                      <a:round/>
                      <a:headEnd type="none" w="med" len="med"/>
                      <a:tailEnd type="none" w="med" len="med"/>
                    </a:lnB>
                    <a:solidFill>
                      <a:srgbClr val="FFFFFF"/>
                    </a:solidFill>
                  </a:tcPr>
                </a:tc>
                <a:tc>
                  <a:txBody>
                    <a:bodyPr/>
                    <a:lstStyle/>
                    <a:p>
                      <a:pPr algn="ctr" indent="0" marL="0">
                        <a:buNone/>
                      </a:pPr>
                      <a:r>
                        <a:rPr lang="en-US" sz="1400" dirty="0">
                          <a:solidFill>
                            <a:schemeClr val="tx1"/>
                          </a:solidFill>
                        </a:rPr>
                        <a:t>0.73</a:t>
                      </a:r>
                      <a:endParaRPr lang="en-US" sz="1400" dirty="0"/>
                    </a:p>
                  </a:txBody>
                  <a:tcPr marL="109728" marR="109728" marT="45720" marB="45720" anchor="ctr">
                    <a:lnL w="9525" cap="flat" cmpd="sng" algn="ctr">
                      <a:solidFill>
                        <a:srgbClr val="D5DAE1"/>
                      </a:solidFill>
                      <a:prstDash val="solid"/>
                      <a:round/>
                      <a:headEnd type="none" w="med" len="med"/>
                      <a:tailEnd type="none" w="med" len="med"/>
                    </a:lnL>
                    <a:lnR w="9525" cap="flat" cmpd="sng" algn="ctr">
                      <a:solidFill>
                        <a:srgbClr val="D5DAE1"/>
                      </a:solidFill>
                      <a:prstDash val="solid"/>
                      <a:round/>
                      <a:headEnd type="none" w="med" len="med"/>
                      <a:tailEnd type="none" w="med" len="med"/>
                    </a:lnR>
                    <a:lnT w="9525" cap="flat" cmpd="sng" algn="ctr">
                      <a:solidFill>
                        <a:srgbClr val="D5DAE1"/>
                      </a:solidFill>
                      <a:prstDash val="solid"/>
                      <a:round/>
                      <a:headEnd type="none" w="med" len="med"/>
                      <a:tailEnd type="none" w="med" len="med"/>
                    </a:lnT>
                    <a:lnB w="9525" cap="flat" cmpd="sng" algn="ctr">
                      <a:solidFill>
                        <a:srgbClr val="D5DAE1"/>
                      </a:solidFill>
                      <a:prstDash val="solid"/>
                      <a:round/>
                      <a:headEnd type="none" w="med" len="med"/>
                      <a:tailEnd type="none" w="med" len="med"/>
                    </a:lnB>
                    <a:solidFill>
                      <a:srgbClr val="FFFFFF"/>
                    </a:solidFill>
                  </a:tcPr>
                </a:tc>
              </a:tr>
            </a:tbl>
          </a:graphicData>
        </a:graphic>
      </p:graphicFrame>
      <p:sp>
        <p:nvSpPr>
          <p:cNvPr id="5" name="E6 point 1 label"/>
          <p:cNvSpPr txBox="1"/>
          <p:nvPr/>
        </p:nvSpPr>
        <p:spPr>
          <a:xfrm>
            <a:off x="7772400" y="1783080"/>
            <a:ext cx="3840480" cy="365760"/>
          </a:xfrm>
          <a:prstGeom prst="rect">
            <a:avLst/>
          </a:prstGeom>
          <a:noFill/>
          <a:ln/>
        </p:spPr>
        <p:txBody>
          <a:bodyPr wrap="square" lIns="0" tIns="0" rIns="0" bIns="0" rtlCol="0" anchor="t"/>
          <a:lstStyle/>
          <a:p>
            <a:pPr indent="0" marL="0">
              <a:buNone/>
            </a:pPr>
            <a:r>
              <a:rPr lang="en-US" sz="1600" b="1" dirty="0">
                <a:solidFill>
                  <a:schemeClr val="tx1"/>
                </a:solidFill>
              </a:rPr>
              <a:t>Small groups</a:t>
            </a:r>
            <a:endParaRPr lang="en-US" sz="1600" dirty="0"/>
          </a:p>
        </p:txBody>
      </p:sp>
      <p:sp>
        <p:nvSpPr>
          <p:cNvPr id="6" name="E6 point 1 text"/>
          <p:cNvSpPr txBox="1"/>
          <p:nvPr/>
        </p:nvSpPr>
        <p:spPr>
          <a:xfrm>
            <a:off x="7772400" y="2167128"/>
            <a:ext cx="3840480" cy="868680"/>
          </a:xfrm>
          <a:prstGeom prst="rect">
            <a:avLst/>
          </a:prstGeom>
          <a:noFill/>
          <a:ln/>
        </p:spPr>
        <p:txBody>
          <a:bodyPr wrap="square" lIns="0" tIns="0" rIns="0" bIns="0" rtlCol="0" anchor="t"/>
          <a:lstStyle/>
          <a:p>
            <a:pPr indent="0" marL="0">
              <a:buNone/>
            </a:pPr>
            <a:r>
              <a:rPr lang="en-US" sz="1300" dirty="0">
                <a:solidFill>
                  <a:schemeClr val="accent6"/>
                </a:solidFill>
              </a:rPr>
              <a:t>only 21 dark and 32 rain videos: confidence intervals overlap, and Nexar private reverses the rain result</a:t>
            </a:r>
            <a:endParaRPr lang="en-US" sz="1300" dirty="0"/>
          </a:p>
        </p:txBody>
      </p:sp>
      <p:sp>
        <p:nvSpPr>
          <p:cNvPr id="7" name="E6 point 2 label"/>
          <p:cNvSpPr txBox="1"/>
          <p:nvPr/>
        </p:nvSpPr>
        <p:spPr>
          <a:xfrm>
            <a:off x="7772400" y="3154680"/>
            <a:ext cx="3840480" cy="365760"/>
          </a:xfrm>
          <a:prstGeom prst="rect">
            <a:avLst/>
          </a:prstGeom>
          <a:noFill/>
          <a:ln/>
        </p:spPr>
        <p:txBody>
          <a:bodyPr wrap="square" lIns="0" tIns="0" rIns="0" bIns="0" rtlCol="0" anchor="t"/>
          <a:lstStyle/>
          <a:p>
            <a:pPr indent="0" marL="0">
              <a:buNone/>
            </a:pPr>
            <a:r>
              <a:rPr lang="en-US" sz="1600" b="1" dirty="0">
                <a:solidFill>
                  <a:schemeClr val="tx1"/>
                </a:solidFill>
              </a:rPr>
              <a:t>Highway transfers</a:t>
            </a:r>
            <a:endParaRPr lang="en-US" sz="1600" dirty="0"/>
          </a:p>
        </p:txBody>
      </p:sp>
      <p:sp>
        <p:nvSpPr>
          <p:cNvPr id="8" name="E6 point 2 text"/>
          <p:cNvSpPr txBox="1"/>
          <p:nvPr/>
        </p:nvSpPr>
        <p:spPr>
          <a:xfrm>
            <a:off x="7772400" y="3538728"/>
            <a:ext cx="3840480" cy="868680"/>
          </a:xfrm>
          <a:prstGeom prst="rect">
            <a:avLst/>
          </a:prstGeom>
          <a:noFill/>
          <a:ln/>
        </p:spPr>
        <p:txBody>
          <a:bodyPr wrap="square" lIns="0" tIns="0" rIns="0" bIns="0" rtlCol="0" anchor="t"/>
          <a:lstStyle/>
          <a:p>
            <a:pPr indent="0" marL="0">
              <a:buNone/>
            </a:pPr>
            <a:r>
              <a:rPr lang="en-US" sz="1300" dirty="0">
                <a:solidFill>
                  <a:schemeClr val="accent6"/>
                </a:solidFill>
              </a:rPr>
              <a:t>CARLA-only training scores 0.86 on highway videos vs 0.69 for real-only: the clearest sim-to-real win</a:t>
            </a:r>
            <a:endParaRPr lang="en-US" sz="1300" dirty="0"/>
          </a:p>
        </p:txBody>
      </p:sp>
      <p:sp>
        <p:nvSpPr>
          <p:cNvPr id="9" name="E6 point 3 label"/>
          <p:cNvSpPr txBox="1"/>
          <p:nvPr/>
        </p:nvSpPr>
        <p:spPr>
          <a:xfrm>
            <a:off x="7772400" y="4526280"/>
            <a:ext cx="3840480" cy="365760"/>
          </a:xfrm>
          <a:prstGeom prst="rect">
            <a:avLst/>
          </a:prstGeom>
          <a:noFill/>
          <a:ln/>
        </p:spPr>
        <p:txBody>
          <a:bodyPr wrap="square" lIns="0" tIns="0" rIns="0" bIns="0" rtlCol="0" anchor="t"/>
          <a:lstStyle/>
          <a:p>
            <a:pPr indent="0" marL="0">
              <a:buNone/>
            </a:pPr>
            <a:r>
              <a:rPr lang="en-US" sz="1600" b="1" dirty="0">
                <a:solidFill>
                  <a:schemeClr val="tx1"/>
                </a:solidFill>
              </a:rPr>
              <a:t>In CARLA</a:t>
            </a:r>
            <a:endParaRPr lang="en-US" sz="1600" dirty="0"/>
          </a:p>
        </p:txBody>
      </p:sp>
      <p:sp>
        <p:nvSpPr>
          <p:cNvPr id="10" name="E6 point 3 text"/>
          <p:cNvSpPr txBox="1"/>
          <p:nvPr/>
        </p:nvSpPr>
        <p:spPr>
          <a:xfrm>
            <a:off x="7772400" y="4910328"/>
            <a:ext cx="3840480" cy="868680"/>
          </a:xfrm>
          <a:prstGeom prst="rect">
            <a:avLst/>
          </a:prstGeom>
          <a:noFill/>
          <a:ln/>
        </p:spPr>
        <p:txBody>
          <a:bodyPr wrap="square" lIns="0" tIns="0" rIns="0" bIns="0" rtlCol="0" anchor="t"/>
          <a:lstStyle/>
          <a:p>
            <a:pPr indent="0" marL="0">
              <a:buNone/>
            </a:pPr>
            <a:r>
              <a:rPr lang="en-US" sz="1300" dirty="0">
                <a:solidFill>
                  <a:schemeClr val="accent6"/>
                </a:solidFill>
              </a:rPr>
              <a:t>night is not harder; wet noon is the weakest condition in Town05 (20 clips)</a:t>
            </a:r>
            <a:endParaRPr lang="en-US" sz="13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chemeClr val="accent6"/>
                </a:solidFill>
              </a:defRPr>
            </a:lvl1pPr>
          </a:lstStyle>
          <a:p>
            <a:pPr algn="r"/>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731520"/>
          </a:xfrm>
          <a:prstGeom prst="rect">
            <a:avLst/>
          </a:prstGeom>
          <a:noFill/>
          <a:ln/>
        </p:spPr>
        <p:txBody>
          <a:bodyPr wrap="square" lIns="0" tIns="0" rIns="0" bIns="0" rtlCol="0" anchor="b"/>
          <a:lstStyle/>
          <a:p>
            <a:pPr algn="l" indent="0" marL="0">
              <a:buNone/>
            </a:pPr>
            <a:r>
              <a:rPr lang="en-US" sz="3400" b="1" dirty="0">
                <a:solidFill>
                  <a:schemeClr val="tx1"/>
                </a:solidFill>
              </a:rPr>
              <a:t>Problems we hit, and the fixes</a:t>
            </a:r>
            <a:endParaRPr lang="en-US" sz="3400" dirty="0"/>
          </a:p>
        </p:txBody>
      </p:sp>
      <p:sp>
        <p:nvSpPr>
          <p:cNvPr id="3" name="Text 0"/>
          <p:cNvSpPr/>
          <p:nvPr>
            <p:ph idx="101" type="body" hasCustomPrompt="1"/>
          </p:nvPr>
        </p:nvSpPr>
        <p:spPr>
          <a:xfrm>
            <a:off x="548640" y="1078992"/>
            <a:ext cx="11094415" cy="411480"/>
          </a:xfrm>
          <a:prstGeom prst="rect">
            <a:avLst/>
          </a:prstGeom>
          <a:noFill/>
          <a:ln/>
        </p:spPr>
        <p:txBody>
          <a:bodyPr wrap="square" lIns="0" tIns="0" rIns="0" bIns="0" rtlCol="0" anchor="t"/>
          <a:lstStyle/>
          <a:p>
            <a:pPr indent="0" marL="0">
              <a:buNone/>
            </a:pPr>
            <a:r>
              <a:rPr lang="en-US" sz="1600" dirty="0">
                <a:solidFill>
                  <a:schemeClr val="accent6"/>
                </a:solidFill>
              </a:rPr>
              <a:t>All logged in docs/INCIDENTS.md; no data was lost, overwritten or deleted</a:t>
            </a:r>
            <a:endParaRPr lang="en-US" sz="1600" dirty="0"/>
          </a:p>
        </p:txBody>
      </p:sp>
      <p:sp>
        <p:nvSpPr>
          <p:cNvPr id="4" name="problem log card 1"/>
          <p:cNvSpPr/>
          <p:nvPr/>
        </p:nvSpPr>
        <p:spPr>
          <a:xfrm>
            <a:off x="548640" y="1691640"/>
            <a:ext cx="5440680" cy="987552"/>
          </a:xfrm>
          <a:prstGeom prst="roundRect">
            <a:avLst>
              <a:gd name="adj" fmla="val 7407"/>
            </a:avLst>
          </a:prstGeom>
          <a:solidFill>
            <a:schemeClr val="bg2"/>
          </a:solidFill>
          <a:ln w="12700">
            <a:solidFill>
              <a:schemeClr val="bg2"/>
            </a:solidFill>
            <a:prstDash val="solid"/>
          </a:ln>
        </p:spPr>
      </p:sp>
      <p:sp>
        <p:nvSpPr>
          <p:cNvPr id="5" name="problem log 1 icon circle"/>
          <p:cNvSpPr/>
          <p:nvPr/>
        </p:nvSpPr>
        <p:spPr>
          <a:xfrm>
            <a:off x="749808" y="1911096"/>
            <a:ext cx="548640" cy="548640"/>
          </a:xfrm>
          <a:prstGeom prst="ellipse">
            <a:avLst/>
          </a:prstGeom>
          <a:solidFill>
            <a:schemeClr val="accent1"/>
          </a:solidFill>
          <a:ln w="12700">
            <a:solidFill>
              <a:schemeClr val="accent1"/>
            </a:solidFill>
            <a:prstDash val="solid"/>
          </a:ln>
        </p:spPr>
      </p:sp>
      <p:pic>
        <p:nvPicPr>
          <p:cNvPr id="6" name="problem log 1 icon" descr="problem log 1">    </p:cNvPr>
          <p:cNvPicPr>
            <a:picLocks noChangeAspect="1"/>
          </p:cNvPicPr>
          <p:nvPr/>
        </p:nvPicPr>
        <p:blipFill>
          <a:blip r:embed="rId1"/>
          <a:stretch>
            <a:fillRect/>
          </a:stretch>
        </p:blipFill>
        <p:spPr>
          <a:xfrm>
            <a:off x="881482" y="2042770"/>
            <a:ext cx="285293" cy="285293"/>
          </a:xfrm>
          <a:prstGeom prst="rect">
            <a:avLst/>
          </a:prstGeom>
        </p:spPr>
      </p:pic>
      <p:sp>
        <p:nvSpPr>
          <p:cNvPr id="7" name="problem log 1 what"/>
          <p:cNvSpPr txBox="1"/>
          <p:nvPr/>
        </p:nvSpPr>
        <p:spPr>
          <a:xfrm>
            <a:off x="1463040" y="1819656"/>
            <a:ext cx="4343400" cy="347472"/>
          </a:xfrm>
          <a:prstGeom prst="rect">
            <a:avLst/>
          </a:prstGeom>
          <a:noFill/>
          <a:ln/>
        </p:spPr>
        <p:txBody>
          <a:bodyPr wrap="square" lIns="0" tIns="0" rIns="0" bIns="0" rtlCol="0" anchor="t"/>
          <a:lstStyle/>
          <a:p>
            <a:pPr indent="0" marL="0">
              <a:buNone/>
            </a:pPr>
            <a:r>
              <a:rPr lang="en-US" sz="1400" b="1" dirty="0">
                <a:solidFill>
                  <a:schemeClr val="tx1"/>
                </a:solidFill>
              </a:rPr>
              <a:t>CARLA crashed in Town03_Opt</a:t>
            </a:r>
            <a:endParaRPr lang="en-US" sz="1400" dirty="0"/>
          </a:p>
        </p:txBody>
      </p:sp>
      <p:sp>
        <p:nvSpPr>
          <p:cNvPr id="8" name="problem log 1 fix"/>
          <p:cNvSpPr txBox="1"/>
          <p:nvPr/>
        </p:nvSpPr>
        <p:spPr>
          <a:xfrm>
            <a:off x="1463040" y="2167128"/>
            <a:ext cx="4343400" cy="438912"/>
          </a:xfrm>
          <a:prstGeom prst="rect">
            <a:avLst/>
          </a:prstGeom>
          <a:noFill/>
          <a:ln/>
        </p:spPr>
        <p:txBody>
          <a:bodyPr wrap="square" lIns="0" tIns="0" rIns="0" bIns="0" rtlCol="0" anchor="t"/>
          <a:lstStyle/>
          <a:p>
            <a:pPr indent="0" marL="0">
              <a:buNone/>
            </a:pPr>
            <a:r>
              <a:rPr lang="en-US" sz="1200" dirty="0">
                <a:solidFill>
                  <a:schemeClr val="accent6"/>
                </a:solidFill>
              </a:rPr>
              <a:t>its Traffic Manager file is broken in 0.9.15: we use Town03</a:t>
            </a:r>
            <a:endParaRPr lang="en-US" sz="1200" dirty="0"/>
          </a:p>
        </p:txBody>
      </p:sp>
      <p:sp>
        <p:nvSpPr>
          <p:cNvPr id="9" name="problem log card 2"/>
          <p:cNvSpPr/>
          <p:nvPr/>
        </p:nvSpPr>
        <p:spPr>
          <a:xfrm>
            <a:off x="6190488" y="1691640"/>
            <a:ext cx="5440680" cy="987552"/>
          </a:xfrm>
          <a:prstGeom prst="roundRect">
            <a:avLst>
              <a:gd name="adj" fmla="val 7407"/>
            </a:avLst>
          </a:prstGeom>
          <a:solidFill>
            <a:schemeClr val="bg2"/>
          </a:solidFill>
          <a:ln w="12700">
            <a:solidFill>
              <a:schemeClr val="bg2"/>
            </a:solidFill>
            <a:prstDash val="solid"/>
          </a:ln>
        </p:spPr>
      </p:sp>
      <p:sp>
        <p:nvSpPr>
          <p:cNvPr id="10" name="problem log 2 icon circle"/>
          <p:cNvSpPr/>
          <p:nvPr/>
        </p:nvSpPr>
        <p:spPr>
          <a:xfrm>
            <a:off x="6391656" y="1911096"/>
            <a:ext cx="548640" cy="548640"/>
          </a:xfrm>
          <a:prstGeom prst="ellipse">
            <a:avLst/>
          </a:prstGeom>
          <a:solidFill>
            <a:schemeClr val="accent1"/>
          </a:solidFill>
          <a:ln w="12700">
            <a:solidFill>
              <a:schemeClr val="accent1"/>
            </a:solidFill>
            <a:prstDash val="solid"/>
          </a:ln>
        </p:spPr>
      </p:sp>
      <p:pic>
        <p:nvPicPr>
          <p:cNvPr id="11" name="problem log 2 icon" descr="problem log 2">    </p:cNvPr>
          <p:cNvPicPr>
            <a:picLocks noChangeAspect="1"/>
          </p:cNvPicPr>
          <p:nvPr/>
        </p:nvPicPr>
        <p:blipFill>
          <a:blip r:embed="rId2"/>
          <a:stretch>
            <a:fillRect/>
          </a:stretch>
        </p:blipFill>
        <p:spPr>
          <a:xfrm>
            <a:off x="6523330" y="2042770"/>
            <a:ext cx="285293" cy="285293"/>
          </a:xfrm>
          <a:prstGeom prst="rect">
            <a:avLst/>
          </a:prstGeom>
        </p:spPr>
      </p:pic>
      <p:sp>
        <p:nvSpPr>
          <p:cNvPr id="12" name="problem log 2 what"/>
          <p:cNvSpPr txBox="1"/>
          <p:nvPr/>
        </p:nvSpPr>
        <p:spPr>
          <a:xfrm>
            <a:off x="7104888" y="1819656"/>
            <a:ext cx="4343400" cy="347472"/>
          </a:xfrm>
          <a:prstGeom prst="rect">
            <a:avLst/>
          </a:prstGeom>
          <a:noFill/>
          <a:ln/>
        </p:spPr>
        <p:txBody>
          <a:bodyPr wrap="square" lIns="0" tIns="0" rIns="0" bIns="0" rtlCol="0" anchor="t"/>
          <a:lstStyle/>
          <a:p>
            <a:pPr indent="0" marL="0">
              <a:buNone/>
            </a:pPr>
            <a:r>
              <a:rPr lang="en-US" sz="1400" b="1" dirty="0">
                <a:solidFill>
                  <a:schemeClr val="tx1"/>
                </a:solidFill>
              </a:rPr>
              <a:t>First TTC rule flagged passing cars as near-misses</a:t>
            </a:r>
            <a:endParaRPr lang="en-US" sz="1400" dirty="0"/>
          </a:p>
        </p:txBody>
      </p:sp>
      <p:sp>
        <p:nvSpPr>
          <p:cNvPr id="13" name="problem log 2 fix"/>
          <p:cNvSpPr txBox="1"/>
          <p:nvPr/>
        </p:nvSpPr>
        <p:spPr>
          <a:xfrm>
            <a:off x="7104888" y="2167128"/>
            <a:ext cx="4343400" cy="438912"/>
          </a:xfrm>
          <a:prstGeom prst="rect">
            <a:avLst/>
          </a:prstGeom>
          <a:noFill/>
          <a:ln/>
        </p:spPr>
        <p:txBody>
          <a:bodyPr wrap="square" lIns="0" tIns="0" rIns="0" bIns="0" rtlCol="0" anchor="t"/>
          <a:lstStyle/>
          <a:p>
            <a:pPr indent="0" marL="0">
              <a:buNone/>
            </a:pPr>
            <a:r>
              <a:rPr lang="en-US" sz="1200" dirty="0">
                <a:solidFill>
                  <a:schemeClr val="accent6"/>
                </a:solidFill>
              </a:rPr>
              <a:t>replaced by predicted-overlap TTC and a same-actor rule before any data was made</a:t>
            </a:r>
            <a:endParaRPr lang="en-US" sz="1200" dirty="0"/>
          </a:p>
        </p:txBody>
      </p:sp>
      <p:sp>
        <p:nvSpPr>
          <p:cNvPr id="14" name="problem log card 3"/>
          <p:cNvSpPr/>
          <p:nvPr/>
        </p:nvSpPr>
        <p:spPr>
          <a:xfrm>
            <a:off x="548640" y="2807208"/>
            <a:ext cx="5440680" cy="987552"/>
          </a:xfrm>
          <a:prstGeom prst="roundRect">
            <a:avLst>
              <a:gd name="adj" fmla="val 7407"/>
            </a:avLst>
          </a:prstGeom>
          <a:solidFill>
            <a:schemeClr val="bg2"/>
          </a:solidFill>
          <a:ln w="12700">
            <a:solidFill>
              <a:schemeClr val="bg2"/>
            </a:solidFill>
            <a:prstDash val="solid"/>
          </a:ln>
        </p:spPr>
      </p:sp>
      <p:sp>
        <p:nvSpPr>
          <p:cNvPr id="15" name="problem log 3 icon circle"/>
          <p:cNvSpPr/>
          <p:nvPr/>
        </p:nvSpPr>
        <p:spPr>
          <a:xfrm>
            <a:off x="749808" y="3026664"/>
            <a:ext cx="548640" cy="548640"/>
          </a:xfrm>
          <a:prstGeom prst="ellipse">
            <a:avLst/>
          </a:prstGeom>
          <a:solidFill>
            <a:schemeClr val="accent1"/>
          </a:solidFill>
          <a:ln w="12700">
            <a:solidFill>
              <a:schemeClr val="accent1"/>
            </a:solidFill>
            <a:prstDash val="solid"/>
          </a:ln>
        </p:spPr>
      </p:sp>
      <p:pic>
        <p:nvPicPr>
          <p:cNvPr id="16" name="problem log 3 icon" descr="problem log 3">    </p:cNvPr>
          <p:cNvPicPr>
            <a:picLocks noChangeAspect="1"/>
          </p:cNvPicPr>
          <p:nvPr/>
        </p:nvPicPr>
        <p:blipFill>
          <a:blip r:embed="rId3"/>
          <a:stretch>
            <a:fillRect/>
          </a:stretch>
        </p:blipFill>
        <p:spPr>
          <a:xfrm>
            <a:off x="881482" y="3158338"/>
            <a:ext cx="285293" cy="285293"/>
          </a:xfrm>
          <a:prstGeom prst="rect">
            <a:avLst/>
          </a:prstGeom>
        </p:spPr>
      </p:pic>
      <p:sp>
        <p:nvSpPr>
          <p:cNvPr id="17" name="problem log 3 what"/>
          <p:cNvSpPr txBox="1"/>
          <p:nvPr/>
        </p:nvSpPr>
        <p:spPr>
          <a:xfrm>
            <a:off x="1463040" y="2935224"/>
            <a:ext cx="4343400" cy="347472"/>
          </a:xfrm>
          <a:prstGeom prst="rect">
            <a:avLst/>
          </a:prstGeom>
          <a:noFill/>
          <a:ln/>
        </p:spPr>
        <p:txBody>
          <a:bodyPr wrap="square" lIns="0" tIns="0" rIns="0" bIns="0" rtlCol="0" anchor="t"/>
          <a:lstStyle/>
          <a:p>
            <a:pPr indent="0" marL="0">
              <a:buNone/>
            </a:pPr>
            <a:r>
              <a:rPr lang="en-US" sz="1400" b="1" dirty="0">
                <a:solidFill>
                  <a:schemeClr val="tx1"/>
                </a:solidFill>
              </a:rPr>
              <a:t>CARLA's Python client crashed ~10 times</a:t>
            </a:r>
            <a:endParaRPr lang="en-US" sz="1400" dirty="0"/>
          </a:p>
        </p:txBody>
      </p:sp>
      <p:sp>
        <p:nvSpPr>
          <p:cNvPr id="18" name="problem log 3 fix"/>
          <p:cNvSpPr txBox="1"/>
          <p:nvPr/>
        </p:nvSpPr>
        <p:spPr>
          <a:xfrm>
            <a:off x="1463040" y="3282696"/>
            <a:ext cx="4343400" cy="438912"/>
          </a:xfrm>
          <a:prstGeom prst="rect">
            <a:avLst/>
          </a:prstGeom>
          <a:noFill/>
          <a:ln/>
        </p:spPr>
        <p:txBody>
          <a:bodyPr wrap="square" lIns="0" tIns="0" rIns="0" bIns="0" rtlCol="0" anchor="t"/>
          <a:lstStyle/>
          <a:p>
            <a:pPr indent="0" marL="0">
              <a:buNone/>
            </a:pPr>
            <a:r>
              <a:rPr lang="en-US" sz="1200" dirty="0">
                <a:solidFill>
                  <a:schemeClr val="accent6"/>
                </a:solidFill>
              </a:rPr>
              <a:t>a supervisor restarts it; every attempt is logged first, so none is lost or replayed</a:t>
            </a:r>
            <a:endParaRPr lang="en-US" sz="1200" dirty="0"/>
          </a:p>
        </p:txBody>
      </p:sp>
      <p:sp>
        <p:nvSpPr>
          <p:cNvPr id="19" name="problem log card 4"/>
          <p:cNvSpPr/>
          <p:nvPr/>
        </p:nvSpPr>
        <p:spPr>
          <a:xfrm>
            <a:off x="6190488" y="2807208"/>
            <a:ext cx="5440680" cy="987552"/>
          </a:xfrm>
          <a:prstGeom prst="roundRect">
            <a:avLst>
              <a:gd name="adj" fmla="val 7407"/>
            </a:avLst>
          </a:prstGeom>
          <a:solidFill>
            <a:schemeClr val="bg2"/>
          </a:solidFill>
          <a:ln w="12700">
            <a:solidFill>
              <a:schemeClr val="bg2"/>
            </a:solidFill>
            <a:prstDash val="solid"/>
          </a:ln>
        </p:spPr>
      </p:sp>
      <p:sp>
        <p:nvSpPr>
          <p:cNvPr id="20" name="problem log 4 icon circle"/>
          <p:cNvSpPr/>
          <p:nvPr/>
        </p:nvSpPr>
        <p:spPr>
          <a:xfrm>
            <a:off x="6391656" y="3026664"/>
            <a:ext cx="548640" cy="548640"/>
          </a:xfrm>
          <a:prstGeom prst="ellipse">
            <a:avLst/>
          </a:prstGeom>
          <a:solidFill>
            <a:schemeClr val="accent1"/>
          </a:solidFill>
          <a:ln w="12700">
            <a:solidFill>
              <a:schemeClr val="accent1"/>
            </a:solidFill>
            <a:prstDash val="solid"/>
          </a:ln>
        </p:spPr>
      </p:sp>
      <p:pic>
        <p:nvPicPr>
          <p:cNvPr id="21" name="problem log 4 icon" descr="problem log 4">    </p:cNvPr>
          <p:cNvPicPr>
            <a:picLocks noChangeAspect="1"/>
          </p:cNvPicPr>
          <p:nvPr/>
        </p:nvPicPr>
        <p:blipFill>
          <a:blip r:embed="rId4"/>
          <a:stretch>
            <a:fillRect/>
          </a:stretch>
        </p:blipFill>
        <p:spPr>
          <a:xfrm>
            <a:off x="6523330" y="3158338"/>
            <a:ext cx="285293" cy="285293"/>
          </a:xfrm>
          <a:prstGeom prst="rect">
            <a:avLst/>
          </a:prstGeom>
        </p:spPr>
      </p:pic>
      <p:sp>
        <p:nvSpPr>
          <p:cNvPr id="22" name="problem log 4 what"/>
          <p:cNvSpPr txBox="1"/>
          <p:nvPr/>
        </p:nvSpPr>
        <p:spPr>
          <a:xfrm>
            <a:off x="7104888" y="2935224"/>
            <a:ext cx="4343400" cy="347472"/>
          </a:xfrm>
          <a:prstGeom prst="rect">
            <a:avLst/>
          </a:prstGeom>
          <a:noFill/>
          <a:ln/>
        </p:spPr>
        <p:txBody>
          <a:bodyPr wrap="square" lIns="0" tIns="0" rIns="0" bIns="0" rtlCol="0" anchor="t"/>
          <a:lstStyle/>
          <a:p>
            <a:pPr indent="0" marL="0">
              <a:buNone/>
            </a:pPr>
            <a:r>
              <a:rPr lang="en-US" sz="1400" b="1" dirty="0">
                <a:solidFill>
                  <a:schemeClr val="tx1"/>
                </a:solidFill>
              </a:rPr>
              <a:t>A restart resumed the wrong run folder</a:t>
            </a:r>
            <a:endParaRPr lang="en-US" sz="1400" dirty="0"/>
          </a:p>
        </p:txBody>
      </p:sp>
      <p:sp>
        <p:nvSpPr>
          <p:cNvPr id="23" name="problem log 4 fix"/>
          <p:cNvSpPr txBox="1"/>
          <p:nvPr/>
        </p:nvSpPr>
        <p:spPr>
          <a:xfrm>
            <a:off x="7104888" y="3282696"/>
            <a:ext cx="4343400" cy="438912"/>
          </a:xfrm>
          <a:prstGeom prst="rect">
            <a:avLst/>
          </a:prstGeom>
          <a:noFill/>
          <a:ln/>
        </p:spPr>
        <p:txBody>
          <a:bodyPr wrap="square" lIns="0" tIns="0" rIns="0" bIns="0" rtlCol="0" anchor="t"/>
          <a:lstStyle/>
          <a:p>
            <a:pPr indent="0" marL="0">
              <a:buNone/>
            </a:pPr>
            <a:r>
              <a:rPr lang="en-US" sz="1200" dirty="0">
                <a:solidFill>
                  <a:schemeClr val="accent6"/>
                </a:solidFill>
              </a:rPr>
              <a:t>lost ~15 min; the run folder is now fixed up front, early results archived, not deleted</a:t>
            </a:r>
            <a:endParaRPr lang="en-US" sz="1200" dirty="0"/>
          </a:p>
        </p:txBody>
      </p:sp>
      <p:sp>
        <p:nvSpPr>
          <p:cNvPr id="24" name="problem log card 5"/>
          <p:cNvSpPr/>
          <p:nvPr/>
        </p:nvSpPr>
        <p:spPr>
          <a:xfrm>
            <a:off x="548640" y="3922776"/>
            <a:ext cx="5440680" cy="987552"/>
          </a:xfrm>
          <a:prstGeom prst="roundRect">
            <a:avLst>
              <a:gd name="adj" fmla="val 7407"/>
            </a:avLst>
          </a:prstGeom>
          <a:solidFill>
            <a:schemeClr val="bg2"/>
          </a:solidFill>
          <a:ln w="12700">
            <a:solidFill>
              <a:schemeClr val="bg2"/>
            </a:solidFill>
            <a:prstDash val="solid"/>
          </a:ln>
        </p:spPr>
      </p:sp>
      <p:sp>
        <p:nvSpPr>
          <p:cNvPr id="25" name="problem log 5 icon circle"/>
          <p:cNvSpPr/>
          <p:nvPr/>
        </p:nvSpPr>
        <p:spPr>
          <a:xfrm>
            <a:off x="749808" y="4142232"/>
            <a:ext cx="548640" cy="548640"/>
          </a:xfrm>
          <a:prstGeom prst="ellipse">
            <a:avLst/>
          </a:prstGeom>
          <a:solidFill>
            <a:schemeClr val="accent1"/>
          </a:solidFill>
          <a:ln w="12700">
            <a:solidFill>
              <a:schemeClr val="accent1"/>
            </a:solidFill>
            <a:prstDash val="solid"/>
          </a:ln>
        </p:spPr>
      </p:sp>
      <p:pic>
        <p:nvPicPr>
          <p:cNvPr id="26" name="problem log 5 icon" descr="problem log 5">    </p:cNvPr>
          <p:cNvPicPr>
            <a:picLocks noChangeAspect="1"/>
          </p:cNvPicPr>
          <p:nvPr/>
        </p:nvPicPr>
        <p:blipFill>
          <a:blip r:embed="rId5"/>
          <a:stretch>
            <a:fillRect/>
          </a:stretch>
        </p:blipFill>
        <p:spPr>
          <a:xfrm>
            <a:off x="881482" y="4273906"/>
            <a:ext cx="285293" cy="285293"/>
          </a:xfrm>
          <a:prstGeom prst="rect">
            <a:avLst/>
          </a:prstGeom>
        </p:spPr>
      </p:pic>
      <p:sp>
        <p:nvSpPr>
          <p:cNvPr id="27" name="problem log 5 what"/>
          <p:cNvSpPr txBox="1"/>
          <p:nvPr/>
        </p:nvSpPr>
        <p:spPr>
          <a:xfrm>
            <a:off x="1463040" y="4050792"/>
            <a:ext cx="4343400" cy="347472"/>
          </a:xfrm>
          <a:prstGeom prst="rect">
            <a:avLst/>
          </a:prstGeom>
          <a:noFill/>
          <a:ln/>
        </p:spPr>
        <p:txBody>
          <a:bodyPr wrap="square" lIns="0" tIns="0" rIns="0" bIns="0" rtlCol="0" anchor="t"/>
          <a:lstStyle/>
          <a:p>
            <a:pPr indent="0" marL="0">
              <a:buNone/>
            </a:pPr>
            <a:r>
              <a:rPr lang="en-US" sz="1400" b="1" dirty="0">
                <a:solidFill>
                  <a:schemeClr val="tx1"/>
                </a:solidFill>
              </a:rPr>
              <a:t>Accid3nD crash detection: 0 of 3 were crashes</a:t>
            </a:r>
            <a:endParaRPr lang="en-US" sz="1400" dirty="0"/>
          </a:p>
        </p:txBody>
      </p:sp>
      <p:sp>
        <p:nvSpPr>
          <p:cNvPr id="28" name="problem log 5 fix"/>
          <p:cNvSpPr txBox="1"/>
          <p:nvPr/>
        </p:nvSpPr>
        <p:spPr>
          <a:xfrm>
            <a:off x="1463040" y="4398264"/>
            <a:ext cx="4343400" cy="438912"/>
          </a:xfrm>
          <a:prstGeom prst="rect">
            <a:avLst/>
          </a:prstGeom>
          <a:noFill/>
          <a:ln/>
        </p:spPr>
        <p:txBody>
          <a:bodyPr wrap="square" lIns="0" tIns="0" rIns="0" bIns="0" rtlCol="0" anchor="t"/>
          <a:lstStyle/>
          <a:p>
            <a:pPr indent="0" marL="0">
              <a:buNone/>
            </a:pPr>
            <a:r>
              <a:rPr lang="en-US" sz="1200" dirty="0">
                <a:solidFill>
                  <a:schemeClr val="accent6"/>
                </a:solidFill>
              </a:rPr>
              <a:t>E5 switched from crash kinematics to traffic kinematics</a:t>
            </a:r>
            <a:endParaRPr lang="en-US" sz="1200" dirty="0"/>
          </a:p>
        </p:txBody>
      </p:sp>
      <p:sp>
        <p:nvSpPr>
          <p:cNvPr id="29" name="problem log card 6"/>
          <p:cNvSpPr/>
          <p:nvPr/>
        </p:nvSpPr>
        <p:spPr>
          <a:xfrm>
            <a:off x="6190488" y="3922776"/>
            <a:ext cx="5440680" cy="987552"/>
          </a:xfrm>
          <a:prstGeom prst="roundRect">
            <a:avLst>
              <a:gd name="adj" fmla="val 7407"/>
            </a:avLst>
          </a:prstGeom>
          <a:solidFill>
            <a:schemeClr val="bg2"/>
          </a:solidFill>
          <a:ln w="12700">
            <a:solidFill>
              <a:schemeClr val="bg2"/>
            </a:solidFill>
            <a:prstDash val="solid"/>
          </a:ln>
        </p:spPr>
      </p:sp>
      <p:sp>
        <p:nvSpPr>
          <p:cNvPr id="30" name="problem log 6 icon circle"/>
          <p:cNvSpPr/>
          <p:nvPr/>
        </p:nvSpPr>
        <p:spPr>
          <a:xfrm>
            <a:off x="6391656" y="4142232"/>
            <a:ext cx="548640" cy="548640"/>
          </a:xfrm>
          <a:prstGeom prst="ellipse">
            <a:avLst/>
          </a:prstGeom>
          <a:solidFill>
            <a:schemeClr val="accent1"/>
          </a:solidFill>
          <a:ln w="12700">
            <a:solidFill>
              <a:schemeClr val="accent1"/>
            </a:solidFill>
            <a:prstDash val="solid"/>
          </a:ln>
        </p:spPr>
      </p:sp>
      <p:pic>
        <p:nvPicPr>
          <p:cNvPr id="31" name="problem log 6 icon" descr="problem log 6">    </p:cNvPr>
          <p:cNvPicPr>
            <a:picLocks noChangeAspect="1"/>
          </p:cNvPicPr>
          <p:nvPr/>
        </p:nvPicPr>
        <p:blipFill>
          <a:blip r:embed="rId6"/>
          <a:stretch>
            <a:fillRect/>
          </a:stretch>
        </p:blipFill>
        <p:spPr>
          <a:xfrm>
            <a:off x="6523330" y="4273906"/>
            <a:ext cx="285293" cy="285293"/>
          </a:xfrm>
          <a:prstGeom prst="rect">
            <a:avLst/>
          </a:prstGeom>
        </p:spPr>
      </p:pic>
      <p:sp>
        <p:nvSpPr>
          <p:cNvPr id="32" name="problem log 6 what"/>
          <p:cNvSpPr txBox="1"/>
          <p:nvPr/>
        </p:nvSpPr>
        <p:spPr>
          <a:xfrm>
            <a:off x="7104888" y="4050792"/>
            <a:ext cx="4343400" cy="347472"/>
          </a:xfrm>
          <a:prstGeom prst="rect">
            <a:avLst/>
          </a:prstGeom>
          <a:noFill/>
          <a:ln/>
        </p:spPr>
        <p:txBody>
          <a:bodyPr wrap="square" lIns="0" tIns="0" rIns="0" bIns="0" rtlCol="0" anchor="t"/>
          <a:lstStyle/>
          <a:p>
            <a:pPr indent="0" marL="0">
              <a:buNone/>
            </a:pPr>
            <a:r>
              <a:rPr lang="en-US" sz="1400" b="1" dirty="0">
                <a:solidFill>
                  <a:schemeClr val="tx1"/>
                </a:solidFill>
              </a:rPr>
              <a:t>CCD's official split leaks source videos</a:t>
            </a:r>
            <a:endParaRPr lang="en-US" sz="1400" dirty="0"/>
          </a:p>
        </p:txBody>
      </p:sp>
      <p:sp>
        <p:nvSpPr>
          <p:cNvPr id="33" name="problem log 6 fix"/>
          <p:cNvSpPr txBox="1"/>
          <p:nvPr/>
        </p:nvSpPr>
        <p:spPr>
          <a:xfrm>
            <a:off x="7104888" y="4398264"/>
            <a:ext cx="4343400" cy="438912"/>
          </a:xfrm>
          <a:prstGeom prst="rect">
            <a:avLst/>
          </a:prstGeom>
          <a:noFill/>
          <a:ln/>
        </p:spPr>
        <p:txBody>
          <a:bodyPr wrap="square" lIns="0" tIns="0" rIns="0" bIns="0" rtlCol="0" anchor="t"/>
          <a:lstStyle/>
          <a:p>
            <a:pPr indent="0" marL="0">
              <a:buNone/>
            </a:pPr>
            <a:r>
              <a:rPr lang="en-US" sz="1200" dirty="0">
                <a:solidFill>
                  <a:schemeClr val="accent6"/>
                </a:solidFill>
              </a:rPr>
              <a:t>source-grouped split for all CCD results</a:t>
            </a:r>
            <a:endParaRPr lang="en-US" sz="1200" dirty="0"/>
          </a:p>
        </p:txBody>
      </p:sp>
      <p:sp>
        <p:nvSpPr>
          <p:cNvPr id="34" name="problem log card 7"/>
          <p:cNvSpPr/>
          <p:nvPr/>
        </p:nvSpPr>
        <p:spPr>
          <a:xfrm>
            <a:off x="548640" y="5038344"/>
            <a:ext cx="5440680" cy="987552"/>
          </a:xfrm>
          <a:prstGeom prst="roundRect">
            <a:avLst>
              <a:gd name="adj" fmla="val 7407"/>
            </a:avLst>
          </a:prstGeom>
          <a:solidFill>
            <a:schemeClr val="bg2"/>
          </a:solidFill>
          <a:ln w="12700">
            <a:solidFill>
              <a:schemeClr val="bg2"/>
            </a:solidFill>
            <a:prstDash val="solid"/>
          </a:ln>
        </p:spPr>
      </p:sp>
      <p:sp>
        <p:nvSpPr>
          <p:cNvPr id="35" name="problem log 7 icon circle"/>
          <p:cNvSpPr/>
          <p:nvPr/>
        </p:nvSpPr>
        <p:spPr>
          <a:xfrm>
            <a:off x="749808" y="5257800"/>
            <a:ext cx="548640" cy="548640"/>
          </a:xfrm>
          <a:prstGeom prst="ellipse">
            <a:avLst/>
          </a:prstGeom>
          <a:solidFill>
            <a:schemeClr val="accent1"/>
          </a:solidFill>
          <a:ln w="12700">
            <a:solidFill>
              <a:schemeClr val="accent1"/>
            </a:solidFill>
            <a:prstDash val="solid"/>
          </a:ln>
        </p:spPr>
      </p:sp>
      <p:pic>
        <p:nvPicPr>
          <p:cNvPr id="36" name="problem log 7 icon" descr="problem log 7">    </p:cNvPr>
          <p:cNvPicPr>
            <a:picLocks noChangeAspect="1"/>
          </p:cNvPicPr>
          <p:nvPr/>
        </p:nvPicPr>
        <p:blipFill>
          <a:blip r:embed="rId7"/>
          <a:stretch>
            <a:fillRect/>
          </a:stretch>
        </p:blipFill>
        <p:spPr>
          <a:xfrm>
            <a:off x="881482" y="5389474"/>
            <a:ext cx="285293" cy="285293"/>
          </a:xfrm>
          <a:prstGeom prst="rect">
            <a:avLst/>
          </a:prstGeom>
        </p:spPr>
      </p:pic>
      <p:sp>
        <p:nvSpPr>
          <p:cNvPr id="37" name="problem log 7 what"/>
          <p:cNvSpPr txBox="1"/>
          <p:nvPr/>
        </p:nvSpPr>
        <p:spPr>
          <a:xfrm>
            <a:off x="1463040" y="5166360"/>
            <a:ext cx="4343400" cy="347472"/>
          </a:xfrm>
          <a:prstGeom prst="rect">
            <a:avLst/>
          </a:prstGeom>
          <a:noFill/>
          <a:ln/>
        </p:spPr>
        <p:txBody>
          <a:bodyPr wrap="square" lIns="0" tIns="0" rIns="0" bIns="0" rtlCol="0" anchor="t"/>
          <a:lstStyle/>
          <a:p>
            <a:pPr indent="0" marL="0">
              <a:buNone/>
            </a:pPr>
            <a:r>
              <a:rPr lang="en-US" sz="1400" b="1" dirty="0">
                <a:solidFill>
                  <a:schemeClr val="tx1"/>
                </a:solidFill>
              </a:rPr>
              <a:t>Full run hit the 40 GB storage cap</a:t>
            </a:r>
            <a:endParaRPr lang="en-US" sz="1400" dirty="0"/>
          </a:p>
        </p:txBody>
      </p:sp>
      <p:sp>
        <p:nvSpPr>
          <p:cNvPr id="38" name="problem log 7 fix"/>
          <p:cNvSpPr txBox="1"/>
          <p:nvPr/>
        </p:nvSpPr>
        <p:spPr>
          <a:xfrm>
            <a:off x="1463040" y="5513832"/>
            <a:ext cx="4343400" cy="438912"/>
          </a:xfrm>
          <a:prstGeom prst="rect">
            <a:avLst/>
          </a:prstGeom>
          <a:noFill/>
          <a:ln/>
        </p:spPr>
        <p:txBody>
          <a:bodyPr wrap="square" lIns="0" tIns="0" rIns="0" bIns="0" rtlCol="0" anchor="t"/>
          <a:lstStyle/>
          <a:p>
            <a:pPr indent="0" marL="0">
              <a:buNone/>
            </a:pPr>
            <a:r>
              <a:rPr lang="en-US" sz="1200" dirty="0">
                <a:solidFill>
                  <a:schemeClr val="accent6"/>
                </a:solidFill>
              </a:rPr>
              <a:t>stopped at slot 3,040 of 3,300 as designed; 260 Town10HD normal slots unrun</a:t>
            </a:r>
            <a:endParaRPr lang="en-US" sz="1200" dirty="0"/>
          </a:p>
        </p:txBody>
      </p:sp>
      <p:sp>
        <p:nvSpPr>
          <p:cNvPr id="39" name="problem log card 8"/>
          <p:cNvSpPr/>
          <p:nvPr/>
        </p:nvSpPr>
        <p:spPr>
          <a:xfrm>
            <a:off x="6190488" y="5038344"/>
            <a:ext cx="5440680" cy="987552"/>
          </a:xfrm>
          <a:prstGeom prst="roundRect">
            <a:avLst>
              <a:gd name="adj" fmla="val 7407"/>
            </a:avLst>
          </a:prstGeom>
          <a:solidFill>
            <a:schemeClr val="bg2"/>
          </a:solidFill>
          <a:ln w="12700">
            <a:solidFill>
              <a:schemeClr val="bg2"/>
            </a:solidFill>
            <a:prstDash val="solid"/>
          </a:ln>
        </p:spPr>
      </p:sp>
      <p:sp>
        <p:nvSpPr>
          <p:cNvPr id="40" name="problem log 8 icon circle"/>
          <p:cNvSpPr/>
          <p:nvPr/>
        </p:nvSpPr>
        <p:spPr>
          <a:xfrm>
            <a:off x="6391656" y="5257800"/>
            <a:ext cx="548640" cy="548640"/>
          </a:xfrm>
          <a:prstGeom prst="ellipse">
            <a:avLst/>
          </a:prstGeom>
          <a:solidFill>
            <a:schemeClr val="accent1"/>
          </a:solidFill>
          <a:ln w="12700">
            <a:solidFill>
              <a:schemeClr val="accent1"/>
            </a:solidFill>
            <a:prstDash val="solid"/>
          </a:ln>
        </p:spPr>
      </p:sp>
      <p:pic>
        <p:nvPicPr>
          <p:cNvPr id="41" name="problem log 8 icon" descr="problem log 8">    </p:cNvPr>
          <p:cNvPicPr>
            <a:picLocks noChangeAspect="1"/>
          </p:cNvPicPr>
          <p:nvPr/>
        </p:nvPicPr>
        <p:blipFill>
          <a:blip r:embed="rId8"/>
          <a:stretch>
            <a:fillRect/>
          </a:stretch>
        </p:blipFill>
        <p:spPr>
          <a:xfrm>
            <a:off x="6523330" y="5389474"/>
            <a:ext cx="285293" cy="285293"/>
          </a:xfrm>
          <a:prstGeom prst="rect">
            <a:avLst/>
          </a:prstGeom>
        </p:spPr>
      </p:pic>
      <p:sp>
        <p:nvSpPr>
          <p:cNvPr id="42" name="problem log 8 what"/>
          <p:cNvSpPr txBox="1"/>
          <p:nvPr/>
        </p:nvSpPr>
        <p:spPr>
          <a:xfrm>
            <a:off x="7104888" y="5166360"/>
            <a:ext cx="4343400" cy="347472"/>
          </a:xfrm>
          <a:prstGeom prst="rect">
            <a:avLst/>
          </a:prstGeom>
          <a:noFill/>
          <a:ln/>
        </p:spPr>
        <p:txBody>
          <a:bodyPr wrap="square" lIns="0" tIns="0" rIns="0" bIns="0" rtlCol="0" anchor="t"/>
          <a:lstStyle/>
          <a:p>
            <a:pPr indent="0" marL="0">
              <a:buNone/>
            </a:pPr>
            <a:r>
              <a:rPr lang="en-US" sz="1400" b="1" dirty="0">
                <a:solidFill>
                  <a:schemeClr val="tx1"/>
                </a:solidFill>
              </a:rPr>
              <a:t>Training exits with an error after saving</a:t>
            </a:r>
            <a:endParaRPr lang="en-US" sz="1400" dirty="0"/>
          </a:p>
        </p:txBody>
      </p:sp>
      <p:sp>
        <p:nvSpPr>
          <p:cNvPr id="43" name="problem log 8 fix"/>
          <p:cNvSpPr txBox="1"/>
          <p:nvPr/>
        </p:nvSpPr>
        <p:spPr>
          <a:xfrm>
            <a:off x="7104888" y="5513832"/>
            <a:ext cx="4343400" cy="438912"/>
          </a:xfrm>
          <a:prstGeom prst="rect">
            <a:avLst/>
          </a:prstGeom>
          <a:noFill/>
          <a:ln/>
        </p:spPr>
        <p:txBody>
          <a:bodyPr wrap="square" lIns="0" tIns="0" rIns="0" bIns="0" rtlCol="0" anchor="t"/>
          <a:lstStyle/>
          <a:p>
            <a:pPr indent="0" marL="0">
              <a:buNone/>
            </a:pPr>
            <a:r>
              <a:rPr lang="en-US" sz="1200" dirty="0">
                <a:solidFill>
                  <a:schemeClr val="accent6"/>
                </a:solidFill>
              </a:rPr>
              <a:t>Windows/CUDA teardown; results were saved, and job chains continue</a:t>
            </a:r>
            <a:endParaRPr lang="en-US" sz="12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chemeClr val="accent6"/>
                </a:solidFill>
              </a:defRPr>
            </a:lvl1pPr>
          </a:lstStyle>
          <a:p>
            <a:pPr algn="r"/>
            <a:fld id="{F7021451-1387-4CA6-816F-3879F97B5CBC}" type="slidenum">
              <a:rPr b="0"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731520"/>
          </a:xfrm>
          <a:prstGeom prst="rect">
            <a:avLst/>
          </a:prstGeom>
          <a:noFill/>
          <a:ln/>
        </p:spPr>
        <p:txBody>
          <a:bodyPr wrap="square" lIns="0" tIns="0" rIns="0" bIns="0" rtlCol="0" anchor="b"/>
          <a:lstStyle/>
          <a:p>
            <a:pPr algn="l" indent="0" marL="0">
              <a:buNone/>
            </a:pPr>
            <a:r>
              <a:rPr lang="en-US" sz="3400" b="1" dirty="0">
                <a:solidFill>
                  <a:schemeClr val="tx1"/>
                </a:solidFill>
              </a:rPr>
              <a:t>Progress: all compute done in 2 of 4 days</a:t>
            </a:r>
            <a:endParaRPr lang="en-US" sz="3400" dirty="0"/>
          </a:p>
        </p:txBody>
      </p:sp>
      <p:sp>
        <p:nvSpPr>
          <p:cNvPr id="3" name="Text 0"/>
          <p:cNvSpPr/>
          <p:nvPr>
            <p:ph idx="101" type="body" hasCustomPrompt="1"/>
          </p:nvPr>
        </p:nvSpPr>
        <p:spPr>
          <a:xfrm>
            <a:off x="548640" y="1078992"/>
            <a:ext cx="11094415" cy="411480"/>
          </a:xfrm>
          <a:prstGeom prst="rect">
            <a:avLst/>
          </a:prstGeom>
          <a:noFill/>
          <a:ln/>
        </p:spPr>
        <p:txBody>
          <a:bodyPr wrap="square" lIns="0" tIns="0" rIns="0" bIns="0" rtlCol="0" anchor="t"/>
          <a:lstStyle/>
          <a:p>
            <a:pPr indent="0" marL="0">
              <a:buNone/>
            </a:pPr>
            <a:r>
              <a:rPr lang="en-US" sz="1600" dirty="0">
                <a:solidFill>
                  <a:schemeClr val="accent6"/>
                </a:solidFill>
              </a:rPr>
              <a:t>What was built and run, in order</a:t>
            </a:r>
            <a:endParaRPr lang="en-US" sz="1600" dirty="0"/>
          </a:p>
        </p:txBody>
      </p:sp>
      <p:sp>
        <p:nvSpPr>
          <p:cNvPr id="4" name="timeline axis"/>
          <p:cNvSpPr/>
          <p:nvPr/>
        </p:nvSpPr>
        <p:spPr>
          <a:xfrm>
            <a:off x="1658082" y="2240280"/>
            <a:ext cx="8875532" cy="0"/>
          </a:xfrm>
          <a:prstGeom prst="line">
            <a:avLst/>
          </a:prstGeom>
          <a:noFill/>
          <a:ln w="25400">
            <a:solidFill>
              <a:srgbClr val="C3C9D2"/>
            </a:solidFill>
            <a:prstDash val="solid"/>
          </a:ln>
        </p:spPr>
      </p:sp>
      <p:sp>
        <p:nvSpPr>
          <p:cNvPr id="5" name="timeline dot 1"/>
          <p:cNvSpPr/>
          <p:nvPr/>
        </p:nvSpPr>
        <p:spPr>
          <a:xfrm>
            <a:off x="1383762" y="1965960"/>
            <a:ext cx="548640" cy="548640"/>
          </a:xfrm>
          <a:prstGeom prst="ellipse">
            <a:avLst/>
          </a:prstGeom>
          <a:solidFill>
            <a:schemeClr val="accent1"/>
          </a:solidFill>
          <a:ln w="38100">
            <a:solidFill>
              <a:schemeClr val="bg1"/>
            </a:solidFill>
            <a:prstDash val="solid"/>
          </a:ln>
        </p:spPr>
      </p:sp>
      <p:sp>
        <p:nvSpPr>
          <p:cNvPr id="6" name="timeline number 1"/>
          <p:cNvSpPr txBox="1"/>
          <p:nvPr/>
        </p:nvSpPr>
        <p:spPr>
          <a:xfrm>
            <a:off x="1383762" y="1965960"/>
            <a:ext cx="548640" cy="548640"/>
          </a:xfrm>
          <a:prstGeom prst="rect">
            <a:avLst/>
          </a:prstGeom>
          <a:noFill/>
          <a:ln/>
        </p:spPr>
        <p:txBody>
          <a:bodyPr wrap="square" lIns="0" tIns="0" rIns="0" bIns="0" rtlCol="0" anchor="ctr"/>
          <a:lstStyle/>
          <a:p>
            <a:pPr algn="ctr" indent="0" marL="0">
              <a:buNone/>
            </a:pPr>
            <a:r>
              <a:rPr lang="en-US" sz="1600" b="1" dirty="0">
                <a:solidFill>
                  <a:schemeClr val="tx1"/>
                </a:solidFill>
              </a:rPr>
              <a:t>1</a:t>
            </a:r>
            <a:endParaRPr lang="en-US" sz="1600" dirty="0"/>
          </a:p>
        </p:txBody>
      </p:sp>
      <p:sp>
        <p:nvSpPr>
          <p:cNvPr id="7" name="timeline 1 date"/>
          <p:cNvSpPr txBox="1"/>
          <p:nvPr/>
        </p:nvSpPr>
        <p:spPr>
          <a:xfrm>
            <a:off x="640080" y="2743200"/>
            <a:ext cx="2036003" cy="320040"/>
          </a:xfrm>
          <a:prstGeom prst="rect">
            <a:avLst/>
          </a:prstGeom>
          <a:noFill/>
          <a:ln/>
        </p:spPr>
        <p:txBody>
          <a:bodyPr wrap="square" lIns="0" tIns="0" rIns="0" bIns="0" rtlCol="0" anchor="t"/>
          <a:lstStyle/>
          <a:p>
            <a:pPr algn="ctr" indent="0" marL="0">
              <a:buNone/>
            </a:pPr>
            <a:r>
              <a:rPr lang="en-US" sz="1300" dirty="0">
                <a:solidFill>
                  <a:schemeClr val="accent6"/>
                </a:solidFill>
              </a:rPr>
              <a:t>29 Oct, morning</a:t>
            </a:r>
            <a:endParaRPr lang="en-US" sz="1300" dirty="0"/>
          </a:p>
        </p:txBody>
      </p:sp>
      <p:sp>
        <p:nvSpPr>
          <p:cNvPr id="8" name="timeline 1 title"/>
          <p:cNvSpPr txBox="1"/>
          <p:nvPr/>
        </p:nvSpPr>
        <p:spPr>
          <a:xfrm>
            <a:off x="640080" y="3063240"/>
            <a:ext cx="2036003" cy="640080"/>
          </a:xfrm>
          <a:prstGeom prst="rect">
            <a:avLst/>
          </a:prstGeom>
          <a:noFill/>
          <a:ln/>
        </p:spPr>
        <p:txBody>
          <a:bodyPr wrap="square" lIns="0" tIns="0" rIns="0" bIns="0" rtlCol="0" anchor="t"/>
          <a:lstStyle/>
          <a:p>
            <a:pPr algn="ctr" indent="0" marL="0">
              <a:buNone/>
            </a:pPr>
            <a:r>
              <a:rPr lang="en-US" sz="1600" b="1" dirty="0">
                <a:solidFill>
                  <a:schemeClr val="tx1"/>
                </a:solidFill>
              </a:rPr>
              <a:t>Setup and data</a:t>
            </a:r>
            <a:endParaRPr lang="en-US" sz="1600" dirty="0"/>
          </a:p>
        </p:txBody>
      </p:sp>
      <p:sp>
        <p:nvSpPr>
          <p:cNvPr id="9" name="timeline 1 text"/>
          <p:cNvSpPr txBox="1"/>
          <p:nvPr/>
        </p:nvSpPr>
        <p:spPr>
          <a:xfrm>
            <a:off x="640080" y="3474720"/>
            <a:ext cx="2036003" cy="1005840"/>
          </a:xfrm>
          <a:prstGeom prst="rect">
            <a:avLst/>
          </a:prstGeom>
          <a:noFill/>
          <a:ln/>
        </p:spPr>
        <p:txBody>
          <a:bodyPr wrap="square" lIns="0" tIns="0" rIns="0" bIns="0" rtlCol="0" anchor="t"/>
          <a:lstStyle/>
          <a:p>
            <a:pPr algn="ctr" indent="0" marL="0">
              <a:buNone/>
            </a:pPr>
            <a:r>
              <a:rPr lang="en-US" sz="1200" dirty="0">
                <a:solidFill>
                  <a:schemeClr val="accent6"/>
                </a:solidFill>
              </a:rPr>
              <a:t>environment, CCD, Nexar and Accid3nD downloaded (93 GB), full project plan</a:t>
            </a:r>
            <a:endParaRPr lang="en-US" sz="1200" dirty="0"/>
          </a:p>
        </p:txBody>
      </p:sp>
      <p:sp>
        <p:nvSpPr>
          <p:cNvPr id="10" name="timeline dot 2"/>
          <p:cNvSpPr/>
          <p:nvPr/>
        </p:nvSpPr>
        <p:spPr>
          <a:xfrm>
            <a:off x="3602645" y="1965960"/>
            <a:ext cx="548640" cy="548640"/>
          </a:xfrm>
          <a:prstGeom prst="ellipse">
            <a:avLst/>
          </a:prstGeom>
          <a:solidFill>
            <a:schemeClr val="accent1"/>
          </a:solidFill>
          <a:ln w="38100">
            <a:solidFill>
              <a:schemeClr val="bg1"/>
            </a:solidFill>
            <a:prstDash val="solid"/>
          </a:ln>
        </p:spPr>
      </p:sp>
      <p:sp>
        <p:nvSpPr>
          <p:cNvPr id="11" name="timeline number 2"/>
          <p:cNvSpPr txBox="1"/>
          <p:nvPr/>
        </p:nvSpPr>
        <p:spPr>
          <a:xfrm>
            <a:off x="3602645" y="1965960"/>
            <a:ext cx="548640" cy="548640"/>
          </a:xfrm>
          <a:prstGeom prst="rect">
            <a:avLst/>
          </a:prstGeom>
          <a:noFill/>
          <a:ln/>
        </p:spPr>
        <p:txBody>
          <a:bodyPr wrap="square" lIns="0" tIns="0" rIns="0" bIns="0" rtlCol="0" anchor="ctr"/>
          <a:lstStyle/>
          <a:p>
            <a:pPr algn="ctr" indent="0" marL="0">
              <a:buNone/>
            </a:pPr>
            <a:r>
              <a:rPr lang="en-US" sz="1600" b="1" dirty="0">
                <a:solidFill>
                  <a:schemeClr val="tx1"/>
                </a:solidFill>
              </a:rPr>
              <a:t>2</a:t>
            </a:r>
            <a:endParaRPr lang="en-US" sz="1600" dirty="0"/>
          </a:p>
        </p:txBody>
      </p:sp>
      <p:sp>
        <p:nvSpPr>
          <p:cNvPr id="12" name="timeline 2 date"/>
          <p:cNvSpPr txBox="1"/>
          <p:nvPr/>
        </p:nvSpPr>
        <p:spPr>
          <a:xfrm>
            <a:off x="2858963" y="2743200"/>
            <a:ext cx="2036003" cy="320040"/>
          </a:xfrm>
          <a:prstGeom prst="rect">
            <a:avLst/>
          </a:prstGeom>
          <a:noFill/>
          <a:ln/>
        </p:spPr>
        <p:txBody>
          <a:bodyPr wrap="square" lIns="0" tIns="0" rIns="0" bIns="0" rtlCol="0" anchor="t"/>
          <a:lstStyle/>
          <a:p>
            <a:pPr algn="ctr" indent="0" marL="0">
              <a:buNone/>
            </a:pPr>
            <a:r>
              <a:rPr lang="en-US" sz="1300" dirty="0">
                <a:solidFill>
                  <a:schemeClr val="accent6"/>
                </a:solidFill>
              </a:rPr>
              <a:t>29 Oct, afternoon</a:t>
            </a:r>
            <a:endParaRPr lang="en-US" sz="1300" dirty="0"/>
          </a:p>
        </p:txBody>
      </p:sp>
      <p:sp>
        <p:nvSpPr>
          <p:cNvPr id="13" name="timeline 2 title"/>
          <p:cNvSpPr txBox="1"/>
          <p:nvPr/>
        </p:nvSpPr>
        <p:spPr>
          <a:xfrm>
            <a:off x="2858963" y="3063240"/>
            <a:ext cx="2036003" cy="640080"/>
          </a:xfrm>
          <a:prstGeom prst="rect">
            <a:avLst/>
          </a:prstGeom>
          <a:noFill/>
          <a:ln/>
        </p:spPr>
        <p:txBody>
          <a:bodyPr wrap="square" lIns="0" tIns="0" rIns="0" bIns="0" rtlCol="0" anchor="t"/>
          <a:lstStyle/>
          <a:p>
            <a:pPr algn="ctr" indent="0" marL="0">
              <a:buNone/>
            </a:pPr>
            <a:r>
              <a:rPr lang="en-US" sz="1600" b="1" dirty="0">
                <a:solidFill>
                  <a:schemeClr val="tx1"/>
                </a:solidFill>
              </a:rPr>
              <a:t>Generator v2 and pilot</a:t>
            </a:r>
            <a:endParaRPr lang="en-US" sz="1600" dirty="0"/>
          </a:p>
        </p:txBody>
      </p:sp>
      <p:sp>
        <p:nvSpPr>
          <p:cNvPr id="14" name="timeline 2 text"/>
          <p:cNvSpPr txBox="1"/>
          <p:nvPr/>
        </p:nvSpPr>
        <p:spPr>
          <a:xfrm>
            <a:off x="2858963" y="3474720"/>
            <a:ext cx="2036003" cy="1005840"/>
          </a:xfrm>
          <a:prstGeom prst="rect">
            <a:avLst/>
          </a:prstGeom>
          <a:noFill/>
          <a:ln/>
        </p:spPr>
        <p:txBody>
          <a:bodyPr wrap="square" lIns="0" tIns="0" rIns="0" bIns="0" rtlCol="0" anchor="t"/>
          <a:lstStyle/>
          <a:p>
            <a:pPr algn="ctr" indent="0" marL="0">
              <a:buNone/>
            </a:pPr>
            <a:r>
              <a:rPr lang="en-US" sz="1200" dirty="0">
                <a:solidFill>
                  <a:schemeClr val="accent6"/>
                </a:solidFill>
              </a:rPr>
              <a:t>design docs, generator, validator, 24 tests; pilot: 243 clips, 0 sync failures</a:t>
            </a:r>
            <a:endParaRPr lang="en-US" sz="1200" dirty="0"/>
          </a:p>
        </p:txBody>
      </p:sp>
      <p:sp>
        <p:nvSpPr>
          <p:cNvPr id="15" name="timeline dot 3"/>
          <p:cNvSpPr/>
          <p:nvPr/>
        </p:nvSpPr>
        <p:spPr>
          <a:xfrm>
            <a:off x="5821528" y="1965960"/>
            <a:ext cx="548640" cy="548640"/>
          </a:xfrm>
          <a:prstGeom prst="ellipse">
            <a:avLst/>
          </a:prstGeom>
          <a:solidFill>
            <a:schemeClr val="accent1"/>
          </a:solidFill>
          <a:ln w="38100">
            <a:solidFill>
              <a:schemeClr val="bg1"/>
            </a:solidFill>
            <a:prstDash val="solid"/>
          </a:ln>
        </p:spPr>
      </p:sp>
      <p:sp>
        <p:nvSpPr>
          <p:cNvPr id="16" name="timeline number 3"/>
          <p:cNvSpPr txBox="1"/>
          <p:nvPr/>
        </p:nvSpPr>
        <p:spPr>
          <a:xfrm>
            <a:off x="5821528" y="1965960"/>
            <a:ext cx="548640" cy="548640"/>
          </a:xfrm>
          <a:prstGeom prst="rect">
            <a:avLst/>
          </a:prstGeom>
          <a:noFill/>
          <a:ln/>
        </p:spPr>
        <p:txBody>
          <a:bodyPr wrap="square" lIns="0" tIns="0" rIns="0" bIns="0" rtlCol="0" anchor="ctr"/>
          <a:lstStyle/>
          <a:p>
            <a:pPr algn="ctr" indent="0" marL="0">
              <a:buNone/>
            </a:pPr>
            <a:r>
              <a:rPr lang="en-US" sz="1600" b="1" dirty="0">
                <a:solidFill>
                  <a:schemeClr val="tx1"/>
                </a:solidFill>
              </a:rPr>
              <a:t>3</a:t>
            </a:r>
            <a:endParaRPr lang="en-US" sz="1600" dirty="0"/>
          </a:p>
        </p:txBody>
      </p:sp>
      <p:sp>
        <p:nvSpPr>
          <p:cNvPr id="17" name="timeline 3 date"/>
          <p:cNvSpPr txBox="1"/>
          <p:nvPr/>
        </p:nvSpPr>
        <p:spPr>
          <a:xfrm>
            <a:off x="5077846" y="2743200"/>
            <a:ext cx="2036003" cy="320040"/>
          </a:xfrm>
          <a:prstGeom prst="rect">
            <a:avLst/>
          </a:prstGeom>
          <a:noFill/>
          <a:ln/>
        </p:spPr>
        <p:txBody>
          <a:bodyPr wrap="square" lIns="0" tIns="0" rIns="0" bIns="0" rtlCol="0" anchor="t"/>
          <a:lstStyle/>
          <a:p>
            <a:pPr algn="ctr" indent="0" marL="0">
              <a:buNone/>
            </a:pPr>
            <a:r>
              <a:rPr lang="en-US" sz="1300" dirty="0">
                <a:solidFill>
                  <a:schemeClr val="accent6"/>
                </a:solidFill>
              </a:rPr>
              <a:t>29 Oct, evening</a:t>
            </a:r>
            <a:endParaRPr lang="en-US" sz="1300" dirty="0"/>
          </a:p>
        </p:txBody>
      </p:sp>
      <p:sp>
        <p:nvSpPr>
          <p:cNvPr id="18" name="timeline 3 title"/>
          <p:cNvSpPr txBox="1"/>
          <p:nvPr/>
        </p:nvSpPr>
        <p:spPr>
          <a:xfrm>
            <a:off x="5077846" y="3063240"/>
            <a:ext cx="2036003" cy="640080"/>
          </a:xfrm>
          <a:prstGeom prst="rect">
            <a:avLst/>
          </a:prstGeom>
          <a:noFill/>
          <a:ln/>
        </p:spPr>
        <p:txBody>
          <a:bodyPr wrap="square" lIns="0" tIns="0" rIns="0" bIns="0" rtlCol="0" anchor="t"/>
          <a:lstStyle/>
          <a:p>
            <a:pPr algn="ctr" indent="0" marL="0">
              <a:buNone/>
            </a:pPr>
            <a:r>
              <a:rPr lang="en-US" sz="1600" b="1" dirty="0">
                <a:solidFill>
                  <a:schemeClr val="tx1"/>
                </a:solidFill>
              </a:rPr>
              <a:t>Full run and real models</a:t>
            </a:r>
            <a:endParaRPr lang="en-US" sz="1600" dirty="0"/>
          </a:p>
        </p:txBody>
      </p:sp>
      <p:sp>
        <p:nvSpPr>
          <p:cNvPr id="19" name="timeline 3 text"/>
          <p:cNvSpPr txBox="1"/>
          <p:nvPr/>
        </p:nvSpPr>
        <p:spPr>
          <a:xfrm>
            <a:off x="5077846" y="3474720"/>
            <a:ext cx="2036003" cy="1005840"/>
          </a:xfrm>
          <a:prstGeom prst="rect">
            <a:avLst/>
          </a:prstGeom>
          <a:noFill/>
          <a:ln/>
        </p:spPr>
        <p:txBody>
          <a:bodyPr wrap="square" lIns="0" tIns="0" rIns="0" bIns="0" rtlCol="0" anchor="t"/>
          <a:lstStyle/>
          <a:p>
            <a:pPr algn="ctr" indent="0" marL="0">
              <a:buNone/>
            </a:pPr>
            <a:r>
              <a:rPr lang="en-US" sz="1200" dirty="0">
                <a:solidFill>
                  <a:schemeClr val="accent6"/>
                </a:solidFill>
              </a:rPr>
              <a:t>3,300-slot generation started; real video tracked; E2 trained</a:t>
            </a:r>
            <a:endParaRPr lang="en-US" sz="1200" dirty="0"/>
          </a:p>
        </p:txBody>
      </p:sp>
      <p:sp>
        <p:nvSpPr>
          <p:cNvPr id="20" name="timeline dot 4"/>
          <p:cNvSpPr/>
          <p:nvPr/>
        </p:nvSpPr>
        <p:spPr>
          <a:xfrm>
            <a:off x="8040411" y="1965960"/>
            <a:ext cx="548640" cy="548640"/>
          </a:xfrm>
          <a:prstGeom prst="ellipse">
            <a:avLst/>
          </a:prstGeom>
          <a:solidFill>
            <a:schemeClr val="accent1"/>
          </a:solidFill>
          <a:ln w="38100">
            <a:solidFill>
              <a:schemeClr val="bg1"/>
            </a:solidFill>
            <a:prstDash val="solid"/>
          </a:ln>
        </p:spPr>
      </p:sp>
      <p:sp>
        <p:nvSpPr>
          <p:cNvPr id="21" name="timeline number 4"/>
          <p:cNvSpPr txBox="1"/>
          <p:nvPr/>
        </p:nvSpPr>
        <p:spPr>
          <a:xfrm>
            <a:off x="8040411" y="1965960"/>
            <a:ext cx="548640" cy="548640"/>
          </a:xfrm>
          <a:prstGeom prst="rect">
            <a:avLst/>
          </a:prstGeom>
          <a:noFill/>
          <a:ln/>
        </p:spPr>
        <p:txBody>
          <a:bodyPr wrap="square" lIns="0" tIns="0" rIns="0" bIns="0" rtlCol="0" anchor="ctr"/>
          <a:lstStyle/>
          <a:p>
            <a:pPr algn="ctr" indent="0" marL="0">
              <a:buNone/>
            </a:pPr>
            <a:r>
              <a:rPr lang="en-US" sz="1600" b="1" dirty="0">
                <a:solidFill>
                  <a:schemeClr val="tx1"/>
                </a:solidFill>
              </a:rPr>
              <a:t>4</a:t>
            </a:r>
            <a:endParaRPr lang="en-US" sz="1600" dirty="0"/>
          </a:p>
        </p:txBody>
      </p:sp>
      <p:sp>
        <p:nvSpPr>
          <p:cNvPr id="22" name="timeline 4 date"/>
          <p:cNvSpPr txBox="1"/>
          <p:nvPr/>
        </p:nvSpPr>
        <p:spPr>
          <a:xfrm>
            <a:off x="7296729" y="2743200"/>
            <a:ext cx="2036003" cy="320040"/>
          </a:xfrm>
          <a:prstGeom prst="rect">
            <a:avLst/>
          </a:prstGeom>
          <a:noFill/>
          <a:ln/>
        </p:spPr>
        <p:txBody>
          <a:bodyPr wrap="square" lIns="0" tIns="0" rIns="0" bIns="0" rtlCol="0" anchor="t"/>
          <a:lstStyle/>
          <a:p>
            <a:pPr algn="ctr" indent="0" marL="0">
              <a:buNone/>
            </a:pPr>
            <a:r>
              <a:rPr lang="en-US" sz="1300" dirty="0">
                <a:solidFill>
                  <a:schemeClr val="accent6"/>
                </a:solidFill>
              </a:rPr>
              <a:t>30 Oct, overnight</a:t>
            </a:r>
            <a:endParaRPr lang="en-US" sz="1300" dirty="0"/>
          </a:p>
        </p:txBody>
      </p:sp>
      <p:sp>
        <p:nvSpPr>
          <p:cNvPr id="23" name="timeline 4 title"/>
          <p:cNvSpPr txBox="1"/>
          <p:nvPr/>
        </p:nvSpPr>
        <p:spPr>
          <a:xfrm>
            <a:off x="7296729" y="3063240"/>
            <a:ext cx="2036003" cy="640080"/>
          </a:xfrm>
          <a:prstGeom prst="rect">
            <a:avLst/>
          </a:prstGeom>
          <a:noFill/>
          <a:ln/>
        </p:spPr>
        <p:txBody>
          <a:bodyPr wrap="square" lIns="0" tIns="0" rIns="0" bIns="0" rtlCol="0" anchor="t"/>
          <a:lstStyle/>
          <a:p>
            <a:pPr algn="ctr" indent="0" marL="0">
              <a:buNone/>
            </a:pPr>
            <a:r>
              <a:rPr lang="en-US" sz="1600" b="1" dirty="0">
                <a:solidFill>
                  <a:schemeClr val="tx1"/>
                </a:solidFill>
              </a:rPr>
              <a:t>CARLA models</a:t>
            </a:r>
            <a:endParaRPr lang="en-US" sz="1600" dirty="0"/>
          </a:p>
        </p:txBody>
      </p:sp>
      <p:sp>
        <p:nvSpPr>
          <p:cNvPr id="24" name="timeline 4 text"/>
          <p:cNvSpPr txBox="1"/>
          <p:nvPr/>
        </p:nvSpPr>
        <p:spPr>
          <a:xfrm>
            <a:off x="7296729" y="3474720"/>
            <a:ext cx="2036003" cy="1005840"/>
          </a:xfrm>
          <a:prstGeom prst="rect">
            <a:avLst/>
          </a:prstGeom>
          <a:noFill/>
          <a:ln/>
        </p:spPr>
        <p:txBody>
          <a:bodyPr wrap="square" lIns="0" tIns="0" rIns="0" bIns="0" rtlCol="0" anchor="t"/>
          <a:lstStyle/>
          <a:p>
            <a:pPr algn="ctr" indent="0" marL="0">
              <a:buNone/>
            </a:pPr>
            <a:r>
              <a:rPr lang="en-US" sz="1200" dirty="0">
                <a:solidFill>
                  <a:schemeClr val="accent6"/>
                </a:solidFill>
              </a:rPr>
              <a:t>2,576 clips tracked and cached; E1, E3, E4 trained (26 runs total)</a:t>
            </a:r>
            <a:endParaRPr lang="en-US" sz="1200" dirty="0"/>
          </a:p>
        </p:txBody>
      </p:sp>
      <p:sp>
        <p:nvSpPr>
          <p:cNvPr id="25" name="timeline dot 5"/>
          <p:cNvSpPr/>
          <p:nvPr/>
        </p:nvSpPr>
        <p:spPr>
          <a:xfrm>
            <a:off x="10259294" y="1965960"/>
            <a:ext cx="548640" cy="548640"/>
          </a:xfrm>
          <a:prstGeom prst="ellipse">
            <a:avLst/>
          </a:prstGeom>
          <a:solidFill>
            <a:schemeClr val="accent1"/>
          </a:solidFill>
          <a:ln w="38100">
            <a:solidFill>
              <a:schemeClr val="bg1"/>
            </a:solidFill>
            <a:prstDash val="solid"/>
          </a:ln>
        </p:spPr>
      </p:sp>
      <p:sp>
        <p:nvSpPr>
          <p:cNvPr id="26" name="timeline number 5"/>
          <p:cNvSpPr txBox="1"/>
          <p:nvPr/>
        </p:nvSpPr>
        <p:spPr>
          <a:xfrm>
            <a:off x="10259294" y="1965960"/>
            <a:ext cx="548640" cy="548640"/>
          </a:xfrm>
          <a:prstGeom prst="rect">
            <a:avLst/>
          </a:prstGeom>
          <a:noFill/>
          <a:ln/>
        </p:spPr>
        <p:txBody>
          <a:bodyPr wrap="square" lIns="0" tIns="0" rIns="0" bIns="0" rtlCol="0" anchor="ctr"/>
          <a:lstStyle/>
          <a:p>
            <a:pPr algn="ctr" indent="0" marL="0">
              <a:buNone/>
            </a:pPr>
            <a:r>
              <a:rPr lang="en-US" sz="1600" b="1" dirty="0">
                <a:solidFill>
                  <a:schemeClr val="tx1"/>
                </a:solidFill>
              </a:rPr>
              <a:t>5</a:t>
            </a:r>
            <a:endParaRPr lang="en-US" sz="1600" dirty="0"/>
          </a:p>
        </p:txBody>
      </p:sp>
      <p:sp>
        <p:nvSpPr>
          <p:cNvPr id="27" name="timeline 5 date"/>
          <p:cNvSpPr txBox="1"/>
          <p:nvPr/>
        </p:nvSpPr>
        <p:spPr>
          <a:xfrm>
            <a:off x="9515612" y="2743200"/>
            <a:ext cx="2036003" cy="320040"/>
          </a:xfrm>
          <a:prstGeom prst="rect">
            <a:avLst/>
          </a:prstGeom>
          <a:noFill/>
          <a:ln/>
        </p:spPr>
        <p:txBody>
          <a:bodyPr wrap="square" lIns="0" tIns="0" rIns="0" bIns="0" rtlCol="0" anchor="t"/>
          <a:lstStyle/>
          <a:p>
            <a:pPr algn="ctr" indent="0" marL="0">
              <a:buNone/>
            </a:pPr>
            <a:r>
              <a:rPr lang="en-US" sz="1300" dirty="0">
                <a:solidFill>
                  <a:schemeClr val="accent6"/>
                </a:solidFill>
              </a:rPr>
              <a:t>30 Oct, morning</a:t>
            </a:r>
            <a:endParaRPr lang="en-US" sz="1300" dirty="0"/>
          </a:p>
        </p:txBody>
      </p:sp>
      <p:sp>
        <p:nvSpPr>
          <p:cNvPr id="28" name="timeline 5 title"/>
          <p:cNvSpPr txBox="1"/>
          <p:nvPr/>
        </p:nvSpPr>
        <p:spPr>
          <a:xfrm>
            <a:off x="9515612" y="3063240"/>
            <a:ext cx="2036003" cy="640080"/>
          </a:xfrm>
          <a:prstGeom prst="rect">
            <a:avLst/>
          </a:prstGeom>
          <a:noFill/>
          <a:ln/>
        </p:spPr>
        <p:txBody>
          <a:bodyPr wrap="square" lIns="0" tIns="0" rIns="0" bIns="0" rtlCol="0" anchor="t"/>
          <a:lstStyle/>
          <a:p>
            <a:pPr algn="ctr" indent="0" marL="0">
              <a:buNone/>
            </a:pPr>
            <a:r>
              <a:rPr lang="en-US" sz="1600" b="1" dirty="0">
                <a:solidFill>
                  <a:schemeClr val="tx1"/>
                </a:solidFill>
              </a:rPr>
              <a:t>Analysis and hand-over</a:t>
            </a:r>
            <a:endParaRPr lang="en-US" sz="1600" dirty="0"/>
          </a:p>
        </p:txBody>
      </p:sp>
      <p:sp>
        <p:nvSpPr>
          <p:cNvPr id="29" name="timeline 5 text"/>
          <p:cNvSpPr txBox="1"/>
          <p:nvPr/>
        </p:nvSpPr>
        <p:spPr>
          <a:xfrm>
            <a:off x="9515612" y="3474720"/>
            <a:ext cx="2036003" cy="1005840"/>
          </a:xfrm>
          <a:prstGeom prst="rect">
            <a:avLst/>
          </a:prstGeom>
          <a:noFill/>
          <a:ln/>
        </p:spPr>
        <p:txBody>
          <a:bodyPr wrap="square" lIns="0" tIns="0" rIns="0" bIns="0" rtlCol="0" anchor="t"/>
          <a:lstStyle/>
          <a:p>
            <a:pPr algn="ctr" indent="0" marL="0">
              <a:buNone/>
            </a:pPr>
            <a:r>
              <a:rPr lang="en-US" sz="1200" dirty="0">
                <a:solidFill>
                  <a:schemeClr val="accent6"/>
                </a:solidFill>
              </a:rPr>
              <a:t>E5, E6, figures, paper results, portable code, transfer kit, this deck</a:t>
            </a:r>
            <a:endParaRPr lang="en-US" sz="1200" dirty="0"/>
          </a:p>
        </p:txBody>
      </p:sp>
      <p:sp>
        <p:nvSpPr>
          <p:cNvPr id="30" name="done chip 1"/>
          <p:cNvSpPr/>
          <p:nvPr/>
        </p:nvSpPr>
        <p:spPr>
          <a:xfrm>
            <a:off x="548640" y="4892040"/>
            <a:ext cx="1467351" cy="502920"/>
          </a:xfrm>
          <a:prstGeom prst="roundRect">
            <a:avLst>
              <a:gd name="adj" fmla="val 49091"/>
            </a:avLst>
          </a:prstGeom>
          <a:solidFill>
            <a:schemeClr val="bg2"/>
          </a:solidFill>
          <a:ln w="12700">
            <a:solidFill>
              <a:schemeClr val="bg2"/>
            </a:solidFill>
            <a:prstDash val="solid"/>
          </a:ln>
        </p:spPr>
      </p:sp>
      <p:sp>
        <p:nvSpPr>
          <p:cNvPr id="31" name="done chip 1 text"/>
          <p:cNvSpPr txBox="1"/>
          <p:nvPr/>
        </p:nvSpPr>
        <p:spPr>
          <a:xfrm>
            <a:off x="548640" y="4892040"/>
            <a:ext cx="1467351" cy="502920"/>
          </a:xfrm>
          <a:prstGeom prst="rect">
            <a:avLst/>
          </a:prstGeom>
          <a:noFill/>
          <a:ln/>
        </p:spPr>
        <p:txBody>
          <a:bodyPr wrap="square" lIns="0" tIns="0" rIns="0" bIns="0" rtlCol="0" anchor="ctr"/>
          <a:lstStyle/>
          <a:p>
            <a:pPr algn="ctr" indent="0" marL="0">
              <a:buNone/>
            </a:pPr>
            <a:r>
              <a:rPr lang="en-US" sz="1200" b="1" dirty="0">
                <a:solidFill>
                  <a:schemeClr val="accent4"/>
                </a:solidFill>
              </a:rPr>
              <a:t>✓ </a:t>
            </a:r>
            <a:pPr algn="ctr" indent="0" marL="0">
              <a:buNone/>
            </a:pPr>
            <a:r>
              <a:rPr lang="en-US" sz="1200" dirty="0">
                <a:solidFill>
                  <a:schemeClr val="tx1"/>
                </a:solidFill>
              </a:rPr>
              <a:t>Generator</a:t>
            </a:r>
            <a:endParaRPr lang="en-US" sz="1200" dirty="0"/>
          </a:p>
        </p:txBody>
      </p:sp>
      <p:sp>
        <p:nvSpPr>
          <p:cNvPr id="32" name="done chip 2"/>
          <p:cNvSpPr/>
          <p:nvPr/>
        </p:nvSpPr>
        <p:spPr>
          <a:xfrm>
            <a:off x="2153151" y="4892040"/>
            <a:ext cx="1467351" cy="502920"/>
          </a:xfrm>
          <a:prstGeom prst="roundRect">
            <a:avLst>
              <a:gd name="adj" fmla="val 49091"/>
            </a:avLst>
          </a:prstGeom>
          <a:solidFill>
            <a:schemeClr val="bg2"/>
          </a:solidFill>
          <a:ln w="12700">
            <a:solidFill>
              <a:schemeClr val="bg2"/>
            </a:solidFill>
            <a:prstDash val="solid"/>
          </a:ln>
        </p:spPr>
      </p:sp>
      <p:sp>
        <p:nvSpPr>
          <p:cNvPr id="33" name="done chip 2 text"/>
          <p:cNvSpPr txBox="1"/>
          <p:nvPr/>
        </p:nvSpPr>
        <p:spPr>
          <a:xfrm>
            <a:off x="2153151" y="4892040"/>
            <a:ext cx="1467351" cy="502920"/>
          </a:xfrm>
          <a:prstGeom prst="rect">
            <a:avLst/>
          </a:prstGeom>
          <a:noFill/>
          <a:ln/>
        </p:spPr>
        <p:txBody>
          <a:bodyPr wrap="square" lIns="0" tIns="0" rIns="0" bIns="0" rtlCol="0" anchor="ctr"/>
          <a:lstStyle/>
          <a:p>
            <a:pPr algn="ctr" indent="0" marL="0">
              <a:buNone/>
            </a:pPr>
            <a:r>
              <a:rPr lang="en-US" sz="1200" b="1" dirty="0">
                <a:solidFill>
                  <a:schemeClr val="accent4"/>
                </a:solidFill>
              </a:rPr>
              <a:t>✓ </a:t>
            </a:r>
            <a:pPr algn="ctr" indent="0" marL="0">
              <a:buNone/>
            </a:pPr>
            <a:r>
              <a:rPr lang="en-US" sz="1200" dirty="0">
                <a:solidFill>
                  <a:schemeClr val="tx1"/>
                </a:solidFill>
              </a:rPr>
              <a:t>Pilot</a:t>
            </a:r>
            <a:endParaRPr lang="en-US" sz="1200" dirty="0"/>
          </a:p>
        </p:txBody>
      </p:sp>
      <p:sp>
        <p:nvSpPr>
          <p:cNvPr id="34" name="done chip 3"/>
          <p:cNvSpPr/>
          <p:nvPr/>
        </p:nvSpPr>
        <p:spPr>
          <a:xfrm>
            <a:off x="3757661" y="4892040"/>
            <a:ext cx="1467351" cy="502920"/>
          </a:xfrm>
          <a:prstGeom prst="roundRect">
            <a:avLst>
              <a:gd name="adj" fmla="val 49091"/>
            </a:avLst>
          </a:prstGeom>
          <a:solidFill>
            <a:schemeClr val="bg2"/>
          </a:solidFill>
          <a:ln w="12700">
            <a:solidFill>
              <a:schemeClr val="bg2"/>
            </a:solidFill>
            <a:prstDash val="solid"/>
          </a:ln>
        </p:spPr>
      </p:sp>
      <p:sp>
        <p:nvSpPr>
          <p:cNvPr id="35" name="done chip 3 text"/>
          <p:cNvSpPr txBox="1"/>
          <p:nvPr/>
        </p:nvSpPr>
        <p:spPr>
          <a:xfrm>
            <a:off x="3757661" y="4892040"/>
            <a:ext cx="1467351" cy="502920"/>
          </a:xfrm>
          <a:prstGeom prst="rect">
            <a:avLst/>
          </a:prstGeom>
          <a:noFill/>
          <a:ln/>
        </p:spPr>
        <p:txBody>
          <a:bodyPr wrap="square" lIns="0" tIns="0" rIns="0" bIns="0" rtlCol="0" anchor="ctr"/>
          <a:lstStyle/>
          <a:p>
            <a:pPr algn="ctr" indent="0" marL="0">
              <a:buNone/>
            </a:pPr>
            <a:r>
              <a:rPr lang="en-US" sz="1200" b="1" dirty="0">
                <a:solidFill>
                  <a:schemeClr val="accent4"/>
                </a:solidFill>
              </a:rPr>
              <a:t>✓ </a:t>
            </a:r>
            <a:pPr algn="ctr" indent="0" marL="0">
              <a:buNone/>
            </a:pPr>
            <a:r>
              <a:rPr lang="en-US" sz="1200" dirty="0">
                <a:solidFill>
                  <a:schemeClr val="tx1"/>
                </a:solidFill>
              </a:rPr>
              <a:t>Full CARLA data</a:t>
            </a:r>
            <a:endParaRPr lang="en-US" sz="1200" dirty="0"/>
          </a:p>
        </p:txBody>
      </p:sp>
      <p:sp>
        <p:nvSpPr>
          <p:cNvPr id="36" name="done chip 4"/>
          <p:cNvSpPr/>
          <p:nvPr/>
        </p:nvSpPr>
        <p:spPr>
          <a:xfrm>
            <a:off x="5362172" y="4892040"/>
            <a:ext cx="1467351" cy="502920"/>
          </a:xfrm>
          <a:prstGeom prst="roundRect">
            <a:avLst>
              <a:gd name="adj" fmla="val 49091"/>
            </a:avLst>
          </a:prstGeom>
          <a:solidFill>
            <a:schemeClr val="bg2"/>
          </a:solidFill>
          <a:ln w="12700">
            <a:solidFill>
              <a:schemeClr val="bg2"/>
            </a:solidFill>
            <a:prstDash val="solid"/>
          </a:ln>
        </p:spPr>
      </p:sp>
      <p:sp>
        <p:nvSpPr>
          <p:cNvPr id="37" name="done chip 4 text"/>
          <p:cNvSpPr txBox="1"/>
          <p:nvPr/>
        </p:nvSpPr>
        <p:spPr>
          <a:xfrm>
            <a:off x="5362172" y="4892040"/>
            <a:ext cx="1467351" cy="502920"/>
          </a:xfrm>
          <a:prstGeom prst="rect">
            <a:avLst/>
          </a:prstGeom>
          <a:noFill/>
          <a:ln/>
        </p:spPr>
        <p:txBody>
          <a:bodyPr wrap="square" lIns="0" tIns="0" rIns="0" bIns="0" rtlCol="0" anchor="ctr"/>
          <a:lstStyle/>
          <a:p>
            <a:pPr algn="ctr" indent="0" marL="0">
              <a:buNone/>
            </a:pPr>
            <a:r>
              <a:rPr lang="en-US" sz="1200" b="1" dirty="0">
                <a:solidFill>
                  <a:schemeClr val="accent4"/>
                </a:solidFill>
              </a:rPr>
              <a:t>✓ </a:t>
            </a:r>
            <a:pPr algn="ctr" indent="0" marL="0">
              <a:buNone/>
            </a:pPr>
            <a:r>
              <a:rPr lang="en-US" sz="1200" dirty="0">
                <a:solidFill>
                  <a:schemeClr val="tx1"/>
                </a:solidFill>
              </a:rPr>
              <a:t>26 models</a:t>
            </a:r>
            <a:endParaRPr lang="en-US" sz="1200" dirty="0"/>
          </a:p>
        </p:txBody>
      </p:sp>
      <p:sp>
        <p:nvSpPr>
          <p:cNvPr id="38" name="done chip 5"/>
          <p:cNvSpPr/>
          <p:nvPr/>
        </p:nvSpPr>
        <p:spPr>
          <a:xfrm>
            <a:off x="6966683" y="4892040"/>
            <a:ext cx="1467351" cy="502920"/>
          </a:xfrm>
          <a:prstGeom prst="roundRect">
            <a:avLst>
              <a:gd name="adj" fmla="val 49091"/>
            </a:avLst>
          </a:prstGeom>
          <a:solidFill>
            <a:schemeClr val="bg2"/>
          </a:solidFill>
          <a:ln w="12700">
            <a:solidFill>
              <a:schemeClr val="bg2"/>
            </a:solidFill>
            <a:prstDash val="solid"/>
          </a:ln>
        </p:spPr>
      </p:sp>
      <p:sp>
        <p:nvSpPr>
          <p:cNvPr id="39" name="done chip 5 text"/>
          <p:cNvSpPr txBox="1"/>
          <p:nvPr/>
        </p:nvSpPr>
        <p:spPr>
          <a:xfrm>
            <a:off x="6966683" y="4892040"/>
            <a:ext cx="1467351" cy="502920"/>
          </a:xfrm>
          <a:prstGeom prst="rect">
            <a:avLst/>
          </a:prstGeom>
          <a:noFill/>
          <a:ln/>
        </p:spPr>
        <p:txBody>
          <a:bodyPr wrap="square" lIns="0" tIns="0" rIns="0" bIns="0" rtlCol="0" anchor="ctr"/>
          <a:lstStyle/>
          <a:p>
            <a:pPr algn="ctr" indent="0" marL="0">
              <a:buNone/>
            </a:pPr>
            <a:r>
              <a:rPr lang="en-US" sz="1200" b="1" dirty="0">
                <a:solidFill>
                  <a:schemeClr val="accent4"/>
                </a:solidFill>
              </a:rPr>
              <a:t>✓ </a:t>
            </a:r>
            <a:pPr algn="ctr" indent="0" marL="0">
              <a:buNone/>
            </a:pPr>
            <a:r>
              <a:rPr lang="en-US" sz="1200" dirty="0">
                <a:solidFill>
                  <a:schemeClr val="tx1"/>
                </a:solidFill>
              </a:rPr>
              <a:t>E1–E6</a:t>
            </a:r>
            <a:endParaRPr lang="en-US" sz="1200" dirty="0"/>
          </a:p>
        </p:txBody>
      </p:sp>
      <p:sp>
        <p:nvSpPr>
          <p:cNvPr id="40" name="done chip 6"/>
          <p:cNvSpPr/>
          <p:nvPr/>
        </p:nvSpPr>
        <p:spPr>
          <a:xfrm>
            <a:off x="8571194" y="4892040"/>
            <a:ext cx="1467351" cy="502920"/>
          </a:xfrm>
          <a:prstGeom prst="roundRect">
            <a:avLst>
              <a:gd name="adj" fmla="val 49091"/>
            </a:avLst>
          </a:prstGeom>
          <a:solidFill>
            <a:schemeClr val="bg2"/>
          </a:solidFill>
          <a:ln w="12700">
            <a:solidFill>
              <a:schemeClr val="bg2"/>
            </a:solidFill>
            <a:prstDash val="solid"/>
          </a:ln>
        </p:spPr>
      </p:sp>
      <p:sp>
        <p:nvSpPr>
          <p:cNvPr id="41" name="done chip 6 text"/>
          <p:cNvSpPr txBox="1"/>
          <p:nvPr/>
        </p:nvSpPr>
        <p:spPr>
          <a:xfrm>
            <a:off x="8571194" y="4892040"/>
            <a:ext cx="1467351" cy="502920"/>
          </a:xfrm>
          <a:prstGeom prst="rect">
            <a:avLst/>
          </a:prstGeom>
          <a:noFill/>
          <a:ln/>
        </p:spPr>
        <p:txBody>
          <a:bodyPr wrap="square" lIns="0" tIns="0" rIns="0" bIns="0" rtlCol="0" anchor="ctr"/>
          <a:lstStyle/>
          <a:p>
            <a:pPr algn="ctr" indent="0" marL="0">
              <a:buNone/>
            </a:pPr>
            <a:r>
              <a:rPr lang="en-US" sz="1200" b="1" dirty="0">
                <a:solidFill>
                  <a:schemeClr val="accent4"/>
                </a:solidFill>
              </a:rPr>
              <a:t>✓ </a:t>
            </a:r>
            <a:pPr algn="ctr" indent="0" marL="0">
              <a:buNone/>
            </a:pPr>
            <a:r>
              <a:rPr lang="en-US" sz="1200" dirty="0">
                <a:solidFill>
                  <a:schemeClr val="tx1"/>
                </a:solidFill>
              </a:rPr>
              <a:t>Paper results</a:t>
            </a:r>
            <a:endParaRPr lang="en-US" sz="1200" dirty="0"/>
          </a:p>
        </p:txBody>
      </p:sp>
      <p:sp>
        <p:nvSpPr>
          <p:cNvPr id="42" name="done chip 7"/>
          <p:cNvSpPr/>
          <p:nvPr/>
        </p:nvSpPr>
        <p:spPr>
          <a:xfrm>
            <a:off x="10175704" y="4892040"/>
            <a:ext cx="1467351" cy="502920"/>
          </a:xfrm>
          <a:prstGeom prst="roundRect">
            <a:avLst>
              <a:gd name="adj" fmla="val 49091"/>
            </a:avLst>
          </a:prstGeom>
          <a:solidFill>
            <a:schemeClr val="bg2"/>
          </a:solidFill>
          <a:ln w="12700">
            <a:solidFill>
              <a:schemeClr val="bg2"/>
            </a:solidFill>
            <a:prstDash val="solid"/>
          </a:ln>
        </p:spPr>
      </p:sp>
      <p:sp>
        <p:nvSpPr>
          <p:cNvPr id="43" name="done chip 7 text"/>
          <p:cNvSpPr txBox="1"/>
          <p:nvPr/>
        </p:nvSpPr>
        <p:spPr>
          <a:xfrm>
            <a:off x="10175704" y="4892040"/>
            <a:ext cx="1467351" cy="502920"/>
          </a:xfrm>
          <a:prstGeom prst="rect">
            <a:avLst/>
          </a:prstGeom>
          <a:noFill/>
          <a:ln/>
        </p:spPr>
        <p:txBody>
          <a:bodyPr wrap="square" lIns="0" tIns="0" rIns="0" bIns="0" rtlCol="0" anchor="ctr"/>
          <a:lstStyle/>
          <a:p>
            <a:pPr algn="ctr" indent="0" marL="0">
              <a:buNone/>
            </a:pPr>
            <a:r>
              <a:rPr lang="en-US" sz="1200" b="1" dirty="0">
                <a:solidFill>
                  <a:schemeClr val="accent4"/>
                </a:solidFill>
              </a:rPr>
              <a:t>✓ </a:t>
            </a:r>
            <a:pPr algn="ctr" indent="0" marL="0">
              <a:buNone/>
            </a:pPr>
            <a:r>
              <a:rPr lang="en-US" sz="1200" dirty="0">
                <a:solidFill>
                  <a:schemeClr val="tx1"/>
                </a:solidFill>
              </a:rPr>
              <a:t>New-machine kit</a:t>
            </a:r>
            <a:endParaRPr lang="en-US" sz="12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chemeClr val="accent6"/>
                </a:solidFill>
              </a:defRPr>
            </a:lvl1pPr>
          </a:lstStyle>
          <a:p>
            <a:pPr algn="r"/>
            <a:fld id="{F7021451-1387-4CA6-816F-3879F97B5CBC}" type="slidenum">
              <a:rPr b="0"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731520"/>
          </a:xfrm>
          <a:prstGeom prst="rect">
            <a:avLst/>
          </a:prstGeom>
          <a:noFill/>
          <a:ln/>
        </p:spPr>
        <p:txBody>
          <a:bodyPr wrap="square" lIns="0" tIns="0" rIns="0" bIns="0" rtlCol="0" anchor="b"/>
          <a:lstStyle/>
          <a:p>
            <a:pPr algn="l" indent="0" marL="0">
              <a:buNone/>
            </a:pPr>
            <a:r>
              <a:rPr lang="en-US" sz="3400" b="1" dirty="0">
                <a:solidFill>
                  <a:schemeClr val="tx1"/>
                </a:solidFill>
              </a:rPr>
              <a:t>What's left</a:t>
            </a:r>
            <a:endParaRPr lang="en-US" sz="3400" dirty="0"/>
          </a:p>
        </p:txBody>
      </p:sp>
      <p:sp>
        <p:nvSpPr>
          <p:cNvPr id="3" name="Text 0"/>
          <p:cNvSpPr/>
          <p:nvPr>
            <p:ph idx="101" type="body" hasCustomPrompt="1"/>
          </p:nvPr>
        </p:nvSpPr>
        <p:spPr>
          <a:xfrm>
            <a:off x="548640" y="1078992"/>
            <a:ext cx="11094415" cy="411480"/>
          </a:xfrm>
          <a:prstGeom prst="rect">
            <a:avLst/>
          </a:prstGeom>
          <a:noFill/>
          <a:ln/>
        </p:spPr>
        <p:txBody>
          <a:bodyPr wrap="square" lIns="0" tIns="0" rIns="0" bIns="0" rtlCol="0" anchor="t"/>
          <a:lstStyle/>
          <a:p>
            <a:pPr indent="0" marL="0">
              <a:buNone/>
            </a:pPr>
            <a:r>
              <a:rPr lang="en-US" sz="1600" dirty="0">
                <a:solidFill>
                  <a:schemeClr val="accent6"/>
                </a:solidFill>
              </a:rPr>
              <a:t>Five things only you can do, then optional work that would strengthen the paper</a:t>
            </a:r>
            <a:endParaRPr lang="en-US" sz="1600" dirty="0"/>
          </a:p>
        </p:txBody>
      </p:sp>
      <p:sp>
        <p:nvSpPr>
          <p:cNvPr id="4" name="needs you card"/>
          <p:cNvSpPr/>
          <p:nvPr/>
        </p:nvSpPr>
        <p:spPr>
          <a:xfrm>
            <a:off x="548640" y="1691640"/>
            <a:ext cx="5257800" cy="4434840"/>
          </a:xfrm>
          <a:prstGeom prst="roundRect">
            <a:avLst>
              <a:gd name="adj" fmla="val 1649"/>
            </a:avLst>
          </a:prstGeom>
          <a:solidFill>
            <a:schemeClr val="bg2"/>
          </a:solidFill>
          <a:ln w="12700">
            <a:solidFill>
              <a:schemeClr val="bg2"/>
            </a:solidFill>
            <a:prstDash val="solid"/>
          </a:ln>
        </p:spPr>
      </p:sp>
      <p:sp>
        <p:nvSpPr>
          <p:cNvPr id="5" name="needs you heading"/>
          <p:cNvSpPr txBox="1"/>
          <p:nvPr/>
        </p:nvSpPr>
        <p:spPr>
          <a:xfrm>
            <a:off x="822960" y="1874520"/>
            <a:ext cx="4663440" cy="411480"/>
          </a:xfrm>
          <a:prstGeom prst="rect">
            <a:avLst/>
          </a:prstGeom>
          <a:noFill/>
          <a:ln/>
        </p:spPr>
        <p:txBody>
          <a:bodyPr wrap="square" lIns="0" tIns="0" rIns="0" bIns="0" rtlCol="0" anchor="t"/>
          <a:lstStyle/>
          <a:p>
            <a:pPr indent="0" marL="0">
              <a:buNone/>
            </a:pPr>
            <a:r>
              <a:rPr lang="en-US" sz="1800" b="1" dirty="0">
                <a:solidFill>
                  <a:schemeClr val="tx1"/>
                </a:solidFill>
              </a:rPr>
              <a:t>Needs you</a:t>
            </a:r>
            <a:endParaRPr lang="en-US" sz="1800" dirty="0"/>
          </a:p>
        </p:txBody>
      </p:sp>
      <p:sp>
        <p:nvSpPr>
          <p:cNvPr id="6" name="needs you 1 icon circle"/>
          <p:cNvSpPr/>
          <p:nvPr/>
        </p:nvSpPr>
        <p:spPr>
          <a:xfrm>
            <a:off x="822960" y="2468880"/>
            <a:ext cx="502920" cy="502920"/>
          </a:xfrm>
          <a:prstGeom prst="ellipse">
            <a:avLst/>
          </a:prstGeom>
          <a:solidFill>
            <a:schemeClr val="accent1"/>
          </a:solidFill>
          <a:ln w="12700">
            <a:solidFill>
              <a:schemeClr val="accent1"/>
            </a:solidFill>
            <a:prstDash val="solid"/>
          </a:ln>
        </p:spPr>
      </p:sp>
      <p:pic>
        <p:nvPicPr>
          <p:cNvPr id="7" name="needs you 1 icon" descr="needs you 1">    </p:cNvPr>
          <p:cNvPicPr>
            <a:picLocks noChangeAspect="1"/>
          </p:cNvPicPr>
          <p:nvPr/>
        </p:nvPicPr>
        <p:blipFill>
          <a:blip r:embed="rId1"/>
          <a:stretch>
            <a:fillRect/>
          </a:stretch>
        </p:blipFill>
        <p:spPr>
          <a:xfrm>
            <a:off x="943661" y="2589581"/>
            <a:ext cx="261518" cy="261518"/>
          </a:xfrm>
          <a:prstGeom prst="rect">
            <a:avLst/>
          </a:prstGeom>
        </p:spPr>
      </p:pic>
      <p:sp>
        <p:nvSpPr>
          <p:cNvPr id="8" name="needs you 1 text"/>
          <p:cNvSpPr txBox="1"/>
          <p:nvPr/>
        </p:nvSpPr>
        <p:spPr>
          <a:xfrm>
            <a:off x="1508760" y="2450592"/>
            <a:ext cx="4114800" cy="548640"/>
          </a:xfrm>
          <a:prstGeom prst="rect">
            <a:avLst/>
          </a:prstGeom>
          <a:noFill/>
          <a:ln/>
        </p:spPr>
        <p:txBody>
          <a:bodyPr wrap="square" lIns="0" tIns="0" rIns="0" bIns="0" rtlCol="0" anchor="ctr"/>
          <a:lstStyle/>
          <a:p>
            <a:pPr indent="0" marL="0">
              <a:buNone/>
            </a:pPr>
            <a:r>
              <a:rPr lang="en-US" sz="1400" dirty="0">
                <a:solidFill>
                  <a:schemeClr val="tx1"/>
                </a:solidFill>
              </a:rPr>
              <a:t>Nexar licence review with the supervisor (decision D6)</a:t>
            </a:r>
            <a:endParaRPr lang="en-US" sz="1400" dirty="0"/>
          </a:p>
        </p:txBody>
      </p:sp>
      <p:sp>
        <p:nvSpPr>
          <p:cNvPr id="9" name="needs you 2 icon circle"/>
          <p:cNvSpPr/>
          <p:nvPr/>
        </p:nvSpPr>
        <p:spPr>
          <a:xfrm>
            <a:off x="822960" y="3182112"/>
            <a:ext cx="502920" cy="502920"/>
          </a:xfrm>
          <a:prstGeom prst="ellipse">
            <a:avLst/>
          </a:prstGeom>
          <a:solidFill>
            <a:schemeClr val="accent1"/>
          </a:solidFill>
          <a:ln w="12700">
            <a:solidFill>
              <a:schemeClr val="accent1"/>
            </a:solidFill>
            <a:prstDash val="solid"/>
          </a:ln>
        </p:spPr>
      </p:sp>
      <p:pic>
        <p:nvPicPr>
          <p:cNvPr id="10" name="needs you 2 icon" descr="needs you 2">    </p:cNvPr>
          <p:cNvPicPr>
            <a:picLocks noChangeAspect="1"/>
          </p:cNvPicPr>
          <p:nvPr/>
        </p:nvPicPr>
        <p:blipFill>
          <a:blip r:embed="rId2"/>
          <a:stretch>
            <a:fillRect/>
          </a:stretch>
        </p:blipFill>
        <p:spPr>
          <a:xfrm>
            <a:off x="943661" y="3302813"/>
            <a:ext cx="261518" cy="261518"/>
          </a:xfrm>
          <a:prstGeom prst="rect">
            <a:avLst/>
          </a:prstGeom>
        </p:spPr>
      </p:pic>
      <p:sp>
        <p:nvSpPr>
          <p:cNvPr id="11" name="needs you 2 text"/>
          <p:cNvSpPr txBox="1"/>
          <p:nvPr/>
        </p:nvSpPr>
        <p:spPr>
          <a:xfrm>
            <a:off x="1508760" y="3163824"/>
            <a:ext cx="4114800" cy="548640"/>
          </a:xfrm>
          <a:prstGeom prst="rect">
            <a:avLst/>
          </a:prstGeom>
          <a:noFill/>
          <a:ln/>
        </p:spPr>
        <p:txBody>
          <a:bodyPr wrap="square" lIns="0" tIns="0" rIns="0" bIns="0" rtlCol="0" anchor="ctr"/>
          <a:lstStyle/>
          <a:p>
            <a:pPr indent="0" marL="0">
              <a:buNone/>
            </a:pPr>
            <a:r>
              <a:rPr lang="en-US" sz="1400" dirty="0">
                <a:solidFill>
                  <a:schemeClr val="tx1"/>
                </a:solidFill>
              </a:rPr>
              <a:t>Delete the exposed Hugging Face token 'carla-pc'; make a new one</a:t>
            </a:r>
            <a:endParaRPr lang="en-US" sz="1400" dirty="0"/>
          </a:p>
        </p:txBody>
      </p:sp>
      <p:sp>
        <p:nvSpPr>
          <p:cNvPr id="12" name="needs you 3 icon circle"/>
          <p:cNvSpPr/>
          <p:nvPr/>
        </p:nvSpPr>
        <p:spPr>
          <a:xfrm>
            <a:off x="822960" y="3895344"/>
            <a:ext cx="502920" cy="502920"/>
          </a:xfrm>
          <a:prstGeom prst="ellipse">
            <a:avLst/>
          </a:prstGeom>
          <a:solidFill>
            <a:schemeClr val="accent1"/>
          </a:solidFill>
          <a:ln w="12700">
            <a:solidFill>
              <a:schemeClr val="accent1"/>
            </a:solidFill>
            <a:prstDash val="solid"/>
          </a:ln>
        </p:spPr>
      </p:sp>
      <p:pic>
        <p:nvPicPr>
          <p:cNvPr id="13" name="needs you 3 icon" descr="needs you 3">    </p:cNvPr>
          <p:cNvPicPr>
            <a:picLocks noChangeAspect="1"/>
          </p:cNvPicPr>
          <p:nvPr/>
        </p:nvPicPr>
        <p:blipFill>
          <a:blip r:embed="rId3"/>
          <a:stretch>
            <a:fillRect/>
          </a:stretch>
        </p:blipFill>
        <p:spPr>
          <a:xfrm>
            <a:off x="943661" y="4016045"/>
            <a:ext cx="261518" cy="261518"/>
          </a:xfrm>
          <a:prstGeom prst="rect">
            <a:avLst/>
          </a:prstGeom>
        </p:spPr>
      </p:pic>
      <p:sp>
        <p:nvSpPr>
          <p:cNvPr id="14" name="needs you 3 text"/>
          <p:cNvSpPr txBox="1"/>
          <p:nvPr/>
        </p:nvSpPr>
        <p:spPr>
          <a:xfrm>
            <a:off x="1508760" y="3877056"/>
            <a:ext cx="4114800" cy="548640"/>
          </a:xfrm>
          <a:prstGeom prst="rect">
            <a:avLst/>
          </a:prstGeom>
          <a:noFill/>
          <a:ln/>
        </p:spPr>
        <p:txBody>
          <a:bodyPr wrap="square" lIns="0" tIns="0" rIns="0" bIns="0" rtlCol="0" anchor="ctr"/>
          <a:lstStyle/>
          <a:p>
            <a:pPr indent="0" marL="0">
              <a:buNone/>
            </a:pPr>
            <a:r>
              <a:rPr lang="en-US" sz="1400" dirty="0">
                <a:solidFill>
                  <a:schemeClr val="tx1"/>
                </a:solidFill>
              </a:rPr>
              <a:t>Push the committed code to a private GitHub repo as adarshlaxman</a:t>
            </a:r>
            <a:endParaRPr lang="en-US" sz="1400" dirty="0"/>
          </a:p>
        </p:txBody>
      </p:sp>
      <p:sp>
        <p:nvSpPr>
          <p:cNvPr id="15" name="needs you 4 icon circle"/>
          <p:cNvSpPr/>
          <p:nvPr/>
        </p:nvSpPr>
        <p:spPr>
          <a:xfrm>
            <a:off x="822960" y="4608576"/>
            <a:ext cx="502920" cy="502920"/>
          </a:xfrm>
          <a:prstGeom prst="ellipse">
            <a:avLst/>
          </a:prstGeom>
          <a:solidFill>
            <a:schemeClr val="accent1"/>
          </a:solidFill>
          <a:ln w="12700">
            <a:solidFill>
              <a:schemeClr val="accent1"/>
            </a:solidFill>
            <a:prstDash val="solid"/>
          </a:ln>
        </p:spPr>
      </p:sp>
      <p:pic>
        <p:nvPicPr>
          <p:cNvPr id="16" name="needs you 4 icon" descr="needs you 4">    </p:cNvPr>
          <p:cNvPicPr>
            <a:picLocks noChangeAspect="1"/>
          </p:cNvPicPr>
          <p:nvPr/>
        </p:nvPicPr>
        <p:blipFill>
          <a:blip r:embed="rId4"/>
          <a:stretch>
            <a:fillRect/>
          </a:stretch>
        </p:blipFill>
        <p:spPr>
          <a:xfrm>
            <a:off x="943661" y="4729277"/>
            <a:ext cx="261518" cy="261518"/>
          </a:xfrm>
          <a:prstGeom prst="rect">
            <a:avLst/>
          </a:prstGeom>
        </p:spPr>
      </p:pic>
      <p:sp>
        <p:nvSpPr>
          <p:cNvPr id="17" name="needs you 4 text"/>
          <p:cNvSpPr txBox="1"/>
          <p:nvPr/>
        </p:nvSpPr>
        <p:spPr>
          <a:xfrm>
            <a:off x="1508760" y="4590288"/>
            <a:ext cx="4114800" cy="548640"/>
          </a:xfrm>
          <a:prstGeom prst="rect">
            <a:avLst/>
          </a:prstGeom>
          <a:noFill/>
          <a:ln/>
        </p:spPr>
        <p:txBody>
          <a:bodyPr wrap="square" lIns="0" tIns="0" rIns="0" bIns="0" rtlCol="0" anchor="ctr"/>
          <a:lstStyle/>
          <a:p>
            <a:pPr indent="0" marL="0">
              <a:buNone/>
            </a:pPr>
            <a:r>
              <a:rPr lang="en-US" sz="1400" dirty="0">
                <a:solidFill>
                  <a:schemeClr val="tx1"/>
                </a:solidFill>
              </a:rPr>
              <a:t>Check the citations marked [verify] in the paper</a:t>
            </a:r>
            <a:endParaRPr lang="en-US" sz="1400" dirty="0"/>
          </a:p>
        </p:txBody>
      </p:sp>
      <p:sp>
        <p:nvSpPr>
          <p:cNvPr id="18" name="needs you 5 icon circle"/>
          <p:cNvSpPr/>
          <p:nvPr/>
        </p:nvSpPr>
        <p:spPr>
          <a:xfrm>
            <a:off x="822960" y="5321808"/>
            <a:ext cx="502920" cy="502920"/>
          </a:xfrm>
          <a:prstGeom prst="ellipse">
            <a:avLst/>
          </a:prstGeom>
          <a:solidFill>
            <a:schemeClr val="accent1"/>
          </a:solidFill>
          <a:ln w="12700">
            <a:solidFill>
              <a:schemeClr val="accent1"/>
            </a:solidFill>
            <a:prstDash val="solid"/>
          </a:ln>
        </p:spPr>
      </p:sp>
      <p:pic>
        <p:nvPicPr>
          <p:cNvPr id="19" name="needs you 5 icon" descr="needs you 5">    </p:cNvPr>
          <p:cNvPicPr>
            <a:picLocks noChangeAspect="1"/>
          </p:cNvPicPr>
          <p:nvPr/>
        </p:nvPicPr>
        <p:blipFill>
          <a:blip r:embed="rId5"/>
          <a:stretch>
            <a:fillRect/>
          </a:stretch>
        </p:blipFill>
        <p:spPr>
          <a:xfrm>
            <a:off x="943661" y="5442509"/>
            <a:ext cx="261518" cy="261518"/>
          </a:xfrm>
          <a:prstGeom prst="rect">
            <a:avLst/>
          </a:prstGeom>
        </p:spPr>
      </p:pic>
      <p:sp>
        <p:nvSpPr>
          <p:cNvPr id="20" name="needs you 5 text"/>
          <p:cNvSpPr txBox="1"/>
          <p:nvPr/>
        </p:nvSpPr>
        <p:spPr>
          <a:xfrm>
            <a:off x="1508760" y="5303520"/>
            <a:ext cx="4114800" cy="548640"/>
          </a:xfrm>
          <a:prstGeom prst="rect">
            <a:avLst/>
          </a:prstGeom>
          <a:noFill/>
          <a:ln/>
        </p:spPr>
        <p:txBody>
          <a:bodyPr wrap="square" lIns="0" tIns="0" rIns="0" bIns="0" rtlCol="0" anchor="ctr"/>
          <a:lstStyle/>
          <a:p>
            <a:pPr indent="0" marL="0">
              <a:buNone/>
            </a:pPr>
            <a:r>
              <a:rPr lang="en-US" sz="1400" dirty="0">
                <a:solidFill>
                  <a:schemeClr val="tx1"/>
                </a:solidFill>
              </a:rPr>
              <a:t>Read paper/draft.md and say what to change</a:t>
            </a:r>
            <a:endParaRPr lang="en-US" sz="1400" dirty="0"/>
          </a:p>
        </p:txBody>
      </p:sp>
      <p:sp>
        <p:nvSpPr>
          <p:cNvPr id="21" name="next heading"/>
          <p:cNvSpPr txBox="1"/>
          <p:nvPr/>
        </p:nvSpPr>
        <p:spPr>
          <a:xfrm>
            <a:off x="6263640" y="1874520"/>
            <a:ext cx="5303520" cy="411480"/>
          </a:xfrm>
          <a:prstGeom prst="rect">
            <a:avLst/>
          </a:prstGeom>
          <a:noFill/>
          <a:ln/>
        </p:spPr>
        <p:txBody>
          <a:bodyPr wrap="square" lIns="0" tIns="0" rIns="0" bIns="0" rtlCol="0" anchor="t"/>
          <a:lstStyle/>
          <a:p>
            <a:pPr indent="0" marL="0">
              <a:buNone/>
            </a:pPr>
            <a:r>
              <a:rPr lang="en-US" sz="1800" b="1" dirty="0">
                <a:solidFill>
                  <a:schemeClr val="tx1"/>
                </a:solidFill>
              </a:rPr>
              <a:t>Recommended next (optional)</a:t>
            </a:r>
            <a:endParaRPr lang="en-US" sz="1800" dirty="0"/>
          </a:p>
        </p:txBody>
      </p:sp>
      <p:sp>
        <p:nvSpPr>
          <p:cNvPr id="22" name="next 1 icon circle"/>
          <p:cNvSpPr/>
          <p:nvPr/>
        </p:nvSpPr>
        <p:spPr>
          <a:xfrm>
            <a:off x="6263640" y="2468880"/>
            <a:ext cx="502920" cy="502920"/>
          </a:xfrm>
          <a:prstGeom prst="ellipse">
            <a:avLst/>
          </a:prstGeom>
          <a:solidFill>
            <a:schemeClr val="accent1"/>
          </a:solidFill>
          <a:ln w="12700">
            <a:solidFill>
              <a:schemeClr val="accent1"/>
            </a:solidFill>
            <a:prstDash val="solid"/>
          </a:ln>
        </p:spPr>
      </p:sp>
      <p:pic>
        <p:nvPicPr>
          <p:cNvPr id="23" name="next 1 icon" descr="next 1">    </p:cNvPr>
          <p:cNvPicPr>
            <a:picLocks noChangeAspect="1"/>
          </p:cNvPicPr>
          <p:nvPr/>
        </p:nvPicPr>
        <p:blipFill>
          <a:blip r:embed="rId6"/>
          <a:stretch>
            <a:fillRect/>
          </a:stretch>
        </p:blipFill>
        <p:spPr>
          <a:xfrm>
            <a:off x="6384341" y="2589581"/>
            <a:ext cx="261518" cy="261518"/>
          </a:xfrm>
          <a:prstGeom prst="rect">
            <a:avLst/>
          </a:prstGeom>
        </p:spPr>
      </p:pic>
      <p:sp>
        <p:nvSpPr>
          <p:cNvPr id="24" name="next 1 title"/>
          <p:cNvSpPr txBox="1"/>
          <p:nvPr/>
        </p:nvSpPr>
        <p:spPr>
          <a:xfrm>
            <a:off x="6949440" y="2423160"/>
            <a:ext cx="4663440" cy="301752"/>
          </a:xfrm>
          <a:prstGeom prst="rect">
            <a:avLst/>
          </a:prstGeom>
          <a:noFill/>
          <a:ln/>
        </p:spPr>
        <p:txBody>
          <a:bodyPr wrap="square" lIns="0" tIns="0" rIns="0" bIns="0" rtlCol="0" anchor="t"/>
          <a:lstStyle/>
          <a:p>
            <a:pPr indent="0" marL="0">
              <a:buNone/>
            </a:pPr>
            <a:r>
              <a:rPr lang="en-US" sz="1400" b="1" dirty="0">
                <a:solidFill>
                  <a:schemeClr val="tx1"/>
                </a:solidFill>
              </a:rPr>
              <a:t>3 more seeds (5 total)</a:t>
            </a:r>
            <a:endParaRPr lang="en-US" sz="1400" dirty="0"/>
          </a:p>
        </p:txBody>
      </p:sp>
      <p:sp>
        <p:nvSpPr>
          <p:cNvPr id="25" name="next 1 text"/>
          <p:cNvSpPr txBox="1"/>
          <p:nvPr/>
        </p:nvSpPr>
        <p:spPr>
          <a:xfrm>
            <a:off x="6949440" y="2724912"/>
            <a:ext cx="4663440" cy="301752"/>
          </a:xfrm>
          <a:prstGeom prst="rect">
            <a:avLst/>
          </a:prstGeom>
          <a:noFill/>
          <a:ln/>
        </p:spPr>
        <p:txBody>
          <a:bodyPr wrap="square" lIns="0" tIns="0" rIns="0" bIns="0" rtlCol="0" anchor="t"/>
          <a:lstStyle/>
          <a:p>
            <a:pPr indent="0" marL="0">
              <a:buNone/>
            </a:pPr>
            <a:r>
              <a:rPr lang="en-US" sz="1200" dirty="0">
                <a:solidFill>
                  <a:schemeClr val="accent6"/>
                </a:solidFill>
              </a:rPr>
              <a:t>~30 min of training; makes small differences trustworthy</a:t>
            </a:r>
            <a:endParaRPr lang="en-US" sz="1200" dirty="0"/>
          </a:p>
        </p:txBody>
      </p:sp>
      <p:sp>
        <p:nvSpPr>
          <p:cNvPr id="26" name="next 2 icon circle"/>
          <p:cNvSpPr/>
          <p:nvPr/>
        </p:nvSpPr>
        <p:spPr>
          <a:xfrm>
            <a:off x="6263640" y="3182112"/>
            <a:ext cx="502920" cy="502920"/>
          </a:xfrm>
          <a:prstGeom prst="ellipse">
            <a:avLst/>
          </a:prstGeom>
          <a:solidFill>
            <a:schemeClr val="accent1"/>
          </a:solidFill>
          <a:ln w="12700">
            <a:solidFill>
              <a:schemeClr val="accent1"/>
            </a:solidFill>
            <a:prstDash val="solid"/>
          </a:ln>
        </p:spPr>
      </p:sp>
      <p:pic>
        <p:nvPicPr>
          <p:cNvPr id="27" name="next 2 icon" descr="next 2">    </p:cNvPr>
          <p:cNvPicPr>
            <a:picLocks noChangeAspect="1"/>
          </p:cNvPicPr>
          <p:nvPr/>
        </p:nvPicPr>
        <p:blipFill>
          <a:blip r:embed="rId7"/>
          <a:stretch>
            <a:fillRect/>
          </a:stretch>
        </p:blipFill>
        <p:spPr>
          <a:xfrm>
            <a:off x="6384341" y="3302813"/>
            <a:ext cx="261518" cy="261518"/>
          </a:xfrm>
          <a:prstGeom prst="rect">
            <a:avLst/>
          </a:prstGeom>
        </p:spPr>
      </p:pic>
      <p:sp>
        <p:nvSpPr>
          <p:cNvPr id="28" name="next 2 title"/>
          <p:cNvSpPr txBox="1"/>
          <p:nvPr/>
        </p:nvSpPr>
        <p:spPr>
          <a:xfrm>
            <a:off x="6949440" y="3136392"/>
            <a:ext cx="4663440" cy="301752"/>
          </a:xfrm>
          <a:prstGeom prst="rect">
            <a:avLst/>
          </a:prstGeom>
          <a:noFill/>
          <a:ln/>
        </p:spPr>
        <p:txBody>
          <a:bodyPr wrap="square" lIns="0" tIns="0" rIns="0" bIns="0" rtlCol="0" anchor="t"/>
          <a:lstStyle/>
          <a:p>
            <a:pPr indent="0" marL="0">
              <a:buNone/>
            </a:pPr>
            <a:r>
              <a:rPr lang="en-US" sz="1400" b="1" dirty="0">
                <a:solidFill>
                  <a:schemeClr val="tx1"/>
                </a:solidFill>
              </a:rPr>
              <a:t>Why CCD fails</a:t>
            </a:r>
            <a:endParaRPr lang="en-US" sz="1400" dirty="0"/>
          </a:p>
        </p:txBody>
      </p:sp>
      <p:sp>
        <p:nvSpPr>
          <p:cNvPr id="29" name="next 2 text"/>
          <p:cNvSpPr txBox="1"/>
          <p:nvPr/>
        </p:nvSpPr>
        <p:spPr>
          <a:xfrm>
            <a:off x="6949440" y="3438144"/>
            <a:ext cx="4663440" cy="301752"/>
          </a:xfrm>
          <a:prstGeom prst="rect">
            <a:avLst/>
          </a:prstGeom>
          <a:noFill/>
          <a:ln/>
        </p:spPr>
        <p:txBody>
          <a:bodyPr wrap="square" lIns="0" tIns="0" rIns="0" bIns="0" rtlCol="0" anchor="t"/>
          <a:lstStyle/>
          <a:p>
            <a:pPr indent="0" marL="0">
              <a:buNone/>
            </a:pPr>
            <a:r>
              <a:rPr lang="en-US" sz="1200" dirty="0">
                <a:solidFill>
                  <a:schemeClr val="accent6"/>
                </a:solidFill>
              </a:rPr>
              <a:t>split CCD crashes into dashcam-car vs other-car crashes</a:t>
            </a:r>
            <a:endParaRPr lang="en-US" sz="1200" dirty="0"/>
          </a:p>
        </p:txBody>
      </p:sp>
      <p:sp>
        <p:nvSpPr>
          <p:cNvPr id="30" name="next 3 icon circle"/>
          <p:cNvSpPr/>
          <p:nvPr/>
        </p:nvSpPr>
        <p:spPr>
          <a:xfrm>
            <a:off x="6263640" y="3895344"/>
            <a:ext cx="502920" cy="502920"/>
          </a:xfrm>
          <a:prstGeom prst="ellipse">
            <a:avLst/>
          </a:prstGeom>
          <a:solidFill>
            <a:schemeClr val="accent1"/>
          </a:solidFill>
          <a:ln w="12700">
            <a:solidFill>
              <a:schemeClr val="accent1"/>
            </a:solidFill>
            <a:prstDash val="solid"/>
          </a:ln>
        </p:spPr>
      </p:sp>
      <p:pic>
        <p:nvPicPr>
          <p:cNvPr id="31" name="next 3 icon" descr="next 3">    </p:cNvPr>
          <p:cNvPicPr>
            <a:picLocks noChangeAspect="1"/>
          </p:cNvPicPr>
          <p:nvPr/>
        </p:nvPicPr>
        <p:blipFill>
          <a:blip r:embed="rId8"/>
          <a:stretch>
            <a:fillRect/>
          </a:stretch>
        </p:blipFill>
        <p:spPr>
          <a:xfrm>
            <a:off x="6384341" y="4016045"/>
            <a:ext cx="261518" cy="261518"/>
          </a:xfrm>
          <a:prstGeom prst="rect">
            <a:avLst/>
          </a:prstGeom>
        </p:spPr>
      </p:pic>
      <p:sp>
        <p:nvSpPr>
          <p:cNvPr id="32" name="next 3 title"/>
          <p:cNvSpPr txBox="1"/>
          <p:nvPr/>
        </p:nvSpPr>
        <p:spPr>
          <a:xfrm>
            <a:off x="6949440" y="3849624"/>
            <a:ext cx="4663440" cy="301752"/>
          </a:xfrm>
          <a:prstGeom prst="rect">
            <a:avLst/>
          </a:prstGeom>
          <a:noFill/>
          <a:ln/>
        </p:spPr>
        <p:txBody>
          <a:bodyPr wrap="square" lIns="0" tIns="0" rIns="0" bIns="0" rtlCol="0" anchor="t"/>
          <a:lstStyle/>
          <a:p>
            <a:pPr indent="0" marL="0">
              <a:buNone/>
            </a:pPr>
            <a:r>
              <a:rPr lang="en-US" sz="1400" b="1" dirty="0">
                <a:solidFill>
                  <a:schemeClr val="tx1"/>
                </a:solidFill>
              </a:rPr>
              <a:t>Realistic CARLA traffic</a:t>
            </a:r>
            <a:endParaRPr lang="en-US" sz="1400" dirty="0"/>
          </a:p>
        </p:txBody>
      </p:sp>
      <p:sp>
        <p:nvSpPr>
          <p:cNvPr id="33" name="next 3 text"/>
          <p:cNvSpPr txBox="1"/>
          <p:nvPr/>
        </p:nvSpPr>
        <p:spPr>
          <a:xfrm>
            <a:off x="6949440" y="4151376"/>
            <a:ext cx="4663440" cy="301752"/>
          </a:xfrm>
          <a:prstGeom prst="rect">
            <a:avLst/>
          </a:prstGeom>
          <a:noFill/>
          <a:ln/>
        </p:spPr>
        <p:txBody>
          <a:bodyPr wrap="square" lIns="0" tIns="0" rIns="0" bIns="0" rtlCol="0" anchor="t"/>
          <a:lstStyle/>
          <a:p>
            <a:pPr indent="0" marL="0">
              <a:buNone/>
            </a:pPr>
            <a:r>
              <a:rPr lang="en-US" sz="1200" dirty="0">
                <a:solidFill>
                  <a:schemeClr val="accent6"/>
                </a:solidFill>
              </a:rPr>
              <a:t>faster, closer following; regenerate some normal clips (E5 gap)</a:t>
            </a:r>
            <a:endParaRPr lang="en-US" sz="1200" dirty="0"/>
          </a:p>
        </p:txBody>
      </p:sp>
      <p:sp>
        <p:nvSpPr>
          <p:cNvPr id="34" name="next 4 icon circle"/>
          <p:cNvSpPr/>
          <p:nvPr/>
        </p:nvSpPr>
        <p:spPr>
          <a:xfrm>
            <a:off x="6263640" y="4608576"/>
            <a:ext cx="502920" cy="502920"/>
          </a:xfrm>
          <a:prstGeom prst="ellipse">
            <a:avLst/>
          </a:prstGeom>
          <a:solidFill>
            <a:schemeClr val="accent1"/>
          </a:solidFill>
          <a:ln w="12700">
            <a:solidFill>
              <a:schemeClr val="accent1"/>
            </a:solidFill>
            <a:prstDash val="solid"/>
          </a:ln>
        </p:spPr>
      </p:sp>
      <p:pic>
        <p:nvPicPr>
          <p:cNvPr id="35" name="next 4 icon" descr="next 4">    </p:cNvPr>
          <p:cNvPicPr>
            <a:picLocks noChangeAspect="1"/>
          </p:cNvPicPr>
          <p:nvPr/>
        </p:nvPicPr>
        <p:blipFill>
          <a:blip r:embed="rId9"/>
          <a:stretch>
            <a:fillRect/>
          </a:stretch>
        </p:blipFill>
        <p:spPr>
          <a:xfrm>
            <a:off x="6384341" y="4729277"/>
            <a:ext cx="261518" cy="261518"/>
          </a:xfrm>
          <a:prstGeom prst="rect">
            <a:avLst/>
          </a:prstGeom>
        </p:spPr>
      </p:pic>
      <p:sp>
        <p:nvSpPr>
          <p:cNvPr id="36" name="next 4 title"/>
          <p:cNvSpPr txBox="1"/>
          <p:nvPr/>
        </p:nvSpPr>
        <p:spPr>
          <a:xfrm>
            <a:off x="6949440" y="4562856"/>
            <a:ext cx="4663440" cy="301752"/>
          </a:xfrm>
          <a:prstGeom prst="rect">
            <a:avLst/>
          </a:prstGeom>
          <a:noFill/>
          <a:ln/>
        </p:spPr>
        <p:txBody>
          <a:bodyPr wrap="square" lIns="0" tIns="0" rIns="0" bIns="0" rtlCol="0" anchor="t"/>
          <a:lstStyle/>
          <a:p>
            <a:pPr indent="0" marL="0">
              <a:buNone/>
            </a:pPr>
            <a:r>
              <a:rPr lang="en-US" sz="1400" b="1" dirty="0">
                <a:solidFill>
                  <a:schemeClr val="tx1"/>
                </a:solidFill>
              </a:rPr>
              <a:t>Finish the 260 unrun slots</a:t>
            </a:r>
            <a:endParaRPr lang="en-US" sz="1400" dirty="0"/>
          </a:p>
        </p:txBody>
      </p:sp>
      <p:sp>
        <p:nvSpPr>
          <p:cNvPr id="37" name="next 4 text"/>
          <p:cNvSpPr txBox="1"/>
          <p:nvPr/>
        </p:nvSpPr>
        <p:spPr>
          <a:xfrm>
            <a:off x="6949440" y="4864608"/>
            <a:ext cx="4663440" cy="301752"/>
          </a:xfrm>
          <a:prstGeom prst="rect">
            <a:avLst/>
          </a:prstGeom>
          <a:noFill/>
          <a:ln/>
        </p:spPr>
        <p:txBody>
          <a:bodyPr wrap="square" lIns="0" tIns="0" rIns="0" bIns="0" rtlCol="0" anchor="t"/>
          <a:lstStyle/>
          <a:p>
            <a:pPr indent="0" marL="0">
              <a:buNone/>
            </a:pPr>
            <a:r>
              <a:rPr lang="en-US" sz="1200" dirty="0">
                <a:solidFill>
                  <a:schemeClr val="accent6"/>
                </a:solidFill>
              </a:rPr>
              <a:t>~1 h; needs the storage cap raised from 40 to 45 GB</a:t>
            </a:r>
            <a:endParaRPr lang="en-US" sz="1200" dirty="0"/>
          </a:p>
        </p:txBody>
      </p:sp>
      <p:sp>
        <p:nvSpPr>
          <p:cNvPr id="38" name="next 5 icon circle"/>
          <p:cNvSpPr/>
          <p:nvPr/>
        </p:nvSpPr>
        <p:spPr>
          <a:xfrm>
            <a:off x="6263640" y="5321808"/>
            <a:ext cx="502920" cy="502920"/>
          </a:xfrm>
          <a:prstGeom prst="ellipse">
            <a:avLst/>
          </a:prstGeom>
          <a:solidFill>
            <a:schemeClr val="accent1"/>
          </a:solidFill>
          <a:ln w="12700">
            <a:solidFill>
              <a:schemeClr val="accent1"/>
            </a:solidFill>
            <a:prstDash val="solid"/>
          </a:ln>
        </p:spPr>
      </p:sp>
      <p:pic>
        <p:nvPicPr>
          <p:cNvPr id="39" name="next 5 icon" descr="next 5">    </p:cNvPr>
          <p:cNvPicPr>
            <a:picLocks noChangeAspect="1"/>
          </p:cNvPicPr>
          <p:nvPr/>
        </p:nvPicPr>
        <p:blipFill>
          <a:blip r:embed="rId10"/>
          <a:stretch>
            <a:fillRect/>
          </a:stretch>
        </p:blipFill>
        <p:spPr>
          <a:xfrm>
            <a:off x="6384341" y="5442509"/>
            <a:ext cx="261518" cy="261518"/>
          </a:xfrm>
          <a:prstGeom prst="rect">
            <a:avLst/>
          </a:prstGeom>
        </p:spPr>
      </p:pic>
      <p:sp>
        <p:nvSpPr>
          <p:cNvPr id="40" name="next 5 title"/>
          <p:cNvSpPr txBox="1"/>
          <p:nvPr/>
        </p:nvSpPr>
        <p:spPr>
          <a:xfrm>
            <a:off x="6949440" y="5276088"/>
            <a:ext cx="4663440" cy="301752"/>
          </a:xfrm>
          <a:prstGeom prst="rect">
            <a:avLst/>
          </a:prstGeom>
          <a:noFill/>
          <a:ln/>
        </p:spPr>
        <p:txBody>
          <a:bodyPr wrap="square" lIns="0" tIns="0" rIns="0" bIns="0" rtlCol="0" anchor="t"/>
          <a:lstStyle/>
          <a:p>
            <a:pPr indent="0" marL="0">
              <a:buNone/>
            </a:pPr>
            <a:r>
              <a:rPr lang="en-US" sz="1400" b="1" dirty="0">
                <a:solidFill>
                  <a:schemeClr val="tx1"/>
                </a:solidFill>
              </a:rPr>
              <a:t>Submit</a:t>
            </a:r>
            <a:endParaRPr lang="en-US" sz="1400" dirty="0"/>
          </a:p>
        </p:txBody>
      </p:sp>
      <p:sp>
        <p:nvSpPr>
          <p:cNvPr id="41" name="next 5 text"/>
          <p:cNvSpPr txBox="1"/>
          <p:nvPr/>
        </p:nvSpPr>
        <p:spPr>
          <a:xfrm>
            <a:off x="6949440" y="5577840"/>
            <a:ext cx="4663440" cy="301752"/>
          </a:xfrm>
          <a:prstGeom prst="rect">
            <a:avLst/>
          </a:prstGeom>
          <a:noFill/>
          <a:ln/>
        </p:spPr>
        <p:txBody>
          <a:bodyPr wrap="square" lIns="0" tIns="0" rIns="0" bIns="0" rtlCol="0" anchor="t"/>
          <a:lstStyle/>
          <a:p>
            <a:pPr indent="0" marL="0">
              <a:buNone/>
            </a:pPr>
            <a:r>
              <a:rPr lang="en-US" sz="1200" dirty="0">
                <a:solidFill>
                  <a:schemeClr val="accent6"/>
                </a:solidFill>
              </a:rPr>
              <a:t>IEEE ITSC / IV workshop or arXiv after the licence review</a:t>
            </a:r>
            <a:endParaRPr lang="en-US" sz="12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chemeClr val="accent6"/>
                </a:solidFill>
              </a:defRPr>
            </a:lvl1pPr>
          </a:lstStyle>
          <a:p>
            <a:pPr algn="r"/>
            <a:fld id="{F7021451-1387-4CA6-816F-3879F97B5CBC}" type="slidenum">
              <a:rPr b="0"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731520"/>
          </a:xfrm>
          <a:prstGeom prst="rect">
            <a:avLst/>
          </a:prstGeom>
          <a:noFill/>
          <a:ln/>
        </p:spPr>
        <p:txBody>
          <a:bodyPr wrap="square" lIns="0" tIns="0" rIns="0" bIns="0" rtlCol="0" anchor="b"/>
          <a:lstStyle/>
          <a:p>
            <a:pPr algn="l" indent="0" marL="0">
              <a:buNone/>
            </a:pPr>
            <a:r>
              <a:rPr lang="en-US" sz="3400" b="1" dirty="0">
                <a:solidFill>
                  <a:schemeClr val="tx1"/>
                </a:solidFill>
              </a:rPr>
              <a:t>Moving to the new machine</a:t>
            </a:r>
            <a:endParaRPr lang="en-US" sz="3400" dirty="0"/>
          </a:p>
        </p:txBody>
      </p:sp>
      <p:sp>
        <p:nvSpPr>
          <p:cNvPr id="3" name="Text 0"/>
          <p:cNvSpPr/>
          <p:nvPr>
            <p:ph idx="101" type="body" hasCustomPrompt="1"/>
          </p:nvPr>
        </p:nvSpPr>
        <p:spPr>
          <a:xfrm>
            <a:off x="548640" y="1078992"/>
            <a:ext cx="11094415" cy="411480"/>
          </a:xfrm>
          <a:prstGeom prst="rect">
            <a:avLst/>
          </a:prstGeom>
          <a:noFill/>
          <a:ln/>
        </p:spPr>
        <p:txBody>
          <a:bodyPr wrap="square" lIns="0" tIns="0" rIns="0" bIns="0" rtlCol="0" anchor="t"/>
          <a:lstStyle/>
          <a:p>
            <a:pPr indent="0" marL="0">
              <a:buNone/>
            </a:pPr>
            <a:r>
              <a:rPr lang="en-US" sz="1600" dirty="0">
                <a:solidFill>
                  <a:schemeClr val="accent6"/>
                </a:solidFill>
              </a:rPr>
              <a:t>Code goes to GitHub; data and results go by drive (full guide: docs/SETUP_NEW_MACHINE.md)</a:t>
            </a:r>
            <a:endParaRPr lang="en-US" sz="1600" dirty="0"/>
          </a:p>
        </p:txBody>
      </p:sp>
      <p:sp>
        <p:nvSpPr>
          <p:cNvPr id="4" name="move step 1"/>
          <p:cNvSpPr/>
          <p:nvPr/>
        </p:nvSpPr>
        <p:spPr>
          <a:xfrm>
            <a:off x="548640" y="1783080"/>
            <a:ext cx="3547872" cy="2560320"/>
          </a:xfrm>
          <a:prstGeom prst="roundRect">
            <a:avLst>
              <a:gd name="adj" fmla="val 2857"/>
            </a:avLst>
          </a:prstGeom>
          <a:solidFill>
            <a:schemeClr val="bg2"/>
          </a:solidFill>
          <a:ln w="12700">
            <a:solidFill>
              <a:schemeClr val="bg2"/>
            </a:solidFill>
            <a:prstDash val="solid"/>
          </a:ln>
        </p:spPr>
      </p:sp>
      <p:sp>
        <p:nvSpPr>
          <p:cNvPr id="5" name="move step 1 icon circle"/>
          <p:cNvSpPr/>
          <p:nvPr/>
        </p:nvSpPr>
        <p:spPr>
          <a:xfrm>
            <a:off x="868680" y="2103120"/>
            <a:ext cx="685800" cy="685800"/>
          </a:xfrm>
          <a:prstGeom prst="ellipse">
            <a:avLst/>
          </a:prstGeom>
          <a:solidFill>
            <a:schemeClr val="accent1"/>
          </a:solidFill>
          <a:ln w="12700">
            <a:solidFill>
              <a:schemeClr val="accent1"/>
            </a:solidFill>
            <a:prstDash val="solid"/>
          </a:ln>
        </p:spPr>
      </p:sp>
      <p:pic>
        <p:nvPicPr>
          <p:cNvPr id="6" name="move step 1 icon" descr="move step 1">    </p:cNvPr>
          <p:cNvPicPr>
            <a:picLocks noChangeAspect="1"/>
          </p:cNvPicPr>
          <p:nvPr/>
        </p:nvPicPr>
        <p:blipFill>
          <a:blip r:embed="rId1"/>
          <a:stretch>
            <a:fillRect/>
          </a:stretch>
        </p:blipFill>
        <p:spPr>
          <a:xfrm>
            <a:off x="1033272" y="2267712"/>
            <a:ext cx="356616" cy="356616"/>
          </a:xfrm>
          <a:prstGeom prst="rect">
            <a:avLst/>
          </a:prstGeom>
        </p:spPr>
      </p:pic>
      <p:sp>
        <p:nvSpPr>
          <p:cNvPr id="7" name="move step 1 time"/>
          <p:cNvSpPr txBox="1"/>
          <p:nvPr/>
        </p:nvSpPr>
        <p:spPr>
          <a:xfrm>
            <a:off x="1783080" y="2194560"/>
            <a:ext cx="2084832" cy="502920"/>
          </a:xfrm>
          <a:prstGeom prst="rect">
            <a:avLst/>
          </a:prstGeom>
          <a:noFill/>
          <a:ln/>
        </p:spPr>
        <p:txBody>
          <a:bodyPr wrap="square" lIns="0" tIns="0" rIns="0" bIns="0" rtlCol="0" anchor="t"/>
          <a:lstStyle/>
          <a:p>
            <a:pPr algn="r" indent="0" marL="0">
              <a:buNone/>
            </a:pPr>
            <a:r>
              <a:rPr lang="en-US" sz="2400" b="1" dirty="0">
                <a:solidFill>
                  <a:schemeClr val="tx1"/>
                </a:solidFill>
                <a:latin typeface="Cambria" pitchFamily="34" charset="0"/>
                <a:ea typeface="Cambria" pitchFamily="34" charset="-122"/>
                <a:cs typeface="Cambria" pitchFamily="34" charset="-120"/>
              </a:rPr>
              <a:t>&lt; 1 min</a:t>
            </a:r>
            <a:endParaRPr lang="en-US" sz="2400" dirty="0"/>
          </a:p>
        </p:txBody>
      </p:sp>
      <p:sp>
        <p:nvSpPr>
          <p:cNvPr id="8" name="move step 1 title"/>
          <p:cNvSpPr txBox="1"/>
          <p:nvPr/>
        </p:nvSpPr>
        <p:spPr>
          <a:xfrm>
            <a:off x="868680" y="2971800"/>
            <a:ext cx="2907792" cy="365760"/>
          </a:xfrm>
          <a:prstGeom prst="rect">
            <a:avLst/>
          </a:prstGeom>
          <a:noFill/>
          <a:ln/>
        </p:spPr>
        <p:txBody>
          <a:bodyPr wrap="square" lIns="0" tIns="0" rIns="0" bIns="0" rtlCol="0" anchor="t"/>
          <a:lstStyle/>
          <a:p>
            <a:pPr indent="0" marL="0">
              <a:buNone/>
            </a:pPr>
            <a:r>
              <a:rPr lang="en-US" sz="1800" b="1" dirty="0">
                <a:solidFill>
                  <a:schemeClr val="tx1"/>
                </a:solidFill>
              </a:rPr>
              <a:t>1 · Code to GitHub</a:t>
            </a:r>
            <a:endParaRPr lang="en-US" sz="1800" dirty="0"/>
          </a:p>
        </p:txBody>
      </p:sp>
      <p:sp>
        <p:nvSpPr>
          <p:cNvPr id="9" name="move step 1 text"/>
          <p:cNvSpPr txBox="1"/>
          <p:nvPr/>
        </p:nvSpPr>
        <p:spPr>
          <a:xfrm>
            <a:off x="868680" y="3429000"/>
            <a:ext cx="2907792" cy="1097280"/>
          </a:xfrm>
          <a:prstGeom prst="rect">
            <a:avLst/>
          </a:prstGeom>
          <a:noFill/>
          <a:ln/>
        </p:spPr>
        <p:txBody>
          <a:bodyPr wrap="square" lIns="0" tIns="0" rIns="0" bIns="0" rtlCol="0" anchor="t"/>
          <a:lstStyle/>
          <a:p>
            <a:pPr indent="0" marL="0">
              <a:buNone/>
            </a:pPr>
            <a:r>
              <a:rPr lang="en-US" sz="1300" dirty="0">
                <a:solidFill>
                  <a:schemeClr val="accent6"/>
                </a:solidFill>
              </a:rPr>
              <a:t>Code is committed. Create an empty private repo 'crashtwin', then git push and sign in as adarshlaxman.</a:t>
            </a:r>
            <a:endParaRPr lang="en-US" sz="1300" dirty="0"/>
          </a:p>
        </p:txBody>
      </p:sp>
      <p:sp>
        <p:nvSpPr>
          <p:cNvPr id="10" name="move step 2"/>
          <p:cNvSpPr/>
          <p:nvPr/>
        </p:nvSpPr>
        <p:spPr>
          <a:xfrm>
            <a:off x="4315968" y="1783080"/>
            <a:ext cx="3547872" cy="2560320"/>
          </a:xfrm>
          <a:prstGeom prst="roundRect">
            <a:avLst>
              <a:gd name="adj" fmla="val 2857"/>
            </a:avLst>
          </a:prstGeom>
          <a:solidFill>
            <a:schemeClr val="bg2"/>
          </a:solidFill>
          <a:ln w="12700">
            <a:solidFill>
              <a:schemeClr val="bg2"/>
            </a:solidFill>
            <a:prstDash val="solid"/>
          </a:ln>
        </p:spPr>
      </p:sp>
      <p:sp>
        <p:nvSpPr>
          <p:cNvPr id="11" name="move step 2 icon circle"/>
          <p:cNvSpPr/>
          <p:nvPr/>
        </p:nvSpPr>
        <p:spPr>
          <a:xfrm>
            <a:off x="4636008" y="2103120"/>
            <a:ext cx="685800" cy="685800"/>
          </a:xfrm>
          <a:prstGeom prst="ellipse">
            <a:avLst/>
          </a:prstGeom>
          <a:solidFill>
            <a:schemeClr val="accent1"/>
          </a:solidFill>
          <a:ln w="12700">
            <a:solidFill>
              <a:schemeClr val="accent1"/>
            </a:solidFill>
            <a:prstDash val="solid"/>
          </a:ln>
        </p:spPr>
      </p:sp>
      <p:pic>
        <p:nvPicPr>
          <p:cNvPr id="12" name="move step 2 icon" descr="move step 2">    </p:cNvPr>
          <p:cNvPicPr>
            <a:picLocks noChangeAspect="1"/>
          </p:cNvPicPr>
          <p:nvPr/>
        </p:nvPicPr>
        <p:blipFill>
          <a:blip r:embed="rId2"/>
          <a:stretch>
            <a:fillRect/>
          </a:stretch>
        </p:blipFill>
        <p:spPr>
          <a:xfrm>
            <a:off x="4800600" y="2267712"/>
            <a:ext cx="356616" cy="356616"/>
          </a:xfrm>
          <a:prstGeom prst="rect">
            <a:avLst/>
          </a:prstGeom>
        </p:spPr>
      </p:pic>
      <p:sp>
        <p:nvSpPr>
          <p:cNvPr id="13" name="move step 2 time"/>
          <p:cNvSpPr txBox="1"/>
          <p:nvPr/>
        </p:nvSpPr>
        <p:spPr>
          <a:xfrm>
            <a:off x="5550408" y="2194560"/>
            <a:ext cx="2084832" cy="502920"/>
          </a:xfrm>
          <a:prstGeom prst="rect">
            <a:avLst/>
          </a:prstGeom>
          <a:noFill/>
          <a:ln/>
        </p:spPr>
        <p:txBody>
          <a:bodyPr wrap="square" lIns="0" tIns="0" rIns="0" bIns="0" rtlCol="0" anchor="t"/>
          <a:lstStyle/>
          <a:p>
            <a:pPr algn="r" indent="0" marL="0">
              <a:buNone/>
            </a:pPr>
            <a:r>
              <a:rPr lang="en-US" sz="2400" b="1" dirty="0">
                <a:solidFill>
                  <a:schemeClr val="tx1"/>
                </a:solidFill>
                <a:latin typeface="Cambria" pitchFamily="34" charset="0"/>
                <a:ea typeface="Cambria" pitchFamily="34" charset="-122"/>
                <a:cs typeface="Cambria" pitchFamily="34" charset="-120"/>
              </a:rPr>
              <a:t>1–30 min</a:t>
            </a:r>
            <a:endParaRPr lang="en-US" sz="2400" dirty="0"/>
          </a:p>
        </p:txBody>
      </p:sp>
      <p:sp>
        <p:nvSpPr>
          <p:cNvPr id="14" name="move step 2 title"/>
          <p:cNvSpPr txBox="1"/>
          <p:nvPr/>
        </p:nvSpPr>
        <p:spPr>
          <a:xfrm>
            <a:off x="4636008" y="2971800"/>
            <a:ext cx="2907792" cy="365760"/>
          </a:xfrm>
          <a:prstGeom prst="rect">
            <a:avLst/>
          </a:prstGeom>
          <a:noFill/>
          <a:ln/>
        </p:spPr>
        <p:txBody>
          <a:bodyPr wrap="square" lIns="0" tIns="0" rIns="0" bIns="0" rtlCol="0" anchor="t"/>
          <a:lstStyle/>
          <a:p>
            <a:pPr indent="0" marL="0">
              <a:buNone/>
            </a:pPr>
            <a:r>
              <a:rPr lang="en-US" sz="1800" b="1" dirty="0">
                <a:solidFill>
                  <a:schemeClr val="tx1"/>
                </a:solidFill>
              </a:rPr>
              <a:t>2 · Data by drive</a:t>
            </a:r>
            <a:endParaRPr lang="en-US" sz="1800" dirty="0"/>
          </a:p>
        </p:txBody>
      </p:sp>
      <p:sp>
        <p:nvSpPr>
          <p:cNvPr id="15" name="move step 2 text"/>
          <p:cNvSpPr txBox="1"/>
          <p:nvPr/>
        </p:nvSpPr>
        <p:spPr>
          <a:xfrm>
            <a:off x="4636008" y="3429000"/>
            <a:ext cx="2907792" cy="1097280"/>
          </a:xfrm>
          <a:prstGeom prst="rect">
            <a:avLst/>
          </a:prstGeom>
          <a:noFill/>
          <a:ln/>
        </p:spPr>
        <p:txBody>
          <a:bodyPr wrap="square" lIns="0" tIns="0" rIns="0" bIns="0" rtlCol="0" anchor="t"/>
          <a:lstStyle/>
          <a:p>
            <a:pPr indent="0" marL="0">
              <a:buNone/>
            </a:pPr>
            <a:r>
              <a:rPr lang="en-US" sz="1300" dirty="0">
                <a:solidFill>
                  <a:schemeClr val="accent6"/>
                </a:solidFill>
              </a:rPr>
              <a:t>0.32 GB results zip is enough to continue. Everything (~140 GB) via external drive with transfer.py.</a:t>
            </a:r>
            <a:endParaRPr lang="en-US" sz="1300" dirty="0"/>
          </a:p>
        </p:txBody>
      </p:sp>
      <p:sp>
        <p:nvSpPr>
          <p:cNvPr id="16" name="move step 3"/>
          <p:cNvSpPr/>
          <p:nvPr/>
        </p:nvSpPr>
        <p:spPr>
          <a:xfrm>
            <a:off x="8083296" y="1783080"/>
            <a:ext cx="3547872" cy="2560320"/>
          </a:xfrm>
          <a:prstGeom prst="roundRect">
            <a:avLst>
              <a:gd name="adj" fmla="val 2857"/>
            </a:avLst>
          </a:prstGeom>
          <a:solidFill>
            <a:schemeClr val="bg2"/>
          </a:solidFill>
          <a:ln w="12700">
            <a:solidFill>
              <a:schemeClr val="bg2"/>
            </a:solidFill>
            <a:prstDash val="solid"/>
          </a:ln>
        </p:spPr>
      </p:sp>
      <p:sp>
        <p:nvSpPr>
          <p:cNvPr id="17" name="move step 3 icon circle"/>
          <p:cNvSpPr/>
          <p:nvPr/>
        </p:nvSpPr>
        <p:spPr>
          <a:xfrm>
            <a:off x="8403336" y="2103120"/>
            <a:ext cx="685800" cy="685800"/>
          </a:xfrm>
          <a:prstGeom prst="ellipse">
            <a:avLst/>
          </a:prstGeom>
          <a:solidFill>
            <a:schemeClr val="accent1"/>
          </a:solidFill>
          <a:ln w="12700">
            <a:solidFill>
              <a:schemeClr val="accent1"/>
            </a:solidFill>
            <a:prstDash val="solid"/>
          </a:ln>
        </p:spPr>
      </p:sp>
      <p:pic>
        <p:nvPicPr>
          <p:cNvPr id="18" name="move step 3 icon" descr="move step 3">    </p:cNvPr>
          <p:cNvPicPr>
            <a:picLocks noChangeAspect="1"/>
          </p:cNvPicPr>
          <p:nvPr/>
        </p:nvPicPr>
        <p:blipFill>
          <a:blip r:embed="rId3"/>
          <a:stretch>
            <a:fillRect/>
          </a:stretch>
        </p:blipFill>
        <p:spPr>
          <a:xfrm>
            <a:off x="8567928" y="2267712"/>
            <a:ext cx="356616" cy="356616"/>
          </a:xfrm>
          <a:prstGeom prst="rect">
            <a:avLst/>
          </a:prstGeom>
        </p:spPr>
      </p:pic>
      <p:sp>
        <p:nvSpPr>
          <p:cNvPr id="19" name="move step 3 time"/>
          <p:cNvSpPr txBox="1"/>
          <p:nvPr/>
        </p:nvSpPr>
        <p:spPr>
          <a:xfrm>
            <a:off x="9317736" y="2194560"/>
            <a:ext cx="2084832" cy="502920"/>
          </a:xfrm>
          <a:prstGeom prst="rect">
            <a:avLst/>
          </a:prstGeom>
          <a:noFill/>
          <a:ln/>
        </p:spPr>
        <p:txBody>
          <a:bodyPr wrap="square" lIns="0" tIns="0" rIns="0" bIns="0" rtlCol="0" anchor="t"/>
          <a:lstStyle/>
          <a:p>
            <a:pPr algn="r" indent="0" marL="0">
              <a:buNone/>
            </a:pPr>
            <a:r>
              <a:rPr lang="en-US" sz="2400" b="1" dirty="0">
                <a:solidFill>
                  <a:schemeClr val="tx1"/>
                </a:solidFill>
                <a:latin typeface="Cambria" pitchFamily="34" charset="0"/>
                <a:ea typeface="Cambria" pitchFamily="34" charset="-122"/>
                <a:cs typeface="Cambria" pitchFamily="34" charset="-120"/>
              </a:rPr>
              <a:t>~30 min</a:t>
            </a:r>
            <a:endParaRPr lang="en-US" sz="2400" dirty="0"/>
          </a:p>
        </p:txBody>
      </p:sp>
      <p:sp>
        <p:nvSpPr>
          <p:cNvPr id="20" name="move step 3 title"/>
          <p:cNvSpPr txBox="1"/>
          <p:nvPr/>
        </p:nvSpPr>
        <p:spPr>
          <a:xfrm>
            <a:off x="8403336" y="2971800"/>
            <a:ext cx="2907792" cy="365760"/>
          </a:xfrm>
          <a:prstGeom prst="rect">
            <a:avLst/>
          </a:prstGeom>
          <a:noFill/>
          <a:ln/>
        </p:spPr>
        <p:txBody>
          <a:bodyPr wrap="square" lIns="0" tIns="0" rIns="0" bIns="0" rtlCol="0" anchor="t"/>
          <a:lstStyle/>
          <a:p>
            <a:pPr indent="0" marL="0">
              <a:buNone/>
            </a:pPr>
            <a:r>
              <a:rPr lang="en-US" sz="1800" b="1" dirty="0">
                <a:solidFill>
                  <a:schemeClr val="tx1"/>
                </a:solidFill>
              </a:rPr>
              <a:t>3 · Set up and resume</a:t>
            </a:r>
            <a:endParaRPr lang="en-US" sz="1800" dirty="0"/>
          </a:p>
        </p:txBody>
      </p:sp>
      <p:sp>
        <p:nvSpPr>
          <p:cNvPr id="21" name="move step 3 text"/>
          <p:cNvSpPr txBox="1"/>
          <p:nvPr/>
        </p:nvSpPr>
        <p:spPr>
          <a:xfrm>
            <a:off x="8403336" y="3429000"/>
            <a:ext cx="2907792" cy="1097280"/>
          </a:xfrm>
          <a:prstGeom prst="rect">
            <a:avLst/>
          </a:prstGeom>
          <a:noFill/>
          <a:ln/>
        </p:spPr>
        <p:txBody>
          <a:bodyPr wrap="square" lIns="0" tIns="0" rIns="0" bIns="0" rtlCol="0" anchor="t"/>
          <a:lstStyle/>
          <a:p>
            <a:pPr indent="0" marL="0">
              <a:buNone/>
            </a:pPr>
            <a:r>
              <a:rPr lang="en-US" sz="1300" dirty="0">
                <a:solidFill>
                  <a:schemeClr val="accent6"/>
                </a:solidFill>
              </a:rPr>
              <a:t>Clone, run setup_env, unzip results, then check_env and pipeline.py status (26/26 runs).</a:t>
            </a:r>
            <a:endParaRPr lang="en-US" sz="1300" dirty="0"/>
          </a:p>
        </p:txBody>
      </p:sp>
      <p:sp>
        <p:nvSpPr>
          <p:cNvPr id="22" name="github note heading"/>
          <p:cNvSpPr txBox="1"/>
          <p:nvPr/>
        </p:nvSpPr>
        <p:spPr>
          <a:xfrm>
            <a:off x="548640" y="4617720"/>
            <a:ext cx="11094415" cy="365760"/>
          </a:xfrm>
          <a:prstGeom prst="rect">
            <a:avLst/>
          </a:prstGeom>
          <a:noFill/>
          <a:ln/>
        </p:spPr>
        <p:txBody>
          <a:bodyPr wrap="square" lIns="0" tIns="0" rIns="0" bIns="0" rtlCol="0" anchor="t"/>
          <a:lstStyle/>
          <a:p>
            <a:pPr indent="0" marL="0">
              <a:buNone/>
            </a:pPr>
            <a:r>
              <a:rPr lang="en-US" sz="1600" b="1" dirty="0">
                <a:solidFill>
                  <a:schemeClr val="tx1"/>
                </a:solidFill>
              </a:rPr>
              <a:t>Why not put the data on GitHub?</a:t>
            </a:r>
            <a:endParaRPr lang="en-US" sz="1600" dirty="0"/>
          </a:p>
        </p:txBody>
      </p:sp>
      <p:sp>
        <p:nvSpPr>
          <p:cNvPr id="23" name="github note"/>
          <p:cNvSpPr txBox="1"/>
          <p:nvPr/>
        </p:nvSpPr>
        <p:spPr>
          <a:xfrm>
            <a:off x="548640" y="4983480"/>
            <a:ext cx="11094415" cy="731520"/>
          </a:xfrm>
          <a:prstGeom prst="rect">
            <a:avLst/>
          </a:prstGeom>
          <a:noFill/>
          <a:ln/>
        </p:spPr>
        <p:txBody>
          <a:bodyPr wrap="square" lIns="0" tIns="0" rIns="0" bIns="0" rtlCol="0" anchor="t"/>
          <a:lstStyle/>
          <a:p>
            <a:pPr indent="0" marL="0">
              <a:buNone/>
            </a:pPr>
            <a:r>
              <a:rPr lang="en-US" sz="1300" dirty="0">
                <a:solidFill>
                  <a:schemeClr val="accent6"/>
                </a:solidFill>
              </a:rPr>
              <a:t>GitHub refuses files over 100 MB (our Accid3nD zips are ~9 GB each) and expects repos under a few GB; we have ~140 GB. The datasets also carry licence conditions (Nexar: under supervisor review; Accid3nD: CC BY-NC-SA), so we never re-host them. Keep the repo private until the licence review.</a:t>
            </a:r>
            <a:endParaRPr lang="en-US" sz="13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chemeClr val="accent6"/>
                </a:solidFill>
              </a:defRPr>
            </a:lvl1pPr>
          </a:lstStyle>
          <a:p>
            <a:pPr algn="r"/>
            <a:fld id="{F7021451-1387-4CA6-816F-3879F97B5CBC}" type="slidenum">
              <a:rPr b="0"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731520"/>
          </a:xfrm>
          <a:prstGeom prst="rect">
            <a:avLst/>
          </a:prstGeom>
          <a:noFill/>
          <a:ln/>
        </p:spPr>
        <p:txBody>
          <a:bodyPr wrap="square" lIns="0" tIns="0" rIns="0" bIns="0" rtlCol="0" anchor="b"/>
          <a:lstStyle/>
          <a:p>
            <a:pPr algn="l" indent="0" marL="0">
              <a:buNone/>
            </a:pPr>
            <a:r>
              <a:rPr lang="en-US" sz="3400" b="1" dirty="0">
                <a:solidFill>
                  <a:schemeClr val="bg1"/>
                </a:solidFill>
              </a:rPr>
              <a:t>Where CrashTwin stands</a:t>
            </a:r>
            <a:endParaRPr lang="en-US" sz="3400" dirty="0"/>
          </a:p>
        </p:txBody>
      </p:sp>
      <p:sp>
        <p:nvSpPr>
          <p:cNvPr id="3" name="Text 0"/>
          <p:cNvSpPr/>
          <p:nvPr>
            <p:ph idx="101" type="body" hasCustomPrompt="1"/>
          </p:nvPr>
        </p:nvSpPr>
        <p:spPr>
          <a:xfrm>
            <a:off x="548640" y="1078992"/>
            <a:ext cx="11094415" cy="411480"/>
          </a:xfrm>
          <a:prstGeom prst="rect">
            <a:avLst/>
          </a:prstGeom>
          <a:noFill/>
          <a:ln/>
        </p:spPr>
        <p:txBody>
          <a:bodyPr wrap="square" lIns="0" tIns="0" rIns="0" bIns="0" rtlCol="0" anchor="t"/>
          <a:lstStyle/>
          <a:p>
            <a:pPr indent="0" marL="0">
              <a:buNone/>
            </a:pPr>
            <a:r>
              <a:rPr lang="en-US" sz="1600" dirty="0">
                <a:solidFill>
                  <a:schemeClr val="bg2"/>
                </a:solidFill>
              </a:rPr>
              <a:t>Three things to remember</a:t>
            </a:r>
            <a:endParaRPr lang="en-US" sz="1600" dirty="0"/>
          </a:p>
        </p:txBody>
      </p:sp>
      <p:sp>
        <p:nvSpPr>
          <p:cNvPr id="4" name="takeaway 1 circle"/>
          <p:cNvSpPr/>
          <p:nvPr/>
        </p:nvSpPr>
        <p:spPr>
          <a:xfrm>
            <a:off x="548640" y="1874520"/>
            <a:ext cx="640080" cy="640080"/>
          </a:xfrm>
          <a:prstGeom prst="ellipse">
            <a:avLst/>
          </a:prstGeom>
          <a:solidFill>
            <a:schemeClr val="accent1"/>
          </a:solidFill>
          <a:ln w="12700">
            <a:solidFill>
              <a:schemeClr val="accent1"/>
            </a:solidFill>
            <a:prstDash val="solid"/>
          </a:ln>
        </p:spPr>
      </p:sp>
      <p:sp>
        <p:nvSpPr>
          <p:cNvPr id="5" name="takeaway 1 number"/>
          <p:cNvSpPr txBox="1"/>
          <p:nvPr/>
        </p:nvSpPr>
        <p:spPr>
          <a:xfrm>
            <a:off x="548640" y="1874520"/>
            <a:ext cx="640080" cy="640080"/>
          </a:xfrm>
          <a:prstGeom prst="rect">
            <a:avLst/>
          </a:prstGeom>
          <a:noFill/>
          <a:ln/>
        </p:spPr>
        <p:txBody>
          <a:bodyPr wrap="square" lIns="0" tIns="0" rIns="0" bIns="0" rtlCol="0" anchor="ctr"/>
          <a:lstStyle/>
          <a:p>
            <a:pPr algn="ctr" indent="0" marL="0">
              <a:buNone/>
            </a:pPr>
            <a:r>
              <a:rPr lang="en-US" sz="2200" b="1" dirty="0">
                <a:solidFill>
                  <a:schemeClr val="tx1"/>
                </a:solidFill>
                <a:latin typeface="Cambria" pitchFamily="34" charset="0"/>
                <a:ea typeface="Cambria" pitchFamily="34" charset="-122"/>
                <a:cs typeface="Cambria" pitchFamily="34" charset="-120"/>
              </a:rPr>
              <a:t>1</a:t>
            </a:r>
            <a:endParaRPr lang="en-US" sz="2200" dirty="0"/>
          </a:p>
        </p:txBody>
      </p:sp>
      <p:sp>
        <p:nvSpPr>
          <p:cNvPr id="6" name="takeaway 1 title"/>
          <p:cNvSpPr txBox="1"/>
          <p:nvPr/>
        </p:nvSpPr>
        <p:spPr>
          <a:xfrm>
            <a:off x="1463040" y="1828800"/>
            <a:ext cx="10058400" cy="411480"/>
          </a:xfrm>
          <a:prstGeom prst="rect">
            <a:avLst/>
          </a:prstGeom>
          <a:noFill/>
          <a:ln/>
        </p:spPr>
        <p:txBody>
          <a:bodyPr wrap="square" lIns="0" tIns="0" rIns="0" bIns="0" rtlCol="0" anchor="t"/>
          <a:lstStyle/>
          <a:p>
            <a:pPr indent="0" marL="0">
              <a:buNone/>
            </a:pPr>
            <a:r>
              <a:rPr lang="en-US" sz="2200" b="1" dirty="0">
                <a:solidFill>
                  <a:schemeClr val="bg1"/>
                </a:solidFill>
              </a:rPr>
              <a:t>A validated twin that helps on Nexar</a:t>
            </a:r>
            <a:endParaRPr lang="en-US" sz="2200" dirty="0"/>
          </a:p>
        </p:txBody>
      </p:sp>
      <p:sp>
        <p:nvSpPr>
          <p:cNvPr id="7" name="takeaway 1 text"/>
          <p:cNvSpPr txBox="1"/>
          <p:nvPr/>
        </p:nvSpPr>
        <p:spPr>
          <a:xfrm>
            <a:off x="1463040" y="2267712"/>
            <a:ext cx="10058400" cy="365760"/>
          </a:xfrm>
          <a:prstGeom prst="rect">
            <a:avLst/>
          </a:prstGeom>
          <a:noFill/>
          <a:ln/>
        </p:spPr>
        <p:txBody>
          <a:bodyPr wrap="square" lIns="0" tIns="0" rIns="0" bIns="0" rtlCol="0" anchor="t"/>
          <a:lstStyle/>
          <a:p>
            <a:pPr indent="0" marL="0">
              <a:buNone/>
            </a:pPr>
            <a:r>
              <a:rPr lang="en-US" sz="1500" dirty="0">
                <a:solidFill>
                  <a:schemeClr val="bg2"/>
                </a:solidFill>
              </a:rPr>
              <a:t>CARLA alone reaches 0.63 mAP; with all real data it gives the best private score (0.714)</a:t>
            </a:r>
            <a:endParaRPr lang="en-US" sz="1500" dirty="0"/>
          </a:p>
        </p:txBody>
      </p:sp>
      <p:sp>
        <p:nvSpPr>
          <p:cNvPr id="8" name="takeaway 2 circle"/>
          <p:cNvSpPr/>
          <p:nvPr/>
        </p:nvSpPr>
        <p:spPr>
          <a:xfrm>
            <a:off x="548640" y="3108960"/>
            <a:ext cx="640080" cy="640080"/>
          </a:xfrm>
          <a:prstGeom prst="ellipse">
            <a:avLst/>
          </a:prstGeom>
          <a:solidFill>
            <a:schemeClr val="accent1"/>
          </a:solidFill>
          <a:ln w="12700">
            <a:solidFill>
              <a:schemeClr val="accent1"/>
            </a:solidFill>
            <a:prstDash val="solid"/>
          </a:ln>
        </p:spPr>
      </p:sp>
      <p:sp>
        <p:nvSpPr>
          <p:cNvPr id="9" name="takeaway 2 number"/>
          <p:cNvSpPr txBox="1"/>
          <p:nvPr/>
        </p:nvSpPr>
        <p:spPr>
          <a:xfrm>
            <a:off x="548640" y="3108960"/>
            <a:ext cx="640080" cy="640080"/>
          </a:xfrm>
          <a:prstGeom prst="rect">
            <a:avLst/>
          </a:prstGeom>
          <a:noFill/>
          <a:ln/>
        </p:spPr>
        <p:txBody>
          <a:bodyPr wrap="square" lIns="0" tIns="0" rIns="0" bIns="0" rtlCol="0" anchor="ctr"/>
          <a:lstStyle/>
          <a:p>
            <a:pPr algn="ctr" indent="0" marL="0">
              <a:buNone/>
            </a:pPr>
            <a:r>
              <a:rPr lang="en-US" sz="2200" b="1" dirty="0">
                <a:solidFill>
                  <a:schemeClr val="tx1"/>
                </a:solidFill>
                <a:latin typeface="Cambria" pitchFamily="34" charset="0"/>
                <a:ea typeface="Cambria" pitchFamily="34" charset="-122"/>
                <a:cs typeface="Cambria" pitchFamily="34" charset="-120"/>
              </a:rPr>
              <a:t>2</a:t>
            </a:r>
            <a:endParaRPr lang="en-US" sz="2200" dirty="0"/>
          </a:p>
        </p:txBody>
      </p:sp>
      <p:sp>
        <p:nvSpPr>
          <p:cNvPr id="10" name="takeaway 2 title"/>
          <p:cNvSpPr txBox="1"/>
          <p:nvPr/>
        </p:nvSpPr>
        <p:spPr>
          <a:xfrm>
            <a:off x="1463040" y="3063240"/>
            <a:ext cx="10058400" cy="411480"/>
          </a:xfrm>
          <a:prstGeom prst="rect">
            <a:avLst/>
          </a:prstGeom>
          <a:noFill/>
          <a:ln/>
        </p:spPr>
        <p:txBody>
          <a:bodyPr wrap="square" lIns="0" tIns="0" rIns="0" bIns="0" rtlCol="0" anchor="t"/>
          <a:lstStyle/>
          <a:p>
            <a:pPr indent="0" marL="0">
              <a:buNone/>
            </a:pPr>
            <a:r>
              <a:rPr lang="en-US" sz="2200" b="1" dirty="0">
                <a:solidFill>
                  <a:schemeClr val="bg1"/>
                </a:solidFill>
              </a:rPr>
              <a:t>But not on CCD, yet</a:t>
            </a:r>
            <a:endParaRPr lang="en-US" sz="2200" dirty="0"/>
          </a:p>
        </p:txBody>
      </p:sp>
      <p:sp>
        <p:nvSpPr>
          <p:cNvPr id="11" name="takeaway 2 text"/>
          <p:cNvSpPr txBox="1"/>
          <p:nvPr/>
        </p:nvSpPr>
        <p:spPr>
          <a:xfrm>
            <a:off x="1463040" y="3502152"/>
            <a:ext cx="10058400" cy="365760"/>
          </a:xfrm>
          <a:prstGeom prst="rect">
            <a:avLst/>
          </a:prstGeom>
          <a:noFill/>
          <a:ln/>
        </p:spPr>
        <p:txBody>
          <a:bodyPr wrap="square" lIns="0" tIns="0" rIns="0" bIns="0" rtlCol="0" anchor="t"/>
          <a:lstStyle/>
          <a:p>
            <a:pPr indent="0" marL="0">
              <a:buNone/>
            </a:pPr>
            <a:r>
              <a:rPr lang="en-US" sz="1500" dirty="0">
                <a:solidFill>
                  <a:schemeClr val="bg2"/>
                </a:solidFill>
              </a:rPr>
              <a:t>CARLA-only AP 0.25 is below chance; understanding why is the next research step</a:t>
            </a:r>
            <a:endParaRPr lang="en-US" sz="1500" dirty="0"/>
          </a:p>
        </p:txBody>
      </p:sp>
      <p:sp>
        <p:nvSpPr>
          <p:cNvPr id="12" name="takeaway 3 circle"/>
          <p:cNvSpPr/>
          <p:nvPr/>
        </p:nvSpPr>
        <p:spPr>
          <a:xfrm>
            <a:off x="548640" y="4343400"/>
            <a:ext cx="640080" cy="640080"/>
          </a:xfrm>
          <a:prstGeom prst="ellipse">
            <a:avLst/>
          </a:prstGeom>
          <a:solidFill>
            <a:schemeClr val="accent1"/>
          </a:solidFill>
          <a:ln w="12700">
            <a:solidFill>
              <a:schemeClr val="accent1"/>
            </a:solidFill>
            <a:prstDash val="solid"/>
          </a:ln>
        </p:spPr>
      </p:sp>
      <p:sp>
        <p:nvSpPr>
          <p:cNvPr id="13" name="takeaway 3 number"/>
          <p:cNvSpPr txBox="1"/>
          <p:nvPr/>
        </p:nvSpPr>
        <p:spPr>
          <a:xfrm>
            <a:off x="548640" y="4343400"/>
            <a:ext cx="640080" cy="640080"/>
          </a:xfrm>
          <a:prstGeom prst="rect">
            <a:avLst/>
          </a:prstGeom>
          <a:noFill/>
          <a:ln/>
        </p:spPr>
        <p:txBody>
          <a:bodyPr wrap="square" lIns="0" tIns="0" rIns="0" bIns="0" rtlCol="0" anchor="ctr"/>
          <a:lstStyle/>
          <a:p>
            <a:pPr algn="ctr" indent="0" marL="0">
              <a:buNone/>
            </a:pPr>
            <a:r>
              <a:rPr lang="en-US" sz="2200" b="1" dirty="0">
                <a:solidFill>
                  <a:schemeClr val="tx1"/>
                </a:solidFill>
                <a:latin typeface="Cambria" pitchFamily="34" charset="0"/>
                <a:ea typeface="Cambria" pitchFamily="34" charset="-122"/>
                <a:cs typeface="Cambria" pitchFamily="34" charset="-120"/>
              </a:rPr>
              <a:t>3</a:t>
            </a:r>
            <a:endParaRPr lang="en-US" sz="2200" dirty="0"/>
          </a:p>
        </p:txBody>
      </p:sp>
      <p:sp>
        <p:nvSpPr>
          <p:cNvPr id="14" name="takeaway 3 title"/>
          <p:cNvSpPr txBox="1"/>
          <p:nvPr/>
        </p:nvSpPr>
        <p:spPr>
          <a:xfrm>
            <a:off x="1463040" y="4297680"/>
            <a:ext cx="10058400" cy="411480"/>
          </a:xfrm>
          <a:prstGeom prst="rect">
            <a:avLst/>
          </a:prstGeom>
          <a:noFill/>
          <a:ln/>
        </p:spPr>
        <p:txBody>
          <a:bodyPr wrap="square" lIns="0" tIns="0" rIns="0" bIns="0" rtlCol="0" anchor="t"/>
          <a:lstStyle/>
          <a:p>
            <a:pPr indent="0" marL="0">
              <a:buNone/>
            </a:pPr>
            <a:r>
              <a:rPr lang="en-US" sz="2200" b="1" dirty="0">
                <a:solidFill>
                  <a:schemeClr val="bg1"/>
                </a:solidFill>
              </a:rPr>
              <a:t>Sensors and realism point the way</a:t>
            </a:r>
            <a:endParaRPr lang="en-US" sz="2200" dirty="0"/>
          </a:p>
        </p:txBody>
      </p:sp>
      <p:sp>
        <p:nvSpPr>
          <p:cNvPr id="15" name="takeaway 3 text"/>
          <p:cNvSpPr txBox="1"/>
          <p:nvPr/>
        </p:nvSpPr>
        <p:spPr>
          <a:xfrm>
            <a:off x="1463040" y="4736592"/>
            <a:ext cx="10058400" cy="365760"/>
          </a:xfrm>
          <a:prstGeom prst="rect">
            <a:avLst/>
          </a:prstGeom>
          <a:noFill/>
          <a:ln/>
        </p:spPr>
        <p:txBody>
          <a:bodyPr wrap="square" lIns="0" tIns="0" rIns="0" bIns="0" rtlCol="0" anchor="t"/>
          <a:lstStyle/>
          <a:p>
            <a:pPr indent="0" marL="0">
              <a:buNone/>
            </a:pPr>
            <a:r>
              <a:rPr lang="en-US" sz="1500" dirty="0">
                <a:solidFill>
                  <a:schemeClr val="bg2"/>
                </a:solidFill>
              </a:rPr>
              <a:t>range sensors lift held-out-town AP to 0.97; CARLA traffic must get faster and closer</a:t>
            </a:r>
            <a:endParaRPr lang="en-US" sz="1500" dirty="0"/>
          </a:p>
        </p:txBody>
      </p:sp>
      <p:sp>
        <p:nvSpPr>
          <p:cNvPr id="16" name="next line"/>
          <p:cNvSpPr txBox="1"/>
          <p:nvPr/>
        </p:nvSpPr>
        <p:spPr>
          <a:xfrm>
            <a:off x="548640" y="5623560"/>
            <a:ext cx="11094415" cy="411480"/>
          </a:xfrm>
          <a:prstGeom prst="rect">
            <a:avLst/>
          </a:prstGeom>
          <a:noFill/>
          <a:ln/>
        </p:spPr>
        <p:txBody>
          <a:bodyPr wrap="square" lIns="0" tIns="0" rIns="0" bIns="0" rtlCol="0" anchor="t"/>
          <a:lstStyle/>
          <a:p>
            <a:pPr indent="0" marL="0">
              <a:buNone/>
            </a:pPr>
            <a:r>
              <a:rPr lang="en-US" sz="1800" b="1" dirty="0">
                <a:solidFill>
                  <a:schemeClr val="accent1"/>
                </a:solidFill>
              </a:rPr>
              <a:t>Next: more seeds → CCD analysis → realistic traffic → submit</a:t>
            </a:r>
            <a:endParaRPr lang="en-US" sz="18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chemeClr val="bg2"/>
                </a:solidFill>
              </a:defRPr>
            </a:lvl1pPr>
          </a:lstStyle>
          <a:p>
            <a:pPr algn="r"/>
            <a:fld id="{F7021451-1387-4CA6-816F-3879F97B5CBC}" type="slidenum">
              <a:rPr b="0" lang="en-US"/>
              <a:t>19</a:t>
            </a:fld>
            <a:endParaRPr lang="en-US"/>
          </a:p>
        </p:txBody>
      </p:sp>
    </p:spTree>
  </p:cSld>
  <p:clrMapOvr>
    <a:masterClrMapping/>
  </p:clrMapOvr>
</p:sld>
</file>

<file path=ppt/theme/theme1.xml><?xml version="1.0" encoding="utf-8"?>
<a:theme xmlns:a="http://schemas.openxmlformats.org/drawingml/2006/main" name="CrashTwin">
  <a:themeElements>
    <a:clrScheme name="CrashTwin">
      <a:dk1>
        <a:srgbClr val="1B1F27"/>
      </a:dk1>
      <a:lt1>
        <a:srgbClr val="FFFFFF"/>
      </a:lt1>
      <a:dk2>
        <a:srgbClr val="1F2A36"/>
      </a:dk2>
      <a:lt2>
        <a:srgbClr val="F1F3F6"/>
      </a:lt2>
      <a:accent1>
        <a:srgbClr val="F2B705"/>
      </a:accent1>
      <a:accent2>
        <a:srgbClr val="2A78D6"/>
      </a:accent2>
      <a:accent3>
        <a:srgbClr val="EB6834"/>
      </a:accent3>
      <a:accent4>
        <a:srgbClr val="1BAF7A"/>
      </a:accent4>
      <a:accent5>
        <a:srgbClr val="C8433A"/>
      </a:accent5>
      <a:accent6>
        <a:srgbClr val="5B6573"/>
      </a:accent6>
      <a:hlink>
        <a:srgbClr val="2A78D6"/>
      </a:hlink>
      <a:folHlink>
        <a:srgbClr val="5B6573"/>
      </a:folHlink>
    </a:clrScheme>
    <a:fontScheme name="CrashTwin">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19</Slides>
  <Notes>19</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19</vt:i4>
      </vt:variant>
    </vt:vector>
  </HeadingPairs>
  <TitlesOfParts>
    <vt:vector size="22"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vector>
  </TitlesOfParts>
  <Company>CAVE Labs, PES University</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CrashTwin progress report, 30 October 2026</dc:title>
  <dc:subject>PptxGenJS Presentation</dc:subject>
  <dc:creator>Adarsh L</dc:creator>
  <cp:lastModifiedBy>Adarsh L</cp:lastModifiedBy>
  <cp:revision>1</cp:revision>
  <dcterms:created xsi:type="dcterms:W3CDTF">2026-10-30T06:00:39Z</dcterms:created>
  <dcterms:modified xsi:type="dcterms:W3CDTF">2026-10-30T06:00:39Z</dcterms:modified>
</cp:coreProperties>
</file>